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8"/>
  </p:handoutMasterIdLst>
  <p:sldIdLst>
    <p:sldId id="359" r:id="rId3"/>
    <p:sldId id="636" r:id="rId5"/>
    <p:sldId id="547" r:id="rId6"/>
    <p:sldId id="556" r:id="rId7"/>
    <p:sldId id="549" r:id="rId8"/>
    <p:sldId id="669" r:id="rId9"/>
    <p:sldId id="617" r:id="rId10"/>
    <p:sldId id="361" r:id="rId11"/>
    <p:sldId id="618" r:id="rId12"/>
    <p:sldId id="363" r:id="rId13"/>
    <p:sldId id="364" r:id="rId14"/>
    <p:sldId id="365" r:id="rId15"/>
    <p:sldId id="366" r:id="rId16"/>
    <p:sldId id="369" r:id="rId17"/>
    <p:sldId id="370" r:id="rId18"/>
    <p:sldId id="371" r:id="rId19"/>
    <p:sldId id="625" r:id="rId20"/>
    <p:sldId id="626" r:id="rId21"/>
    <p:sldId id="627" r:id="rId22"/>
    <p:sldId id="628" r:id="rId23"/>
    <p:sldId id="629" r:id="rId24"/>
    <p:sldId id="766" r:id="rId25"/>
    <p:sldId id="630" r:id="rId26"/>
    <p:sldId id="604" r:id="rId27"/>
    <p:sldId id="609" r:id="rId28"/>
    <p:sldId id="374" r:id="rId29"/>
    <p:sldId id="376" r:id="rId30"/>
    <p:sldId id="377" r:id="rId31"/>
    <p:sldId id="378" r:id="rId32"/>
    <p:sldId id="380" r:id="rId33"/>
    <p:sldId id="381" r:id="rId34"/>
    <p:sldId id="382" r:id="rId35"/>
    <p:sldId id="672" r:id="rId36"/>
    <p:sldId id="552" r:id="rId37"/>
    <p:sldId id="384" r:id="rId38"/>
    <p:sldId id="614" r:id="rId39"/>
    <p:sldId id="554" r:id="rId40"/>
    <p:sldId id="550" r:id="rId41"/>
    <p:sldId id="968" r:id="rId42"/>
    <p:sldId id="458" r:id="rId43"/>
    <p:sldId id="611" r:id="rId44"/>
    <p:sldId id="459" r:id="rId45"/>
    <p:sldId id="460" r:id="rId46"/>
    <p:sldId id="632" r:id="rId47"/>
    <p:sldId id="633" r:id="rId48"/>
    <p:sldId id="574" r:id="rId49"/>
    <p:sldId id="575" r:id="rId50"/>
    <p:sldId id="610" r:id="rId51"/>
    <p:sldId id="670" r:id="rId52"/>
    <p:sldId id="638" r:id="rId53"/>
    <p:sldId id="639" r:id="rId54"/>
    <p:sldId id="640" r:id="rId55"/>
    <p:sldId id="642" r:id="rId56"/>
    <p:sldId id="643" r:id="rId57"/>
    <p:sldId id="644" r:id="rId58"/>
    <p:sldId id="645" r:id="rId59"/>
    <p:sldId id="646" r:id="rId60"/>
    <p:sldId id="647" r:id="rId61"/>
    <p:sldId id="648" r:id="rId62"/>
    <p:sldId id="649" r:id="rId63"/>
    <p:sldId id="650" r:id="rId64"/>
    <p:sldId id="651" r:id="rId65"/>
    <p:sldId id="652" r:id="rId66"/>
    <p:sldId id="653" r:id="rId67"/>
    <p:sldId id="654" r:id="rId68"/>
    <p:sldId id="933" r:id="rId69"/>
    <p:sldId id="655" r:id="rId70"/>
    <p:sldId id="704" r:id="rId71"/>
    <p:sldId id="656" r:id="rId72"/>
    <p:sldId id="657" r:id="rId73"/>
    <p:sldId id="658" r:id="rId74"/>
    <p:sldId id="659" r:id="rId75"/>
    <p:sldId id="660" r:id="rId76"/>
    <p:sldId id="661" r:id="rId77"/>
    <p:sldId id="662" r:id="rId78"/>
    <p:sldId id="663" r:id="rId79"/>
    <p:sldId id="664" r:id="rId80"/>
    <p:sldId id="683" r:id="rId81"/>
    <p:sldId id="684" r:id="rId82"/>
    <p:sldId id="685" r:id="rId83"/>
    <p:sldId id="686" r:id="rId84"/>
    <p:sldId id="687" r:id="rId85"/>
    <p:sldId id="705" r:id="rId86"/>
    <p:sldId id="706" r:id="rId87"/>
    <p:sldId id="707" r:id="rId88"/>
    <p:sldId id="688" r:id="rId89"/>
    <p:sldId id="689" r:id="rId90"/>
    <p:sldId id="690" r:id="rId91"/>
    <p:sldId id="691" r:id="rId92"/>
    <p:sldId id="692" r:id="rId93"/>
    <p:sldId id="693" r:id="rId94"/>
    <p:sldId id="694" r:id="rId95"/>
    <p:sldId id="695" r:id="rId96"/>
    <p:sldId id="696" r:id="rId97"/>
    <p:sldId id="697" r:id="rId98"/>
    <p:sldId id="698" r:id="rId99"/>
    <p:sldId id="699" r:id="rId100"/>
    <p:sldId id="679" r:id="rId101"/>
    <p:sldId id="681" r:id="rId102"/>
    <p:sldId id="680" r:id="rId103"/>
    <p:sldId id="682" r:id="rId104"/>
    <p:sldId id="700" r:id="rId105"/>
    <p:sldId id="701" r:id="rId106"/>
    <p:sldId id="665" r:id="rId107"/>
  </p:sldIdLst>
  <p:sldSz cx="9144000" cy="6858000" type="screen4x3"/>
  <p:notesSz cx="7010400" cy="9296400"/>
  <p:custDataLst>
    <p:tags r:id="rId113"/>
  </p:custDataLst>
  <p:defaultTextStyle>
    <a:defPPr>
      <a:defRPr lang="en-US"/>
    </a:defPPr>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vl6pPr marL="2286000" lvl="5"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6pPr>
    <a:lvl7pPr marL="2743200" lvl="6"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7pPr>
    <a:lvl8pPr marL="3200400" lvl="7"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8pPr>
    <a:lvl9pPr marL="3657600" lvl="8"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9pPr>
  </p:defaultTextStyle>
  <p:extLst>
    <p:ext uri="{EFAFB233-063F-42B5-8137-9DF3F51BA10A}">
      <p15:sldGuideLst xmlns:p15="http://schemas.microsoft.com/office/powerpoint/2012/main">
        <p15:guide id="1" orient="horz" pos="689" userDrawn="1">
          <p15:clr>
            <a:srgbClr val="A4A3A4"/>
          </p15:clr>
        </p15:guide>
        <p15:guide id="2" pos="48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S Sudarshan" initials="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99"/>
    <a:srgbClr val="990099"/>
    <a:srgbClr val="99CCFF"/>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2" d="100"/>
          <a:sy n="92" d="100"/>
        </p:scale>
        <p:origin x="2004" y="96"/>
      </p:cViewPr>
      <p:guideLst>
        <p:guide orient="horz" pos="689"/>
        <p:guide pos="4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734"/>
    </p:cViewPr>
  </p:sorterViewPr>
  <p:gridSpacing cx="76198" cy="7619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3" Type="http://schemas.openxmlformats.org/officeDocument/2006/relationships/tags" Target="tags/tag6.xml"/><Relationship Id="rId112" Type="http://schemas.openxmlformats.org/officeDocument/2006/relationships/commentAuthors" Target="commentAuthors.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 Target="slides/slide8.xml"/><Relationship Id="rId109" Type="http://schemas.openxmlformats.org/officeDocument/2006/relationships/presProps" Target="presProps.xml"/><Relationship Id="rId108" Type="http://schemas.openxmlformats.org/officeDocument/2006/relationships/handoutMaster" Target="handoutMasters/handoutMaster1.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36888" cy="463550"/>
          </a:xfrm>
          <a:prstGeom prst="rect">
            <a:avLst/>
          </a:prstGeom>
          <a:noFill/>
          <a:ln w="9525">
            <a:noFill/>
            <a:miter lim="800000"/>
          </a:ln>
          <a:effectLst/>
        </p:spPr>
        <p:txBody>
          <a:bodyPr vert="horz" wrap="none" lIns="93151" tIns="46576" rIns="93151" bIns="46576" numCol="1" anchor="t"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8371" name="Rectangle 3"/>
          <p:cNvSpPr>
            <a:spLocks noGrp="1" noChangeArrowheads="1"/>
          </p:cNvSpPr>
          <p:nvPr>
            <p:ph type="dt" sz="quarter" idx="1"/>
          </p:nvPr>
        </p:nvSpPr>
        <p:spPr bwMode="auto">
          <a:xfrm>
            <a:off x="3973513" y="0"/>
            <a:ext cx="3036888" cy="463550"/>
          </a:xfrm>
          <a:prstGeom prst="rect">
            <a:avLst/>
          </a:prstGeom>
          <a:noFill/>
          <a:ln w="9525">
            <a:noFill/>
            <a:miter lim="800000"/>
          </a:ln>
          <a:effectLst/>
        </p:spPr>
        <p:txBody>
          <a:bodyPr vert="horz" wrap="none" lIns="93151" tIns="46576" rIns="93151" bIns="46576" numCol="1" anchor="t" anchorCtr="0" compatLnSpc="1"/>
          <a:lstStyle>
            <a:lvl1pPr algn="r" defTabSz="930910" eaLnBrk="0" hangingPunct="0">
              <a:defRPr sz="1200">
                <a:latin typeface="Helvetica" charset="0"/>
                <a:ea typeface="+mn-ea"/>
                <a:cs typeface="+mn-cs"/>
              </a:defRPr>
            </a:lvl1pPr>
          </a:lstStyle>
          <a:p>
            <a:pPr marL="0" marR="0" lvl="0" indent="0" algn="r"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8372" name="Rectangle 4"/>
          <p:cNvSpPr>
            <a:spLocks noGrp="1" noChangeArrowheads="1"/>
          </p:cNvSpPr>
          <p:nvPr>
            <p:ph type="ftr" sz="quarter" idx="2"/>
          </p:nvPr>
        </p:nvSpPr>
        <p:spPr bwMode="auto">
          <a:xfrm>
            <a:off x="0" y="8832850"/>
            <a:ext cx="3036888" cy="463550"/>
          </a:xfrm>
          <a:prstGeom prst="rect">
            <a:avLst/>
          </a:prstGeom>
          <a:noFill/>
          <a:ln w="9525">
            <a:noFill/>
            <a:miter lim="800000"/>
          </a:ln>
          <a:effectLst/>
        </p:spPr>
        <p:txBody>
          <a:bodyPr vert="horz" wrap="none" lIns="93151" tIns="46576" rIns="93151" bIns="46576" numCol="1" anchor="b"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8373" name="Rectangle 5"/>
          <p:cNvSpPr>
            <a:spLocks noGrp="1" noChangeArrowheads="1"/>
          </p:cNvSpPr>
          <p:nvPr>
            <p:ph type="sldNum" sz="quarter" idx="3"/>
          </p:nvPr>
        </p:nvSpPr>
        <p:spPr bwMode="auto">
          <a:xfrm>
            <a:off x="3973513" y="8832850"/>
            <a:ext cx="3036888" cy="463550"/>
          </a:xfrm>
          <a:prstGeom prst="rect">
            <a:avLst/>
          </a:prstGeom>
          <a:noFill/>
          <a:ln w="9525">
            <a:noFill/>
            <a:miter lim="800000"/>
          </a:ln>
          <a:effectLst/>
        </p:spPr>
        <p:txBody>
          <a:bodyPr vert="horz" wrap="none" lIns="93151" tIns="46576" rIns="93151" bIns="46576" numCol="1" anchor="b" anchorCtr="0" compatLnSpc="1"/>
          <a:lstStyle/>
          <a:p>
            <a:pPr lvl="0" algn="r" defTabSz="930275" eaLnBrk="0" fontAlgn="base" hangingPunct="0"/>
            <a:fld id="{9A0DB2DC-4C9A-4742-B13C-FB6460FD3503}" type="slidenum">
              <a:rPr lang="en-US" altLang="zh-CN" sz="1200" strike="noStrike" noProof="1" dirty="0">
                <a:latin typeface="Helvetica" charset="0"/>
                <a:ea typeface="MS PGothic" panose="020B0600070205080204"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036888" cy="463550"/>
          </a:xfrm>
          <a:prstGeom prst="rect">
            <a:avLst/>
          </a:prstGeom>
          <a:noFill/>
          <a:ln w="9525">
            <a:noFill/>
            <a:miter lim="800000"/>
          </a:ln>
          <a:effectLst/>
        </p:spPr>
        <p:txBody>
          <a:bodyPr vert="horz" wrap="none" lIns="93151" tIns="46576" rIns="93151" bIns="46576" numCol="1" anchor="t"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2227" name="Rectangle 3"/>
          <p:cNvSpPr>
            <a:spLocks noGrp="1" noChangeArrowheads="1"/>
          </p:cNvSpPr>
          <p:nvPr>
            <p:ph type="dt" idx="1"/>
          </p:nvPr>
        </p:nvSpPr>
        <p:spPr bwMode="auto">
          <a:xfrm>
            <a:off x="3973513" y="0"/>
            <a:ext cx="3036888" cy="463550"/>
          </a:xfrm>
          <a:prstGeom prst="rect">
            <a:avLst/>
          </a:prstGeom>
          <a:noFill/>
          <a:ln w="9525">
            <a:noFill/>
            <a:miter lim="800000"/>
          </a:ln>
          <a:effectLst/>
        </p:spPr>
        <p:txBody>
          <a:bodyPr vert="horz" wrap="none" lIns="93151" tIns="46576" rIns="93151" bIns="46576" numCol="1" anchor="t" anchorCtr="0" compatLnSpc="1"/>
          <a:lstStyle>
            <a:lvl1pPr algn="r" defTabSz="930910" eaLnBrk="0" hangingPunct="0">
              <a:defRPr sz="1200">
                <a:latin typeface="Helvetica" charset="0"/>
                <a:ea typeface="+mn-ea"/>
                <a:cs typeface="+mn-cs"/>
              </a:defRPr>
            </a:lvl1pPr>
          </a:lstStyle>
          <a:p>
            <a:pPr marL="0" marR="0" lvl="0" indent="0" algn="r"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7172" name="Rectangle 4"/>
          <p:cNvSpPr>
            <a:spLocks noGrp="1" noRot="1" noChangeAspect="1" noTextEdit="1"/>
          </p:cNvSpPr>
          <p:nvPr>
            <p:ph type="sldImg"/>
          </p:nvPr>
        </p:nvSpPr>
        <p:spPr>
          <a:xfrm>
            <a:off x="1182688" y="698500"/>
            <a:ext cx="4645025" cy="3484563"/>
          </a:xfrm>
          <a:prstGeom prst="rect">
            <a:avLst/>
          </a:prstGeom>
          <a:noFill/>
          <a:ln w="9525" cap="flat" cmpd="sng">
            <a:solidFill>
              <a:srgbClr val="000000"/>
            </a:solidFill>
            <a:prstDash val="solid"/>
            <a:miter/>
            <a:headEnd type="none" w="med" len="med"/>
            <a:tailEnd type="none" w="med" len="med"/>
          </a:ln>
        </p:spPr>
      </p:sp>
      <p:sp>
        <p:nvSpPr>
          <p:cNvPr id="52229" name="Rectangle 5"/>
          <p:cNvSpPr>
            <a:spLocks noGrp="1" noChangeArrowheads="1"/>
          </p:cNvSpPr>
          <p:nvPr>
            <p:ph type="body" sz="quarter" idx="3"/>
          </p:nvPr>
        </p:nvSpPr>
        <p:spPr bwMode="auto">
          <a:xfrm>
            <a:off x="935038" y="4416425"/>
            <a:ext cx="5140325" cy="4181475"/>
          </a:xfrm>
          <a:prstGeom prst="rect">
            <a:avLst/>
          </a:prstGeom>
          <a:noFill/>
          <a:ln w="9525">
            <a:noFill/>
            <a:miter lim="800000"/>
          </a:ln>
          <a:effectLst/>
        </p:spPr>
        <p:txBody>
          <a:bodyPr vert="horz" wrap="none" lIns="93151" tIns="46576" rIns="93151" bIns="4657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Click to edit Master text styles</a:t>
            </a:r>
            <a:endPar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Second level</a:t>
            </a:r>
            <a:endPar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Third level</a:t>
            </a:r>
            <a:endPar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Fourth level</a:t>
            </a:r>
            <a:endPar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Fifth level</a:t>
            </a:r>
            <a:endPar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endParaRPr>
          </a:p>
        </p:txBody>
      </p:sp>
      <p:sp>
        <p:nvSpPr>
          <p:cNvPr id="52230" name="Rectangle 6"/>
          <p:cNvSpPr>
            <a:spLocks noGrp="1" noChangeArrowheads="1"/>
          </p:cNvSpPr>
          <p:nvPr>
            <p:ph type="ftr" sz="quarter" idx="4"/>
          </p:nvPr>
        </p:nvSpPr>
        <p:spPr bwMode="auto">
          <a:xfrm>
            <a:off x="0" y="8832850"/>
            <a:ext cx="3036888" cy="463550"/>
          </a:xfrm>
          <a:prstGeom prst="rect">
            <a:avLst/>
          </a:prstGeom>
          <a:noFill/>
          <a:ln w="9525">
            <a:noFill/>
            <a:miter lim="800000"/>
          </a:ln>
          <a:effectLst/>
        </p:spPr>
        <p:txBody>
          <a:bodyPr vert="horz" wrap="none" lIns="93151" tIns="46576" rIns="93151" bIns="46576" numCol="1" anchor="b"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2231" name="Rectangle 7"/>
          <p:cNvSpPr>
            <a:spLocks noGrp="1" noChangeArrowheads="1"/>
          </p:cNvSpPr>
          <p:nvPr>
            <p:ph type="sldNum" sz="quarter" idx="5"/>
          </p:nvPr>
        </p:nvSpPr>
        <p:spPr bwMode="auto">
          <a:xfrm>
            <a:off x="3973513" y="8832850"/>
            <a:ext cx="3036888" cy="463550"/>
          </a:xfrm>
          <a:prstGeom prst="rect">
            <a:avLst/>
          </a:prstGeom>
          <a:noFill/>
          <a:ln w="9525">
            <a:noFill/>
            <a:miter lim="800000"/>
          </a:ln>
          <a:effectLst/>
        </p:spPr>
        <p:txBody>
          <a:bodyPr vert="horz" wrap="none" lIns="93151" tIns="46576" rIns="93151" bIns="46576" numCol="1" anchor="b" anchorCtr="0" compatLnSpc="1"/>
          <a:lstStyle/>
          <a:p>
            <a:pPr lvl="0" algn="r" defTabSz="930275" eaLnBrk="0" fontAlgn="base" hangingPunct="0"/>
            <a:fld id="{9A0DB2DC-4C9A-4742-B13C-FB6460FD3503}" type="slidenum">
              <a:rPr lang="en-US" altLang="zh-CN" sz="1200" strike="noStrike" noProof="1" dirty="0">
                <a:latin typeface="Helvetica" charset="0"/>
                <a:ea typeface="MS PGothic" panose="020B0600070205080204"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2pPr>
    <a:lvl3pPr marL="9144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latin typeface="Helvetica" charset="0"/>
                <a:ea typeface="宋体" panose="02010600030101010101" pitchFamily="2" charset="-122"/>
              </a:rPr>
            </a:fld>
            <a:endParaRPr lang="en-US" altLang="zh-CN" sz="1200">
              <a:latin typeface="Helvetica" charset="0"/>
              <a:ea typeface="宋体" panose="02010600030101010101" pitchFamily="2" charset="-122"/>
            </a:endParaRPr>
          </a:p>
        </p:txBody>
      </p:sp>
      <p:sp>
        <p:nvSpPr>
          <p:cNvPr id="9218" name="Rectangle 2"/>
          <p:cNvSpPr>
            <a:spLocks noGrp="1" noRot="1" noChangeAspect="1" noTextEdit="1"/>
          </p:cNvSpPr>
          <p:nvPr>
            <p:ph type="sldImg"/>
          </p:nvPr>
        </p:nvSpPr>
        <p:spPr/>
      </p:sp>
      <p:sp>
        <p:nvSpPr>
          <p:cNvPr id="921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fld>
            <a:endParaRPr lang="en-US" altLang="zh-CN" sz="1200"/>
          </a:p>
        </p:txBody>
      </p:sp>
      <p:sp>
        <p:nvSpPr>
          <p:cNvPr id="11266" name="Rectangle 2"/>
          <p:cNvSpPr>
            <a:spLocks noGrp="1" noRot="1" noChangeAspect="1" noTextEdit="1"/>
          </p:cNvSpPr>
          <p:nvPr>
            <p:ph type="sldImg"/>
          </p:nvPr>
        </p:nvSpPr>
        <p:spPr/>
      </p:sp>
      <p:sp>
        <p:nvSpPr>
          <p:cNvPr id="11267"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nvSpPr>
        <p:spPr>
          <a:xfrm>
            <a:off x="3973513" y="8832850"/>
            <a:ext cx="3036887" cy="463550"/>
          </a:xfrm>
          <a:prstGeom prst="rect">
            <a:avLst/>
          </a:prstGeom>
          <a:noFill/>
          <a:ln w="9525">
            <a:noFill/>
          </a:ln>
        </p:spPr>
        <p:txBody>
          <a:bodyPr wrap="none" lIns="93151" tIns="46576" rIns="93151" bIns="46576" anchor="b" anchorCtr="0"/>
          <a:lstStyle/>
          <a:p>
            <a:pPr lvl="0" algn="r" defTabSz="929005" eaLnBrk="0" hangingPunct="0"/>
            <a:fld id="{9A0DB2DC-4C9A-4742-B13C-FB6460FD3503}" type="slidenum">
              <a:rPr lang="en-US" altLang="zh-CN" sz="1200" dirty="0"/>
            </a:fld>
            <a:endParaRPr lang="en-US" altLang="zh-CN" sz="1200" dirty="0"/>
          </a:p>
        </p:txBody>
      </p:sp>
      <p:sp>
        <p:nvSpPr>
          <p:cNvPr id="13314" name="Rectangle 2"/>
          <p:cNvSpPr>
            <a:spLocks noGrp="1" noRot="1" noChangeAspect="1" noTextEdit="1"/>
          </p:cNvSpPr>
          <p:nvPr>
            <p:ph type="sldImg"/>
          </p:nvPr>
        </p:nvSpPr>
        <p:spPr/>
      </p:sp>
      <p:sp>
        <p:nvSpPr>
          <p:cNvPr id="13315"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p:cNvSpPr>
          <p:nvPr/>
        </p:nvSpPr>
        <p:spPr>
          <a:xfrm>
            <a:off x="3973513" y="8832850"/>
            <a:ext cx="3036887" cy="463550"/>
          </a:xfrm>
          <a:prstGeom prst="rect">
            <a:avLst/>
          </a:prstGeom>
          <a:noFill/>
          <a:ln w="9525">
            <a:noFill/>
          </a:ln>
        </p:spPr>
        <p:txBody>
          <a:bodyPr wrap="none" lIns="93151" tIns="46576" rIns="93151" bIns="46576" anchor="b" anchorCtr="0"/>
          <a:lstStyle/>
          <a:p>
            <a:pPr lvl="0" algn="r" defTabSz="929005" eaLnBrk="0" hangingPunct="0"/>
            <a:fld id="{9A0DB2DC-4C9A-4742-B13C-FB6460FD3503}" type="slidenum">
              <a:rPr lang="en-US" altLang="zh-CN" sz="1200" dirty="0"/>
            </a:fld>
            <a:endParaRPr lang="en-US" altLang="zh-CN" sz="1200" dirty="0"/>
          </a:p>
        </p:txBody>
      </p:sp>
      <p:sp>
        <p:nvSpPr>
          <p:cNvPr id="15362" name="Rectangle 2"/>
          <p:cNvSpPr>
            <a:spLocks noGrp="1" noRot="1" noChangeAspect="1" noTextEdit="1"/>
          </p:cNvSpPr>
          <p:nvPr>
            <p:ph type="sldImg"/>
          </p:nvPr>
        </p:nvSpPr>
        <p:spPr/>
      </p:sp>
      <p:sp>
        <p:nvSpPr>
          <p:cNvPr id="15363"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nvSpPr>
        <p:spPr>
          <a:xfrm>
            <a:off x="3973513" y="8832850"/>
            <a:ext cx="3036887" cy="463550"/>
          </a:xfrm>
          <a:prstGeom prst="rect">
            <a:avLst/>
          </a:prstGeom>
          <a:noFill/>
          <a:ln w="9525">
            <a:noFill/>
          </a:ln>
        </p:spPr>
        <p:txBody>
          <a:bodyPr wrap="none" lIns="93151" tIns="46576" rIns="93151" bIns="46576" anchor="b" anchorCtr="0"/>
          <a:lstStyle/>
          <a:p>
            <a:pPr lvl="0" algn="r" defTabSz="929005" eaLnBrk="0" hangingPunct="0"/>
            <a:fld id="{9A0DB2DC-4C9A-4742-B13C-FB6460FD3503}" type="slidenum">
              <a:rPr lang="en-US" altLang="zh-CN" sz="1200" dirty="0"/>
            </a:fld>
            <a:endParaRPr lang="en-US" altLang="zh-CN" sz="1200" dirty="0"/>
          </a:p>
        </p:txBody>
      </p:sp>
      <p:sp>
        <p:nvSpPr>
          <p:cNvPr id="17410" name="Rectangle 2"/>
          <p:cNvSpPr>
            <a:spLocks noGrp="1" noRot="1" noChangeAspect="1" noTextEdit="1"/>
          </p:cNvSpPr>
          <p:nvPr>
            <p:ph type="sldImg"/>
          </p:nvPr>
        </p:nvSpPr>
        <p:spPr/>
      </p:sp>
      <p:sp>
        <p:nvSpPr>
          <p:cNvPr id="17411"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9458" name="Rectangle 2"/>
          <p:cNvSpPr>
            <a:spLocks noGrp="1" noRot="1" noChangeAspect="1" noTextEdit="1"/>
          </p:cNvSpPr>
          <p:nvPr>
            <p:ph type="sldImg"/>
          </p:nvPr>
        </p:nvSpPr>
        <p:spPr/>
      </p:sp>
      <p:sp>
        <p:nvSpPr>
          <p:cNvPr id="1945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23554" name="Rectangle 2"/>
          <p:cNvSpPr>
            <a:spLocks noGrp="1" noRot="1" noChangeAspect="1" noTextEdit="1"/>
          </p:cNvSpPr>
          <p:nvPr>
            <p:ph type="sldImg"/>
          </p:nvPr>
        </p:nvSpPr>
        <p:spPr/>
      </p:sp>
      <p:sp>
        <p:nvSpPr>
          <p:cNvPr id="2355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25602" name="Rectangle 2"/>
          <p:cNvSpPr>
            <a:spLocks noGrp="1" noRot="1" noChangeAspect="1" noTextEdit="1"/>
          </p:cNvSpPr>
          <p:nvPr>
            <p:ph type="sldImg"/>
          </p:nvPr>
        </p:nvSpPr>
        <p:spPr/>
      </p:sp>
      <p:sp>
        <p:nvSpPr>
          <p:cNvPr id="2560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27650" name="Rectangle 2"/>
          <p:cNvSpPr>
            <a:spLocks noGrp="1" noRot="1" noChangeAspect="1" noTextEdit="1"/>
          </p:cNvSpPr>
          <p:nvPr>
            <p:ph type="sldImg"/>
          </p:nvPr>
        </p:nvSpPr>
        <p:spPr/>
      </p:sp>
      <p:sp>
        <p:nvSpPr>
          <p:cNvPr id="276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29698" name="Rectangle 2"/>
          <p:cNvSpPr>
            <a:spLocks noGrp="1" noRot="1" noChangeAspect="1" noTextEdit="1"/>
          </p:cNvSpPr>
          <p:nvPr>
            <p:ph type="sldImg"/>
          </p:nvPr>
        </p:nvSpPr>
        <p:spPr/>
      </p:sp>
      <p:sp>
        <p:nvSpPr>
          <p:cNvPr id="2969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31746" name="Rectangle 2"/>
          <p:cNvSpPr>
            <a:spLocks noGrp="1" noRot="1" noChangeAspect="1" noTextEdit="1"/>
          </p:cNvSpPr>
          <p:nvPr>
            <p:ph type="sldImg"/>
          </p:nvPr>
        </p:nvSpPr>
        <p:spPr/>
      </p:sp>
      <p:sp>
        <p:nvSpPr>
          <p:cNvPr id="317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33794" name="Rectangle 2"/>
          <p:cNvSpPr>
            <a:spLocks noGrp="1" noRot="1" noChangeAspect="1" noTextEdit="1"/>
          </p:cNvSpPr>
          <p:nvPr>
            <p:ph type="sldImg"/>
          </p:nvPr>
        </p:nvSpPr>
        <p:spPr/>
      </p:sp>
      <p:sp>
        <p:nvSpPr>
          <p:cNvPr id="337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35842" name="Rectangle 2"/>
          <p:cNvSpPr>
            <a:spLocks noGrp="1" noRot="1" noChangeAspect="1" noTextEdit="1"/>
          </p:cNvSpPr>
          <p:nvPr>
            <p:ph type="sldImg"/>
          </p:nvPr>
        </p:nvSpPr>
        <p:spPr/>
      </p:sp>
      <p:sp>
        <p:nvSpPr>
          <p:cNvPr id="358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37890" name="Rectangle 2"/>
          <p:cNvSpPr>
            <a:spLocks noGrp="1" noRot="1" noChangeAspect="1" noTextEdit="1"/>
          </p:cNvSpPr>
          <p:nvPr>
            <p:ph type="sldImg"/>
          </p:nvPr>
        </p:nvSpPr>
        <p:spPr/>
      </p:sp>
      <p:sp>
        <p:nvSpPr>
          <p:cNvPr id="378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39938" name="Rectangle 2"/>
          <p:cNvSpPr>
            <a:spLocks noGrp="1" noRot="1" noChangeAspect="1" noTextEdit="1"/>
          </p:cNvSpPr>
          <p:nvPr>
            <p:ph type="sldImg"/>
          </p:nvPr>
        </p:nvSpPr>
        <p:spPr/>
      </p:sp>
      <p:sp>
        <p:nvSpPr>
          <p:cNvPr id="399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fld>
            <a:endParaRPr lang="en-US" altLang="zh-CN" sz="1200"/>
          </a:p>
        </p:txBody>
      </p:sp>
      <p:sp>
        <p:nvSpPr>
          <p:cNvPr id="41986" name="Rectangle 2"/>
          <p:cNvSpPr>
            <a:spLocks noGrp="1" noRot="1" noChangeAspect="1" noTextEdit="1"/>
          </p:cNvSpPr>
          <p:nvPr>
            <p:ph type="sldImg"/>
          </p:nvPr>
        </p:nvSpPr>
        <p:spPr/>
      </p:sp>
      <p:sp>
        <p:nvSpPr>
          <p:cNvPr id="41987"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fld>
            <a:endParaRPr lang="en-US" altLang="zh-CN" sz="1200"/>
          </a:p>
        </p:txBody>
      </p:sp>
      <p:sp>
        <p:nvSpPr>
          <p:cNvPr id="44034" name="Rectangle 2"/>
          <p:cNvSpPr>
            <a:spLocks noGrp="1" noRot="1" noChangeAspect="1" noTextEdit="1"/>
          </p:cNvSpPr>
          <p:nvPr>
            <p:ph type="sldImg"/>
          </p:nvPr>
        </p:nvSpPr>
        <p:spPr/>
      </p:sp>
      <p:sp>
        <p:nvSpPr>
          <p:cNvPr id="44035"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46082" name="Rectangle 2"/>
          <p:cNvSpPr>
            <a:spLocks noGrp="1" noRot="1" noChangeAspect="1" noTextEdit="1"/>
          </p:cNvSpPr>
          <p:nvPr>
            <p:ph type="sldImg"/>
          </p:nvPr>
        </p:nvSpPr>
        <p:spPr/>
      </p:sp>
      <p:sp>
        <p:nvSpPr>
          <p:cNvPr id="46083"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48130" name="Rectangle 2"/>
          <p:cNvSpPr>
            <a:spLocks noGrp="1" noRot="1" noChangeAspect="1" noTextEdit="1"/>
          </p:cNvSpPr>
          <p:nvPr>
            <p:ph type="sldImg"/>
          </p:nvPr>
        </p:nvSpPr>
        <p:spPr/>
      </p:sp>
      <p:sp>
        <p:nvSpPr>
          <p:cNvPr id="4813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50178" name="Rectangle 2"/>
          <p:cNvSpPr>
            <a:spLocks noGrp="1" noRot="1" noChangeAspect="1" noTextEdit="1"/>
          </p:cNvSpPr>
          <p:nvPr>
            <p:ph type="sldImg"/>
          </p:nvPr>
        </p:nvSpPr>
        <p:spPr/>
      </p:sp>
      <p:sp>
        <p:nvSpPr>
          <p:cNvPr id="5017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53250" name="Rectangle 2"/>
          <p:cNvSpPr>
            <a:spLocks noGrp="1" noRot="1" noChangeAspect="1" noTextEdit="1"/>
          </p:cNvSpPr>
          <p:nvPr>
            <p:ph type="sldImg"/>
          </p:nvPr>
        </p:nvSpPr>
        <p:spPr/>
      </p:sp>
      <p:sp>
        <p:nvSpPr>
          <p:cNvPr id="532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55298" name="Rectangle 2"/>
          <p:cNvSpPr>
            <a:spLocks noGrp="1" noRot="1" noChangeAspect="1" noTextEdit="1"/>
          </p:cNvSpPr>
          <p:nvPr>
            <p:ph type="sldImg"/>
          </p:nvPr>
        </p:nvSpPr>
        <p:spPr/>
      </p:sp>
      <p:sp>
        <p:nvSpPr>
          <p:cNvPr id="5529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57346" name="Rectangle 2"/>
          <p:cNvSpPr>
            <a:spLocks noGrp="1" noRot="1" noChangeAspect="1" noTextEdit="1"/>
          </p:cNvSpPr>
          <p:nvPr>
            <p:ph type="sldImg"/>
          </p:nvPr>
        </p:nvSpPr>
        <p:spPr/>
      </p:sp>
      <p:sp>
        <p:nvSpPr>
          <p:cNvPr id="573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59394" name="Rectangle 2"/>
          <p:cNvSpPr>
            <a:spLocks noGrp="1" noRot="1" noChangeAspect="1" noTextEdit="1"/>
          </p:cNvSpPr>
          <p:nvPr>
            <p:ph type="sldImg"/>
          </p:nvPr>
        </p:nvSpPr>
        <p:spPr/>
      </p:sp>
      <p:sp>
        <p:nvSpPr>
          <p:cNvPr id="593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61442" name="Rectangle 2"/>
          <p:cNvSpPr>
            <a:spLocks noGrp="1" noRot="1" noChangeAspect="1" noTextEdit="1"/>
          </p:cNvSpPr>
          <p:nvPr>
            <p:ph type="sldImg"/>
          </p:nvPr>
        </p:nvSpPr>
        <p:spPr/>
      </p:sp>
      <p:sp>
        <p:nvSpPr>
          <p:cNvPr id="614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63490" name="Rectangle 2"/>
          <p:cNvSpPr>
            <a:spLocks noGrp="1" noRot="1" noChangeAspect="1" noTextEdit="1"/>
          </p:cNvSpPr>
          <p:nvPr>
            <p:ph type="sldImg"/>
          </p:nvPr>
        </p:nvSpPr>
        <p:spPr/>
      </p:sp>
      <p:sp>
        <p:nvSpPr>
          <p:cNvPr id="634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65538" name="Rectangle 2"/>
          <p:cNvSpPr>
            <a:spLocks noGrp="1" noRot="1" noChangeAspect="1" noTextEdit="1"/>
          </p:cNvSpPr>
          <p:nvPr>
            <p:ph type="sldImg"/>
          </p:nvPr>
        </p:nvSpPr>
        <p:spPr/>
      </p:sp>
      <p:sp>
        <p:nvSpPr>
          <p:cNvPr id="655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67586" name="Rectangle 2"/>
          <p:cNvSpPr>
            <a:spLocks noGrp="1" noRot="1" noChangeAspect="1" noTextEdit="1"/>
          </p:cNvSpPr>
          <p:nvPr>
            <p:ph type="sldImg"/>
          </p:nvPr>
        </p:nvSpPr>
        <p:spPr/>
      </p:sp>
      <p:sp>
        <p:nvSpPr>
          <p:cNvPr id="6758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69634" name="Rectangle 2"/>
          <p:cNvSpPr>
            <a:spLocks noGrp="1" noRot="1" noChangeAspect="1" noTextEdit="1"/>
          </p:cNvSpPr>
          <p:nvPr>
            <p:ph type="sldImg"/>
          </p:nvPr>
        </p:nvSpPr>
        <p:spPr/>
      </p:sp>
      <p:sp>
        <p:nvSpPr>
          <p:cNvPr id="6963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71682" name="Rectangle 2"/>
          <p:cNvSpPr>
            <a:spLocks noGrp="1" noRot="1" noChangeAspect="1" noTextEdit="1"/>
          </p:cNvSpPr>
          <p:nvPr>
            <p:ph type="sldImg"/>
          </p:nvPr>
        </p:nvSpPr>
        <p:spPr/>
      </p:sp>
      <p:sp>
        <p:nvSpPr>
          <p:cNvPr id="7168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74754" name="Rectangle 2"/>
          <p:cNvSpPr>
            <a:spLocks noGrp="1" noRot="1" noChangeAspect="1" noTextEdit="1"/>
          </p:cNvSpPr>
          <p:nvPr>
            <p:ph type="sldImg"/>
          </p:nvPr>
        </p:nvSpPr>
        <p:spPr/>
      </p:sp>
      <p:sp>
        <p:nvSpPr>
          <p:cNvPr id="7475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76802" name="Rectangle 2"/>
          <p:cNvSpPr>
            <a:spLocks noGrp="1" noRot="1" noChangeAspect="1" noTextEdit="1"/>
          </p:cNvSpPr>
          <p:nvPr>
            <p:ph type="sldImg"/>
          </p:nvPr>
        </p:nvSpPr>
        <p:spPr/>
      </p:sp>
      <p:sp>
        <p:nvSpPr>
          <p:cNvPr id="7680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fld>
            <a:endParaRPr lang="en-US" altLang="zh-CN" sz="1200"/>
          </a:p>
        </p:txBody>
      </p:sp>
      <p:sp>
        <p:nvSpPr>
          <p:cNvPr id="78850" name="Rectangle 2"/>
          <p:cNvSpPr>
            <a:spLocks noGrp="1" noRot="1" noChangeAspect="1" noTextEdit="1"/>
          </p:cNvSpPr>
          <p:nvPr>
            <p:ph type="sldImg"/>
          </p:nvPr>
        </p:nvSpPr>
        <p:spPr/>
      </p:sp>
      <p:sp>
        <p:nvSpPr>
          <p:cNvPr id="788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0898" name="Rectangle 2"/>
          <p:cNvSpPr>
            <a:spLocks noGrp="1" noRot="1" noChangeAspect="1" noTextEdit="1"/>
          </p:cNvSpPr>
          <p:nvPr>
            <p:ph type="sldImg"/>
          </p:nvPr>
        </p:nvSpPr>
        <p:spPr/>
      </p:sp>
      <p:sp>
        <p:nvSpPr>
          <p:cNvPr id="8089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4994" name="Rectangle 2"/>
          <p:cNvSpPr>
            <a:spLocks noGrp="1" noRot="1" noChangeAspect="1" noTextEdit="1"/>
          </p:cNvSpPr>
          <p:nvPr>
            <p:ph type="sldImg"/>
          </p:nvPr>
        </p:nvSpPr>
        <p:spPr/>
      </p:sp>
      <p:sp>
        <p:nvSpPr>
          <p:cNvPr id="849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7042" name="Rectangle 2"/>
          <p:cNvSpPr>
            <a:spLocks noGrp="1" noRot="1" noChangeAspect="1" noTextEdit="1"/>
          </p:cNvSpPr>
          <p:nvPr>
            <p:ph type="sldImg"/>
          </p:nvPr>
        </p:nvSpPr>
        <p:spPr/>
      </p:sp>
      <p:sp>
        <p:nvSpPr>
          <p:cNvPr id="870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9090" name="Rectangle 2"/>
          <p:cNvSpPr>
            <a:spLocks noGrp="1" noRot="1" noChangeAspect="1" noTextEdit="1"/>
          </p:cNvSpPr>
          <p:nvPr>
            <p:ph type="sldImg"/>
          </p:nvPr>
        </p:nvSpPr>
        <p:spPr/>
      </p:sp>
      <p:sp>
        <p:nvSpPr>
          <p:cNvPr id="890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91138" name="Rectangle 2"/>
          <p:cNvSpPr>
            <a:spLocks noGrp="1" noRot="1" noChangeAspect="1" noTextEdit="1"/>
          </p:cNvSpPr>
          <p:nvPr>
            <p:ph type="sldImg"/>
          </p:nvPr>
        </p:nvSpPr>
        <p:spPr/>
      </p:sp>
      <p:sp>
        <p:nvSpPr>
          <p:cNvPr id="911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fld>
            <a:endParaRPr lang="en-US" altLang="zh-CN" sz="1200" dirty="0"/>
          </a:p>
        </p:txBody>
      </p:sp>
      <p:sp>
        <p:nvSpPr>
          <p:cNvPr id="93186" name="Rectangle 2"/>
          <p:cNvSpPr>
            <a:spLocks noGrp="1" noRot="1" noChangeAspect="1" noTextEdit="1"/>
          </p:cNvSpPr>
          <p:nvPr>
            <p:ph type="sldImg"/>
          </p:nvPr>
        </p:nvSpPr>
        <p:spPr/>
      </p:sp>
      <p:sp>
        <p:nvSpPr>
          <p:cNvPr id="9318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fld>
            <a:endParaRPr lang="en-US" altLang="zh-CN" sz="1200" dirty="0"/>
          </a:p>
        </p:txBody>
      </p:sp>
      <p:sp>
        <p:nvSpPr>
          <p:cNvPr id="95234" name="Rectangle 2"/>
          <p:cNvSpPr>
            <a:spLocks noGrp="1" noRot="1" noChangeAspect="1" noTextEdit="1"/>
          </p:cNvSpPr>
          <p:nvPr>
            <p:ph type="sldImg"/>
          </p:nvPr>
        </p:nvSpPr>
        <p:spPr/>
      </p:sp>
      <p:sp>
        <p:nvSpPr>
          <p:cNvPr id="9523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fld>
            <a:endParaRPr lang="en-US" altLang="zh-CN" sz="1200"/>
          </a:p>
        </p:txBody>
      </p:sp>
      <p:sp>
        <p:nvSpPr>
          <p:cNvPr id="97282" name="Rectangle 2"/>
          <p:cNvSpPr>
            <a:spLocks noGrp="1" noRot="1" noChangeAspect="1" noTextEdit="1"/>
          </p:cNvSpPr>
          <p:nvPr>
            <p:ph type="sldImg"/>
          </p:nvPr>
        </p:nvSpPr>
        <p:spPr/>
      </p:sp>
      <p:sp>
        <p:nvSpPr>
          <p:cNvPr id="9728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fld>
            <a:endParaRPr lang="en-US" altLang="zh-CN" sz="1200" dirty="0"/>
          </a:p>
        </p:txBody>
      </p:sp>
      <p:sp>
        <p:nvSpPr>
          <p:cNvPr id="99330" name="Rectangle 2"/>
          <p:cNvSpPr>
            <a:spLocks noGrp="1" noRot="1" noChangeAspect="1" noTextEdit="1"/>
          </p:cNvSpPr>
          <p:nvPr>
            <p:ph type="sldImg"/>
          </p:nvPr>
        </p:nvSpPr>
        <p:spPr/>
      </p:sp>
      <p:sp>
        <p:nvSpPr>
          <p:cNvPr id="9933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fld>
            <a:endParaRPr lang="en-US" altLang="zh-CN" sz="1200" dirty="0"/>
          </a:p>
        </p:txBody>
      </p:sp>
      <p:sp>
        <p:nvSpPr>
          <p:cNvPr id="101378" name="Rectangle 2"/>
          <p:cNvSpPr>
            <a:spLocks noGrp="1" noRot="1" noChangeAspect="1" noTextEdit="1"/>
          </p:cNvSpPr>
          <p:nvPr>
            <p:ph type="sldImg"/>
          </p:nvPr>
        </p:nvSpPr>
        <p:spPr/>
      </p:sp>
      <p:sp>
        <p:nvSpPr>
          <p:cNvPr id="10137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03426" name="Rectangle 2"/>
          <p:cNvSpPr>
            <a:spLocks noGrp="1" noRot="1" noChangeAspect="1" noTextEdit="1"/>
          </p:cNvSpPr>
          <p:nvPr>
            <p:ph type="sldImg"/>
          </p:nvPr>
        </p:nvSpPr>
        <p:spPr/>
      </p:sp>
      <p:sp>
        <p:nvSpPr>
          <p:cNvPr id="10342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05474" name="Rectangle 2"/>
          <p:cNvSpPr>
            <a:spLocks noGrp="1" noRot="1" noChangeAspect="1" noTextEdit="1"/>
          </p:cNvSpPr>
          <p:nvPr>
            <p:ph type="sldImg"/>
          </p:nvPr>
        </p:nvSpPr>
        <p:spPr/>
      </p:sp>
      <p:sp>
        <p:nvSpPr>
          <p:cNvPr id="10547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07522" name="Rectangle 2"/>
          <p:cNvSpPr>
            <a:spLocks noGrp="1" noRot="1" noChangeAspect="1" noTextEdit="1"/>
          </p:cNvSpPr>
          <p:nvPr>
            <p:ph type="sldImg"/>
          </p:nvPr>
        </p:nvSpPr>
        <p:spPr/>
      </p:sp>
      <p:sp>
        <p:nvSpPr>
          <p:cNvPr id="10752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09570" name="Rectangle 2"/>
          <p:cNvSpPr>
            <a:spLocks noGrp="1" noRot="1" noChangeAspect="1" noTextEdit="1"/>
          </p:cNvSpPr>
          <p:nvPr>
            <p:ph type="sldImg"/>
          </p:nvPr>
        </p:nvSpPr>
        <p:spPr/>
      </p:sp>
      <p:sp>
        <p:nvSpPr>
          <p:cNvPr id="10957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11618" name="Rectangle 2"/>
          <p:cNvSpPr>
            <a:spLocks noGrp="1" noRot="1" noChangeAspect="1" noTextEdit="1"/>
          </p:cNvSpPr>
          <p:nvPr>
            <p:ph type="sldImg"/>
          </p:nvPr>
        </p:nvSpPr>
        <p:spPr/>
      </p:sp>
      <p:sp>
        <p:nvSpPr>
          <p:cNvPr id="11161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13666" name="Rectangle 2"/>
          <p:cNvSpPr>
            <a:spLocks noGrp="1" noRot="1" noChangeAspect="1" noTextEdit="1"/>
          </p:cNvSpPr>
          <p:nvPr>
            <p:ph type="sldImg"/>
          </p:nvPr>
        </p:nvSpPr>
        <p:spPr/>
      </p:sp>
      <p:sp>
        <p:nvSpPr>
          <p:cNvPr id="11366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15714" name="Rectangle 2"/>
          <p:cNvSpPr>
            <a:spLocks noGrp="1" noRot="1" noChangeAspect="1" noTextEdit="1"/>
          </p:cNvSpPr>
          <p:nvPr>
            <p:ph type="sldImg"/>
          </p:nvPr>
        </p:nvSpPr>
        <p:spPr/>
      </p:sp>
      <p:sp>
        <p:nvSpPr>
          <p:cNvPr id="11571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17762" name="Rectangle 2"/>
          <p:cNvSpPr>
            <a:spLocks noGrp="1" noRot="1" noChangeAspect="1" noTextEdit="1"/>
          </p:cNvSpPr>
          <p:nvPr>
            <p:ph type="sldImg"/>
          </p:nvPr>
        </p:nvSpPr>
        <p:spPr/>
      </p:sp>
      <p:sp>
        <p:nvSpPr>
          <p:cNvPr id="11776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19810" name="Rectangle 2"/>
          <p:cNvSpPr>
            <a:spLocks noGrp="1" noRot="1" noChangeAspect="1" noTextEdit="1"/>
          </p:cNvSpPr>
          <p:nvPr>
            <p:ph type="sldImg"/>
          </p:nvPr>
        </p:nvSpPr>
        <p:spPr/>
      </p:sp>
      <p:sp>
        <p:nvSpPr>
          <p:cNvPr id="11981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21858" name="Rectangle 2"/>
          <p:cNvSpPr>
            <a:spLocks noGrp="1" noRot="1" noChangeAspect="1" noTextEdit="1"/>
          </p:cNvSpPr>
          <p:nvPr>
            <p:ph type="sldImg"/>
          </p:nvPr>
        </p:nvSpPr>
        <p:spPr/>
      </p:sp>
      <p:sp>
        <p:nvSpPr>
          <p:cNvPr id="12185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23906" name="Rectangle 2"/>
          <p:cNvSpPr>
            <a:spLocks noGrp="1" noRot="1" noChangeAspect="1" noTextEdit="1"/>
          </p:cNvSpPr>
          <p:nvPr>
            <p:ph type="sldImg"/>
          </p:nvPr>
        </p:nvSpPr>
        <p:spPr/>
      </p:sp>
      <p:sp>
        <p:nvSpPr>
          <p:cNvPr id="12390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30050" name="Rectangle 2"/>
          <p:cNvSpPr>
            <a:spLocks noGrp="1" noRot="1" noChangeAspect="1" noTextEdit="1"/>
          </p:cNvSpPr>
          <p:nvPr>
            <p:ph type="sldImg"/>
          </p:nvPr>
        </p:nvSpPr>
        <p:spPr/>
      </p:sp>
      <p:sp>
        <p:nvSpPr>
          <p:cNvPr id="1300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Rot="1" noChangeAspect="1" noTextEdit="1"/>
          </p:cNvSpPr>
          <p:nvPr>
            <p:ph type="sldImg"/>
          </p:nvPr>
        </p:nvSpPr>
        <p:spPr/>
      </p:sp>
      <p:sp>
        <p:nvSpPr>
          <p:cNvPr id="132098"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34146" name="Rectangle 2"/>
          <p:cNvSpPr>
            <a:spLocks noGrp="1" noRot="1" noChangeAspect="1" noTextEdit="1"/>
          </p:cNvSpPr>
          <p:nvPr>
            <p:ph type="sldImg"/>
          </p:nvPr>
        </p:nvSpPr>
        <p:spPr/>
      </p:sp>
      <p:sp>
        <p:nvSpPr>
          <p:cNvPr id="1341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36194" name="Rectangle 2"/>
          <p:cNvSpPr>
            <a:spLocks noGrp="1" noRot="1" noChangeAspect="1" noTextEdit="1"/>
          </p:cNvSpPr>
          <p:nvPr>
            <p:ph type="sldImg"/>
          </p:nvPr>
        </p:nvSpPr>
        <p:spPr/>
      </p:sp>
      <p:sp>
        <p:nvSpPr>
          <p:cNvPr id="1361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38242" name="Rectangle 2"/>
          <p:cNvSpPr>
            <a:spLocks noGrp="1" noRot="1" noChangeAspect="1" noTextEdit="1"/>
          </p:cNvSpPr>
          <p:nvPr>
            <p:ph type="sldImg"/>
          </p:nvPr>
        </p:nvSpPr>
        <p:spPr/>
      </p:sp>
      <p:sp>
        <p:nvSpPr>
          <p:cNvPr id="1382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40290" name="Rectangle 2"/>
          <p:cNvSpPr>
            <a:spLocks noGrp="1" noRot="1" noChangeAspect="1" noTextEdit="1"/>
          </p:cNvSpPr>
          <p:nvPr>
            <p:ph type="sldImg"/>
          </p:nvPr>
        </p:nvSpPr>
        <p:spPr/>
      </p:sp>
      <p:sp>
        <p:nvSpPr>
          <p:cNvPr id="1402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fld>
            <a:endParaRPr lang="en-US" altLang="zh-CN" sz="1200" dirty="0"/>
          </a:p>
        </p:txBody>
      </p:sp>
      <p:sp>
        <p:nvSpPr>
          <p:cNvPr id="142338" name="Rectangle 2"/>
          <p:cNvSpPr>
            <a:spLocks noGrp="1" noRot="1" noChangeAspect="1" noTextEdit="1"/>
          </p:cNvSpPr>
          <p:nvPr>
            <p:ph type="sldImg"/>
          </p:nvPr>
        </p:nvSpPr>
        <p:spPr/>
      </p:sp>
      <p:sp>
        <p:nvSpPr>
          <p:cNvPr id="1423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45410" name="Rectangle 2"/>
          <p:cNvSpPr>
            <a:spLocks noGrp="1" noRot="1" noChangeAspect="1" noTextEdit="1"/>
          </p:cNvSpPr>
          <p:nvPr>
            <p:ph type="sldImg"/>
          </p:nvPr>
        </p:nvSpPr>
        <p:spPr/>
      </p:sp>
      <p:sp>
        <p:nvSpPr>
          <p:cNvPr id="14541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47458" name="Rectangle 2"/>
          <p:cNvSpPr>
            <a:spLocks noGrp="1" noRot="1" noChangeAspect="1" noTextEdit="1"/>
          </p:cNvSpPr>
          <p:nvPr>
            <p:ph type="sldImg"/>
          </p:nvPr>
        </p:nvSpPr>
        <p:spPr/>
      </p:sp>
      <p:sp>
        <p:nvSpPr>
          <p:cNvPr id="14745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49506" name="Rectangle 2"/>
          <p:cNvSpPr>
            <a:spLocks noGrp="1" noRot="1" noChangeAspect="1" noTextEdit="1"/>
          </p:cNvSpPr>
          <p:nvPr>
            <p:ph type="sldImg"/>
          </p:nvPr>
        </p:nvSpPr>
        <p:spPr/>
      </p:sp>
      <p:sp>
        <p:nvSpPr>
          <p:cNvPr id="149507"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51554" name="Rectangle 2"/>
          <p:cNvSpPr>
            <a:spLocks noGrp="1" noRot="1" noChangeAspect="1" noTextEdit="1"/>
          </p:cNvSpPr>
          <p:nvPr>
            <p:ph type="sldImg"/>
          </p:nvPr>
        </p:nvSpPr>
        <p:spPr/>
      </p:sp>
      <p:sp>
        <p:nvSpPr>
          <p:cNvPr id="15155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53602" name="Rectangle 2"/>
          <p:cNvSpPr>
            <a:spLocks noGrp="1" noRot="1" noChangeAspect="1" noTextEdit="1"/>
          </p:cNvSpPr>
          <p:nvPr>
            <p:ph type="sldImg"/>
          </p:nvPr>
        </p:nvSpPr>
        <p:spPr/>
      </p:sp>
      <p:sp>
        <p:nvSpPr>
          <p:cNvPr id="153603"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55650" name="Rectangle 2"/>
          <p:cNvSpPr>
            <a:spLocks noGrp="1" noRot="1" noChangeAspect="1" noTextEdit="1"/>
          </p:cNvSpPr>
          <p:nvPr>
            <p:ph type="sldImg"/>
          </p:nvPr>
        </p:nvSpPr>
        <p:spPr/>
      </p:sp>
      <p:sp>
        <p:nvSpPr>
          <p:cNvPr id="1556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57698" name="Rectangle 2"/>
          <p:cNvSpPr>
            <a:spLocks noGrp="1" noRot="1" noChangeAspect="1" noTextEdit="1"/>
          </p:cNvSpPr>
          <p:nvPr>
            <p:ph type="sldImg"/>
          </p:nvPr>
        </p:nvSpPr>
        <p:spPr/>
      </p:sp>
      <p:sp>
        <p:nvSpPr>
          <p:cNvPr id="157699"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59746" name="Rectangle 2"/>
          <p:cNvSpPr>
            <a:spLocks noGrp="1" noRot="1" noChangeAspect="1" noTextEdit="1"/>
          </p:cNvSpPr>
          <p:nvPr>
            <p:ph type="sldImg"/>
          </p:nvPr>
        </p:nvSpPr>
        <p:spPr/>
      </p:sp>
      <p:sp>
        <p:nvSpPr>
          <p:cNvPr id="159747"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161794" name="Rectangle 2"/>
          <p:cNvSpPr>
            <a:spLocks noGrp="1" noRot="1" noChangeAspect="1" noTextEdit="1"/>
          </p:cNvSpPr>
          <p:nvPr>
            <p:ph type="sldImg"/>
          </p:nvPr>
        </p:nvSpPr>
        <p:spPr/>
      </p:sp>
      <p:sp>
        <p:nvSpPr>
          <p:cNvPr id="1617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eaLnBrk="0" hangingPunct="0"/>
            <a:fld id="{9A0DB2DC-4C9A-4742-B13C-FB6460FD3503}" type="slidenum">
              <a:rPr lang="zh-CN" altLang="en-US"/>
            </a:fld>
            <a:endParaRPr lang="zh-CN" altLang="en-US"/>
          </a:p>
        </p:txBody>
      </p:sp>
      <p:sp>
        <p:nvSpPr>
          <p:cNvPr id="174082" name="Rectangle 2"/>
          <p:cNvSpPr>
            <a:spLocks noGrp="1" noRot="1" noChangeAspect="1" noTextEdit="1"/>
          </p:cNvSpPr>
          <p:nvPr>
            <p:ph type="sldImg"/>
          </p:nvPr>
        </p:nvSpPr>
        <p:spPr/>
      </p:sp>
      <p:sp>
        <p:nvSpPr>
          <p:cNvPr id="174083" name="Rectangle 3"/>
          <p:cNvSpPr>
            <a:spLocks noGrp="1"/>
          </p:cNvSpPr>
          <p:nvPr>
            <p:ph type="body"/>
          </p:nvPr>
        </p:nvSpPr>
        <p:spPr/>
        <p:txBody>
          <a:bodyPr wrap="none" lIns="93151" tIns="46576" rIns="93151" bIns="46576" anchor="t" anchorCtr="0"/>
          <a:lstStyle/>
          <a:p>
            <a:pPr lvl="0"/>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latin typeface="Helvetica" charset="0"/>
                <a:ea typeface="宋体" panose="02010600030101010101" pitchFamily="2" charset="-122"/>
              </a:rPr>
            </a:fld>
            <a:endParaRPr lang="en-US" altLang="zh-CN" sz="1200">
              <a:latin typeface="Helvetica" charset="0"/>
              <a:ea typeface="宋体" panose="02010600030101010101" pitchFamily="2" charset="-122"/>
            </a:endParaRPr>
          </a:p>
        </p:txBody>
      </p:sp>
      <p:sp>
        <p:nvSpPr>
          <p:cNvPr id="189442" name="Rectangle 2"/>
          <p:cNvSpPr>
            <a:spLocks noGrp="1" noRot="1" noChangeAspect="1" noTextEdit="1"/>
          </p:cNvSpPr>
          <p:nvPr>
            <p:ph type="sldImg"/>
          </p:nvPr>
        </p:nvSpPr>
        <p:spPr/>
      </p:sp>
      <p:sp>
        <p:nvSpPr>
          <p:cNvPr id="1894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1.jpeg"/><Relationship Id="rId3" Type="http://schemas.openxmlformats.org/officeDocument/2006/relationships/hyperlink" Target="http://www.db-book.com/" TargetMode="External"/><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accent1"/>
        </a:solidFill>
        <a:effectLst/>
      </p:bgPr>
    </p:bg>
    <p:spTree>
      <p:nvGrpSpPr>
        <p:cNvPr id="1" name=""/>
        <p:cNvGrpSpPr/>
        <p:nvPr/>
      </p:nvGrpSpPr>
      <p:grpSpPr>
        <a:xfrm>
          <a:off x="0" y="0"/>
          <a:ext cx="0" cy="0"/>
          <a:chOff x="0" y="0"/>
          <a:chExt cx="0" cy="0"/>
        </a:xfrm>
      </p:grpSpPr>
      <p:graphicFrame>
        <p:nvGraphicFramePr>
          <p:cNvPr id="2050" name="Rectangle 2"/>
          <p:cNvGraphicFramePr>
            <a:graphicFrameLocks noChangeAspect="1"/>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81" name="" r:id="rId2" imgW="0" imgH="0" progId="MS_ClipArt_Gallery.2">
                  <p:embed/>
                </p:oleObj>
              </mc:Choice>
              <mc:Fallback>
                <p:oleObj name="" r:id="rId2" imgW="0" imgH="0" progId="MS_ClipArt_Gallery.2">
                  <p:embed/>
                  <p:pic>
                    <p:nvPicPr>
                      <p:cNvPr id="0" name="图片 3075"/>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2051" name="Text Box 7"/>
          <p:cNvSpPr txBox="1"/>
          <p:nvPr/>
        </p:nvSpPr>
        <p:spPr>
          <a:xfrm>
            <a:off x="2676525" y="5726113"/>
            <a:ext cx="3689350" cy="793750"/>
          </a:xfrm>
          <a:prstGeom prst="rect">
            <a:avLst/>
          </a:prstGeom>
          <a:noFill/>
          <a:ln w="9525">
            <a:noFill/>
          </a:ln>
        </p:spPr>
        <p:txBody>
          <a:bodyPr wrap="none" anchor="t" anchorCtr="0">
            <a:spAutoFit/>
          </a:bodyPr>
          <a:lstStyle/>
          <a:p>
            <a:pPr lvl="0" algn="ctr" eaLnBrk="0" hangingPunct="0">
              <a:spcBef>
                <a:spcPct val="50000"/>
              </a:spcBef>
            </a:pPr>
            <a:r>
              <a:rPr lang="en-US" altLang="zh-CN" b="1" dirty="0">
                <a:solidFill>
                  <a:schemeClr val="tx2"/>
                </a:solidFill>
                <a:latin typeface="Helvetica" charset="0"/>
              </a:rPr>
              <a:t>Database System Concepts, 7</a:t>
            </a:r>
            <a:r>
              <a:rPr lang="en-US" altLang="zh-CN" b="1" baseline="30000" dirty="0">
                <a:solidFill>
                  <a:schemeClr val="tx2"/>
                </a:solidFill>
                <a:latin typeface="Helvetica" charset="0"/>
              </a:rPr>
              <a:t>th</a:t>
            </a:r>
            <a:r>
              <a:rPr lang="en-US" altLang="zh-CN" b="1" dirty="0">
                <a:solidFill>
                  <a:schemeClr val="tx2"/>
                </a:solidFill>
                <a:latin typeface="Helvetica" charset="0"/>
              </a:rPr>
              <a:t> Ed</a:t>
            </a:r>
            <a:r>
              <a:rPr lang="en-US" altLang="zh-CN" dirty="0">
                <a:solidFill>
                  <a:schemeClr val="tx2"/>
                </a:solidFill>
                <a:latin typeface="Helvetica" charset="0"/>
              </a:rPr>
              <a:t>.</a:t>
            </a:r>
            <a:endParaRPr lang="en-US" altLang="zh-CN" dirty="0">
              <a:solidFill>
                <a:schemeClr val="tx2"/>
              </a:solidFill>
              <a:latin typeface="Helvetica" charset="0"/>
            </a:endParaRPr>
          </a:p>
          <a:p>
            <a:pPr lvl="0" algn="ctr" eaLnBrk="0" hangingPunct="0">
              <a:spcBef>
                <a:spcPct val="50000"/>
              </a:spcBef>
            </a:pPr>
            <a:r>
              <a:rPr lang="en-US" altLang="zh-CN" sz="1200" b="1" dirty="0">
                <a:solidFill>
                  <a:schemeClr val="tx2"/>
                </a:solidFill>
                <a:latin typeface="Helvetica" charset="0"/>
              </a:rPr>
              <a:t>©Silberschatz, Korth and Sudarshan</a:t>
            </a:r>
            <a:br>
              <a:rPr lang="en-US" altLang="zh-CN" sz="1200" b="1" dirty="0">
                <a:solidFill>
                  <a:srgbClr val="000099"/>
                </a:solidFill>
                <a:latin typeface="Helvetica" charset="0"/>
              </a:rPr>
            </a:br>
            <a:r>
              <a:rPr lang="en-US" altLang="zh-CN" sz="1200" b="1" dirty="0">
                <a:solidFill>
                  <a:schemeClr val="tx2"/>
                </a:solidFill>
                <a:latin typeface="Helvetica" charset="0"/>
              </a:rPr>
              <a:t>See</a:t>
            </a:r>
            <a:r>
              <a:rPr lang="en-US" altLang="zh-CN" sz="1200" b="1" dirty="0">
                <a:solidFill>
                  <a:srgbClr val="000099"/>
                </a:solidFill>
                <a:latin typeface="Helvetica" charset="0"/>
              </a:rPr>
              <a:t> </a:t>
            </a:r>
            <a:r>
              <a:rPr lang="en-US" altLang="zh-CN" sz="1200" b="1" dirty="0">
                <a:solidFill>
                  <a:srgbClr val="000099"/>
                </a:solidFill>
                <a:latin typeface="Helvetica" charset="0"/>
                <a:hlinkClick r:id="rId3"/>
              </a:rPr>
              <a:t>www.db-book.com</a:t>
            </a:r>
            <a:r>
              <a:rPr lang="en-US" altLang="zh-CN" sz="1200" b="1" dirty="0">
                <a:solidFill>
                  <a:srgbClr val="000099"/>
                </a:solidFill>
                <a:latin typeface="Helvetica" charset="0"/>
              </a:rPr>
              <a:t> </a:t>
            </a:r>
            <a:r>
              <a:rPr lang="en-US" altLang="zh-CN" sz="1200" b="1" dirty="0">
                <a:solidFill>
                  <a:schemeClr val="tx2"/>
                </a:solidFill>
                <a:latin typeface="Helvetica" charset="0"/>
              </a:rPr>
              <a:t>for conditions on re-use</a:t>
            </a:r>
            <a:r>
              <a:rPr lang="en-US" altLang="zh-CN" sz="1200" b="1" dirty="0">
                <a:solidFill>
                  <a:srgbClr val="000099"/>
                </a:solidFill>
                <a:latin typeface="Helvetica" charset="0"/>
              </a:rPr>
              <a:t> </a:t>
            </a:r>
            <a:endParaRPr lang="en-US" altLang="zh-CN" sz="1200" b="1" dirty="0">
              <a:solidFill>
                <a:srgbClr val="000099"/>
              </a:solidFill>
              <a:latin typeface="Helvetica" charset="0"/>
            </a:endParaRPr>
          </a:p>
        </p:txBody>
      </p:sp>
      <p:pic>
        <p:nvPicPr>
          <p:cNvPr id="2052" name="Picture 8" descr="Cover-6Ed"/>
          <p:cNvPicPr>
            <a:picLocks noChangeAspect="1"/>
          </p:cNvPicPr>
          <p:nvPr/>
        </p:nvPicPr>
        <p:blipFill>
          <a:blip r:embed="rId4"/>
          <a:stretch>
            <a:fillRect/>
          </a:stretch>
        </p:blipFill>
        <p:spPr>
          <a:xfrm>
            <a:off x="0" y="0"/>
            <a:ext cx="1392238" cy="1700213"/>
          </a:xfrm>
          <a:prstGeom prst="rect">
            <a:avLst/>
          </a:prstGeom>
          <a:noFill/>
          <a:ln w="9525">
            <a:noFill/>
          </a:ln>
        </p:spPr>
      </p:pic>
      <p:sp>
        <p:nvSpPr>
          <p:cNvPr id="760834"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pPr fontAlgn="base"/>
            <a:r>
              <a:rPr lang="en-US" strike="noStrike" noProof="1"/>
              <a:t>Click to edit Master title style</a:t>
            </a:r>
            <a:endParaRPr lang="en-US" strike="noStrike" noProof="1"/>
          </a:p>
        </p:txBody>
      </p:sp>
      <p:sp>
        <p:nvSpPr>
          <p:cNvPr id="760835"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2"/>
              <a:buNone/>
              <a:defRPr/>
            </a:lvl1pPr>
          </a:lstStyle>
          <a:p>
            <a:pPr fontAlgn="base"/>
            <a:r>
              <a:rPr lang="en-US" strike="noStrike" noProof="1"/>
              <a:t>Click to edit Master subtitle style</a:t>
            </a:r>
            <a:endParaRPr 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a:t>Click to edit Master text styles</a:t>
            </a:r>
            <a:endParaRPr 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endParaRPr lang="en-US" strike="noStrike" noProof="1"/>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endParaRPr lang="en-US" strike="noStrike" noProof="1"/>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endParaRPr 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pPr fontAlgn="base"/>
            <a:r>
              <a:rPr lang="en-US" strike="noStrike" noProof="1"/>
              <a:t>Click to edit Master title style</a:t>
            </a:r>
            <a:endParaRPr lang="en-US" strike="noStrike" noProof="1"/>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defRPr/>
            </a:pPr>
            <a:endParaRPr kumimoji="1" lang="en-US" sz="3200" b="0" i="0" u="none" strike="noStrike" kern="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endParaRPr 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pPr fontAlgn="base"/>
            <a:r>
              <a:rPr lang="en-US" strike="noStrike" noProof="1"/>
              <a:t>Click to edit Master title style</a:t>
            </a:r>
            <a:endParaRPr lang="en-US" strike="noStrike" noProof="1"/>
          </a:p>
        </p:txBody>
      </p:sp>
      <p:sp>
        <p:nvSpPr>
          <p:cNvPr id="3" name="Vertical Text Placeholder 2"/>
          <p:cNvSpPr>
            <a:spLocks noGrp="1"/>
          </p:cNvSpPr>
          <p:nvPr>
            <p:ph type="body" orient="vert" idx="1"/>
          </p:nvPr>
        </p:nvSpPr>
        <p:spPr>
          <a:xfrm>
            <a:off x="768350" y="117475"/>
            <a:ext cx="5905500" cy="5880100"/>
          </a:xfrm>
        </p:spPr>
        <p:txBody>
          <a:bodyPr vert="eaVert"/>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fontAlgn="base"/>
            <a:r>
              <a:rPr lang="en-US" strike="noStrike" noProof="1"/>
              <a:t>Click to edit Master title style</a:t>
            </a:r>
            <a:endParaRPr lang="en-US" strike="noStrike" noProof="1"/>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en-US" strike="noStrike" noProof="1"/>
              <a:t>Click to edit Master subtitle style</a:t>
            </a:r>
            <a:endParaRPr 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68350" y="117475"/>
            <a:ext cx="8077200" cy="609600"/>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855663" y="1222375"/>
            <a:ext cx="7661275" cy="49037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endParaRPr kumimoji="1" lang="zh-CN" altLang="en-US" sz="1800" b="0" i="0" u="none" strike="noStrike" kern="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endParaRPr>
          </a:p>
        </p:txBody>
      </p:sp>
      <p:sp>
        <p:nvSpPr>
          <p:cNvPr id="9" name="Rectangle 3"/>
          <p:cNvSpPr>
            <a:spLocks noGrp="1" noChangeArrowheads="1"/>
          </p:cNvSpPr>
          <p:nvPr>
            <p:ph type="sldNum" sz="quarter" idx="4"/>
          </p:nvPr>
        </p:nvSpPr>
        <p:spPr>
          <a:xfrm>
            <a:off x="6553200" y="6248400"/>
            <a:ext cx="1905000" cy="457200"/>
          </a:xfrm>
          <a:prstGeom prst="rect">
            <a:avLst/>
          </a:prstGeom>
        </p:spPr>
        <p:txBody>
          <a:bodyPr/>
          <a:lstStyle/>
          <a:p>
            <a:pPr lvl="0" eaLnBrk="0" fontAlgn="base" hangingPunct="0"/>
            <a:fld id="{9A0DB2DC-4C9A-4742-B13C-FB6460FD3503}" type="slidenum">
              <a:rPr lang="zh-CN" altLang="en-US" strike="noStrike" noProof="1" dirty="0">
                <a:latin typeface="Helvetica" charset="0"/>
                <a:ea typeface="MS PGothic" panose="020B0600070205080204" charset="-122"/>
                <a:cs typeface="+mn-cs"/>
              </a:rPr>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和内容">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68350" y="117475"/>
            <a:ext cx="8077200" cy="6096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855663" y="1222375"/>
            <a:ext cx="3754437" cy="49037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762500" y="1222375"/>
            <a:ext cx="3754438" cy="49037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9" name="Rectangle 3"/>
          <p:cNvSpPr>
            <a:spLocks noGrp="1" noChangeArrowheads="1"/>
          </p:cNvSpPr>
          <p:nvPr>
            <p:ph type="sldNum" sz="quarter" idx="4"/>
          </p:nvPr>
        </p:nvSpPr>
        <p:spPr>
          <a:xfrm>
            <a:off x="6553200" y="6248400"/>
            <a:ext cx="1905000" cy="457200"/>
          </a:xfrm>
          <a:prstGeom prst="rect">
            <a:avLst/>
          </a:prstGeom>
        </p:spPr>
        <p:txBody>
          <a:bodyPr/>
          <a:lstStyle/>
          <a:p>
            <a:pPr lvl="0" eaLnBrk="0" fontAlgn="base" hangingPunct="0"/>
            <a:fld id="{9A0DB2DC-4C9A-4742-B13C-FB6460FD3503}" type="slidenum">
              <a:rPr lang="zh-CN" altLang="en-US" strike="noStrike" noProof="1" dirty="0">
                <a:latin typeface="Helvetica" charset="0"/>
                <a:ea typeface="MS PGothic" panose="020B0600070205080204" charset="-122"/>
                <a:cs typeface="+mn-cs"/>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和两项内容">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68350" y="117475"/>
            <a:ext cx="8077200" cy="6096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855663" y="1222375"/>
            <a:ext cx="3754437" cy="49037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quarter" idx="2"/>
          </p:nvPr>
        </p:nvSpPr>
        <p:spPr>
          <a:xfrm>
            <a:off x="4762500" y="1222375"/>
            <a:ext cx="3754438" cy="23749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内容占位符 4"/>
          <p:cNvSpPr>
            <a:spLocks noGrp="1"/>
          </p:cNvSpPr>
          <p:nvPr>
            <p:ph sz="quarter" idx="3"/>
          </p:nvPr>
        </p:nvSpPr>
        <p:spPr>
          <a:xfrm>
            <a:off x="4762500" y="3749675"/>
            <a:ext cx="3754438" cy="23764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9" name="Rectangle 3"/>
          <p:cNvSpPr>
            <a:spLocks noGrp="1" noChangeArrowheads="1"/>
          </p:cNvSpPr>
          <p:nvPr>
            <p:ph type="sldNum" sz="quarter" idx="4"/>
          </p:nvPr>
        </p:nvSpPr>
        <p:spPr>
          <a:xfrm>
            <a:off x="6553200" y="6248400"/>
            <a:ext cx="1905000" cy="457200"/>
          </a:xfrm>
          <a:prstGeom prst="rect">
            <a:avLst/>
          </a:prstGeom>
        </p:spPr>
        <p:txBody>
          <a:bodyPr/>
          <a:lstStyle/>
          <a:p>
            <a:pPr lvl="0" eaLnBrk="0" fontAlgn="base" hangingPunct="0"/>
            <a:fld id="{9A0DB2DC-4C9A-4742-B13C-FB6460FD3503}" type="slidenum">
              <a:rPr lang="zh-CN" altLang="en-US" strike="noStrike" noProof="1" dirty="0">
                <a:latin typeface="Helvetica" charset="0"/>
                <a:ea typeface="MS PGothic" panose="020B0600070205080204"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jpe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p:cNvSpPr>
          <p:nvPr>
            <p:ph type="body"/>
          </p:nvPr>
        </p:nvSpPr>
        <p:spPr>
          <a:xfrm>
            <a:off x="814388" y="1093788"/>
            <a:ext cx="7661275" cy="4903787"/>
          </a:xfrm>
          <a:prstGeom prst="rect">
            <a:avLst/>
          </a:prstGeom>
          <a:noFill/>
          <a:ln w="9525">
            <a:noFill/>
          </a:ln>
        </p:spPr>
        <p:txBody>
          <a:bodyPr anchor="t" anchorCtr="0"/>
          <a:lstStyle/>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1027" name="Text Box 4"/>
          <p:cNvSpPr txBox="1"/>
          <p:nvPr/>
        </p:nvSpPr>
        <p:spPr>
          <a:xfrm>
            <a:off x="6762750" y="6613525"/>
            <a:ext cx="2381250" cy="244475"/>
          </a:xfrm>
          <a:prstGeom prst="rect">
            <a:avLst/>
          </a:prstGeom>
          <a:noFill/>
          <a:ln w="9525">
            <a:noFill/>
          </a:ln>
        </p:spPr>
        <p:txBody>
          <a:bodyPr wrap="none" anchor="t" anchorCtr="0">
            <a:spAutoFit/>
          </a:bodyPr>
          <a:lstStyle/>
          <a:p>
            <a:pPr lvl="0" algn="ctr" eaLnBrk="0" hangingPunct="0">
              <a:spcBef>
                <a:spcPct val="50000"/>
              </a:spcBef>
            </a:pPr>
            <a:r>
              <a:rPr lang="en-US" altLang="zh-CN" sz="1000" b="1" dirty="0">
                <a:solidFill>
                  <a:srgbClr val="000099"/>
                </a:solidFill>
                <a:latin typeface="Helvetica" charset="0"/>
              </a:rPr>
              <a:t>©Silberschatz, Korth and Sudarshan</a:t>
            </a:r>
            <a:endParaRPr lang="en-US" altLang="zh-CN" sz="1000" b="1" dirty="0">
              <a:solidFill>
                <a:srgbClr val="000099"/>
              </a:solidFill>
              <a:latin typeface="Helvetica" charset="0"/>
            </a:endParaRPr>
          </a:p>
        </p:txBody>
      </p:sp>
      <p:sp>
        <p:nvSpPr>
          <p:cNvPr id="1028" name="Text Box 5"/>
          <p:cNvSpPr txBox="1"/>
          <p:nvPr/>
        </p:nvSpPr>
        <p:spPr>
          <a:xfrm>
            <a:off x="4479925" y="6613525"/>
            <a:ext cx="447675" cy="246063"/>
          </a:xfrm>
          <a:prstGeom prst="rect">
            <a:avLst/>
          </a:prstGeom>
          <a:noFill/>
          <a:ln w="9525">
            <a:noFill/>
          </a:ln>
        </p:spPr>
        <p:txBody>
          <a:bodyPr wrap="none" anchor="t" anchorCtr="0">
            <a:spAutoFit/>
          </a:bodyPr>
          <a:lstStyle/>
          <a:p>
            <a:pPr lvl="0" algn="ctr" eaLnBrk="0" hangingPunct="0">
              <a:spcBef>
                <a:spcPct val="50000"/>
              </a:spcBef>
            </a:pPr>
            <a:r>
              <a:rPr lang="en-US" altLang="zh-CN" sz="1000" b="1" dirty="0">
                <a:solidFill>
                  <a:srgbClr val="000099"/>
                </a:solidFill>
                <a:latin typeface="Helvetica" charset="0"/>
              </a:rPr>
              <a:t>7.</a:t>
            </a:r>
            <a:fld id="{9A0DB2DC-4C9A-4742-B13C-FB6460FD3503}" type="slidenum">
              <a:rPr lang="en-US" altLang="zh-CN" sz="1000" b="1" dirty="0">
                <a:solidFill>
                  <a:srgbClr val="000099"/>
                </a:solidFill>
                <a:latin typeface="Helvetica" charset="0"/>
              </a:rPr>
            </a:fld>
            <a:endParaRPr lang="en-US" altLang="zh-CN" sz="1000" b="1" dirty="0">
              <a:solidFill>
                <a:srgbClr val="000099"/>
              </a:solidFill>
              <a:latin typeface="Helvetica" charset="0"/>
            </a:endParaRPr>
          </a:p>
        </p:txBody>
      </p:sp>
      <p:sp>
        <p:nvSpPr>
          <p:cNvPr id="759814"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fontAlgn="base"/>
            <a:r>
              <a:rPr lang="en-US" strike="noStrike" noProof="1"/>
              <a:t>Click to edit Master title style</a:t>
            </a:r>
            <a:endParaRPr lang="en-US" strike="noStrike" noProof="1"/>
          </a:p>
        </p:txBody>
      </p:sp>
      <p:sp>
        <p:nvSpPr>
          <p:cNvPr id="41990" name="Text Box 7"/>
          <p:cNvSpPr txBox="1">
            <a:spLocks noChangeArrowheads="1"/>
          </p:cNvSpPr>
          <p:nvPr/>
        </p:nvSpPr>
        <p:spPr bwMode="auto">
          <a:xfrm>
            <a:off x="0" y="6613525"/>
            <a:ext cx="1860550" cy="246063"/>
          </a:xfrm>
          <a:prstGeom prst="rect">
            <a:avLst/>
          </a:prstGeom>
          <a:noFill/>
          <a:ln>
            <a:noFill/>
          </a:ln>
        </p:spPr>
        <p:txBody>
          <a:bodyPr wrap="none">
            <a:spAutoFit/>
          </a:bodyPr>
          <a:lstStyle>
            <a:lvl1pPr eaLnBrk="0" hangingPunct="0">
              <a:defRPr sz="1600">
                <a:solidFill>
                  <a:schemeClr val="tx1"/>
                </a:solidFill>
                <a:latin typeface="Helvetica" charset="0"/>
                <a:ea typeface="MS PGothic" panose="020B0600070205080204" pitchFamily="34" charset="-128"/>
                <a:cs typeface="MS PGothic" panose="020B0600070205080204" pitchFamily="34" charset="-128"/>
              </a:defRPr>
            </a:lvl1pPr>
            <a:lvl2pPr marL="742950" indent="-285750" eaLnBrk="0" hangingPunct="0">
              <a:defRPr sz="1600">
                <a:solidFill>
                  <a:schemeClr val="tx1"/>
                </a:solidFill>
                <a:latin typeface="Helvetica" charset="0"/>
                <a:ea typeface="MS PGothic" panose="020B0600070205080204" pitchFamily="34" charset="-128"/>
                <a:cs typeface="MS PGothic" panose="020B0600070205080204" pitchFamily="34" charset="-128"/>
              </a:defRPr>
            </a:lvl2pPr>
            <a:lvl3pPr marL="1143000" indent="-228600" eaLnBrk="0" hangingPunct="0">
              <a:defRPr sz="1600">
                <a:solidFill>
                  <a:schemeClr val="tx1"/>
                </a:solidFill>
                <a:latin typeface="Helvetica" charset="0"/>
                <a:ea typeface="MS PGothic" panose="020B0600070205080204" pitchFamily="34" charset="-128"/>
                <a:cs typeface="MS PGothic" panose="020B0600070205080204" pitchFamily="34" charset="-128"/>
              </a:defRPr>
            </a:lvl3pPr>
            <a:lvl4pPr marL="1600200" indent="-228600" eaLnBrk="0" hangingPunct="0">
              <a:defRPr sz="1600">
                <a:solidFill>
                  <a:schemeClr val="tx1"/>
                </a:solidFill>
                <a:latin typeface="Helvetica" charset="0"/>
                <a:ea typeface="MS PGothic" panose="020B0600070205080204" pitchFamily="34" charset="-128"/>
                <a:cs typeface="MS PGothic" panose="020B0600070205080204" pitchFamily="34" charset="-128"/>
              </a:defRPr>
            </a:lvl4pPr>
            <a:lvl5pPr marL="2057400" indent="-228600" eaLnBrk="0" hangingPunct="0">
              <a:defRPr sz="1600">
                <a:solidFill>
                  <a:schemeClr val="tx1"/>
                </a:solidFill>
                <a:latin typeface="Helvetica"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0099"/>
                </a:solidFill>
                <a:effectLst/>
                <a:uLnTx/>
                <a:uFillTx/>
                <a:latin typeface="Helvetica" charset="0"/>
                <a:ea typeface="MS PGothic" panose="020B0600070205080204" pitchFamily="34" charset="-128"/>
                <a:cs typeface="MS PGothic" panose="020B0600070205080204" pitchFamily="34" charset="-128"/>
              </a:rPr>
              <a:t>Database System Concepts</a:t>
            </a:r>
            <a:endParaRPr kumimoji="0" lang="en-US" altLang="zh-CN" sz="1000" b="1" i="0" u="none" strike="noStrike" kern="1200" cap="none" spc="0" normalizeH="0" baseline="0" noProof="0">
              <a:ln>
                <a:noFill/>
              </a:ln>
              <a:solidFill>
                <a:srgbClr val="000099"/>
              </a:solidFill>
              <a:effectLst/>
              <a:uLnTx/>
              <a:uFillTx/>
              <a:latin typeface="Helvetica" charset="0"/>
              <a:ea typeface="MS PGothic" panose="020B0600070205080204" pitchFamily="34" charset="-128"/>
              <a:cs typeface="MS PGothic" panose="020B0600070205080204" pitchFamily="34" charset="-128"/>
            </a:endParaRPr>
          </a:p>
        </p:txBody>
      </p:sp>
      <p:sp>
        <p:nvSpPr>
          <p:cNvPr id="1031" name="Freeform 8"/>
          <p:cNvSpPr/>
          <p:nvPr/>
        </p:nvSpPr>
        <p:spPr>
          <a:xfrm>
            <a:off x="8916988" y="5445125"/>
            <a:ext cx="227012" cy="47625"/>
          </a:xfrm>
          <a:custGeom>
            <a:avLst/>
            <a:gdLst/>
            <a:ahLst/>
            <a:cxnLst>
              <a:cxn ang="0">
                <a:pos x="0" y="35963902"/>
              </a:cxn>
              <a:cxn ang="0">
                <a:pos x="1268878" y="29258145"/>
              </a:cxn>
              <a:cxn ang="0">
                <a:pos x="5710347" y="20724682"/>
              </a:cxn>
              <a:cxn ang="0">
                <a:pos x="10785858" y="15238439"/>
              </a:cxn>
              <a:cxn ang="0">
                <a:pos x="19033961" y="10362732"/>
              </a:cxn>
              <a:cxn ang="0">
                <a:pos x="28550941" y="6095219"/>
              </a:cxn>
              <a:cxn ang="0">
                <a:pos x="36165003" y="3656975"/>
              </a:cxn>
              <a:cxn ang="0">
                <a:pos x="44413106" y="1218732"/>
              </a:cxn>
              <a:cxn ang="0">
                <a:pos x="53930086" y="0"/>
              </a:cxn>
              <a:cxn ang="0">
                <a:pos x="63447066" y="0"/>
              </a:cxn>
              <a:cxn ang="0">
                <a:pos x="74866965" y="0"/>
              </a:cxn>
              <a:cxn ang="0">
                <a:pos x="86922497" y="0"/>
              </a:cxn>
              <a:cxn ang="0">
                <a:pos x="97708354" y="1218732"/>
              </a:cxn>
              <a:cxn ang="0">
                <a:pos x="109763090" y="3656975"/>
              </a:cxn>
              <a:cxn ang="0">
                <a:pos x="121817825" y="4876488"/>
              </a:cxn>
              <a:cxn ang="0">
                <a:pos x="132603683" y="7314732"/>
              </a:cxn>
              <a:cxn ang="0">
                <a:pos x="142120663" y="9143219"/>
              </a:cxn>
              <a:cxn ang="0">
                <a:pos x="151637644" y="11581463"/>
              </a:cxn>
              <a:cxn ang="0">
                <a:pos x="161154624" y="14019707"/>
              </a:cxn>
              <a:cxn ang="0">
                <a:pos x="168768686" y="15238439"/>
              </a:cxn>
              <a:cxn ang="0">
                <a:pos x="173210156" y="16457951"/>
              </a:cxn>
              <a:cxn ang="0">
                <a:pos x="179554544" y="18896195"/>
              </a:cxn>
              <a:cxn ang="0">
                <a:pos x="177016789" y="26819902"/>
              </a:cxn>
              <a:cxn ang="0">
                <a:pos x="173210156" y="25601170"/>
              </a:cxn>
              <a:cxn ang="0">
                <a:pos x="164962053" y="24382439"/>
              </a:cxn>
              <a:cxn ang="0">
                <a:pos x="152906521" y="21944195"/>
              </a:cxn>
              <a:cxn ang="0">
                <a:pos x="145927296" y="20724682"/>
              </a:cxn>
              <a:cxn ang="0">
                <a:pos x="138314031" y="19505951"/>
              </a:cxn>
              <a:cxn ang="0">
                <a:pos x="131334806" y="18896195"/>
              </a:cxn>
              <a:cxn ang="0">
                <a:pos x="124355581" y="17676682"/>
              </a:cxn>
              <a:cxn ang="0">
                <a:pos x="115473437" y="16457951"/>
              </a:cxn>
              <a:cxn ang="0">
                <a:pos x="109763090" y="15238439"/>
              </a:cxn>
              <a:cxn ang="0">
                <a:pos x="103418702" y="14019707"/>
              </a:cxn>
              <a:cxn ang="0">
                <a:pos x="97708354" y="12800195"/>
              </a:cxn>
              <a:cxn ang="0">
                <a:pos x="90094292" y="11581463"/>
              </a:cxn>
              <a:cxn ang="0">
                <a:pos x="69791454" y="9143219"/>
              </a:cxn>
              <a:cxn ang="0">
                <a:pos x="52661208" y="12800195"/>
              </a:cxn>
              <a:cxn ang="0">
                <a:pos x="37433881" y="17676682"/>
              </a:cxn>
              <a:cxn ang="0">
                <a:pos x="33626451" y="18896195"/>
              </a:cxn>
              <a:cxn ang="0">
                <a:pos x="27282063" y="20724682"/>
              </a:cxn>
              <a:cxn ang="0">
                <a:pos x="20302838" y="23162926"/>
              </a:cxn>
              <a:cxn ang="0">
                <a:pos x="14592491" y="26819902"/>
              </a:cxn>
              <a:cxn ang="0">
                <a:pos x="4441470" y="33525658"/>
              </a:cxn>
              <a:cxn ang="0">
                <a:pos x="1268878" y="37182633"/>
              </a:cxn>
            </a:cxnLst>
            <a:rect l="0" t="0" r="0" b="0"/>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w="9525">
            <a:noFill/>
          </a:ln>
        </p:spPr>
        <p:txBody>
          <a:bodyPr/>
          <a:lstStyle/>
          <a:p>
            <a:endParaRPr lang="zh-CN" altLang="en-US"/>
          </a:p>
        </p:txBody>
      </p:sp>
      <p:pic>
        <p:nvPicPr>
          <p:cNvPr id="1032" name="Picture 9" descr="Cover-6Ed"/>
          <p:cNvPicPr>
            <a:picLocks noChangeAspect="1"/>
          </p:cNvPicPr>
          <p:nvPr/>
        </p:nvPicPr>
        <p:blipFill>
          <a:blip r:embed="rId16"/>
          <a:stretch>
            <a:fillRect/>
          </a:stretch>
        </p:blipFill>
        <p:spPr>
          <a:xfrm>
            <a:off x="-3175" y="0"/>
            <a:ext cx="668338" cy="8159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a:ea typeface="宋体" panose="02010600030101010101" pitchFamily="2" charset="-122"/>
          <a:cs typeface="Arial" panose="020B0604020202020204"/>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chemeClr val="tx2"/>
        </a:buClr>
        <a:buSzPct val="90000"/>
        <a:buFont typeface="Monotype Sorts" charset="0"/>
        <a:buChar char="n"/>
        <a:defRPr kumimoji="1">
          <a:solidFill>
            <a:schemeClr val="tx1"/>
          </a:solidFill>
          <a:latin typeface="Arial" panose="020B0604020202020204"/>
          <a:ea typeface="宋体" panose="02010600030101010101" pitchFamily="2" charset="-122"/>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a:solidFill>
            <a:schemeClr val="tx1"/>
          </a:solidFill>
          <a:latin typeface="Arial" panose="020B0604020202020204"/>
          <a:ea typeface="Arial" panose="020B0604020202020204" pitchFamily="34" charset="0"/>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a:solidFill>
            <a:schemeClr val="tx1"/>
          </a:solidFill>
          <a:latin typeface="Arial" panose="020B0604020202020204"/>
          <a:ea typeface="Arial" panose="020B0604020202020204" pitchFamily="34" charset="0"/>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a:solidFill>
            <a:schemeClr val="tx1"/>
          </a:solidFill>
          <a:latin typeface="Arial" panose="020B0604020202020204"/>
          <a:ea typeface="Arial" panose="020B0604020202020204" pitchFamily="34" charset="0"/>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Arial" panose="020B0604020202020204"/>
          <a:ea typeface="Arial" panose="020B0604020202020204" pitchFamily="34" charset="0"/>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宋体" panose="02010600030101010101" pitchFamily="2" charset="-122"/>
          <a:cs typeface="+mn-cs"/>
        </a:defRPr>
      </a:lvl1pPr>
      <a:lvl2pPr marL="457200" algn="l" defTabSz="457200" rtl="0" eaLnBrk="1" latinLnBrk="0" hangingPunct="1">
        <a:defRPr sz="1800" kern="1200">
          <a:solidFill>
            <a:schemeClr val="tx1"/>
          </a:solidFill>
          <a:latin typeface="+mn-lt"/>
          <a:ea typeface="宋体" panose="02010600030101010101" pitchFamily="2" charset="-122"/>
          <a:cs typeface="+mn-cs"/>
        </a:defRPr>
      </a:lvl2pPr>
      <a:lvl3pPr marL="914400" algn="l" defTabSz="457200" rtl="0" eaLnBrk="1" latinLnBrk="0" hangingPunct="1">
        <a:defRPr sz="1800" kern="1200">
          <a:solidFill>
            <a:schemeClr val="tx1"/>
          </a:solidFill>
          <a:latin typeface="+mn-lt"/>
          <a:ea typeface="宋体" panose="02010600030101010101" pitchFamily="2" charset="-122"/>
          <a:cs typeface="+mn-cs"/>
        </a:defRPr>
      </a:lvl3pPr>
      <a:lvl4pPr marL="1371600" algn="l" defTabSz="457200" rtl="0" eaLnBrk="1" latinLnBrk="0" hangingPunct="1">
        <a:defRPr sz="1800" kern="1200">
          <a:solidFill>
            <a:schemeClr val="tx1"/>
          </a:solidFill>
          <a:latin typeface="+mn-lt"/>
          <a:ea typeface="宋体" panose="02010600030101010101" pitchFamily="2" charset="-122"/>
          <a:cs typeface="+mn-cs"/>
        </a:defRPr>
      </a:lvl4pPr>
      <a:lvl5pPr marL="1828800" algn="l" defTabSz="457200" rtl="0" eaLnBrk="1" latinLnBrk="0" hangingPunct="1">
        <a:defRPr sz="1800" kern="1200">
          <a:solidFill>
            <a:schemeClr val="tx1"/>
          </a:solidFill>
          <a:latin typeface="+mn-lt"/>
          <a:ea typeface="宋体" panose="02010600030101010101" pitchFamily="2" charset="-122"/>
          <a:cs typeface="+mn-cs"/>
        </a:defRPr>
      </a:lvl5pPr>
      <a:lvl6pPr marL="2286000" algn="l" defTabSz="457200" rtl="0" eaLnBrk="1" latinLnBrk="0" hangingPunct="1">
        <a:defRPr sz="1800" kern="1200">
          <a:solidFill>
            <a:schemeClr val="tx1"/>
          </a:solidFill>
          <a:latin typeface="+mn-lt"/>
          <a:ea typeface="宋体" panose="02010600030101010101" pitchFamily="2" charset="-122"/>
          <a:cs typeface="+mn-cs"/>
        </a:defRPr>
      </a:lvl6pPr>
      <a:lvl7pPr marL="2743200" algn="l" defTabSz="457200" rtl="0" eaLnBrk="1" latinLnBrk="0" hangingPunct="1">
        <a:defRPr sz="1800" kern="1200">
          <a:solidFill>
            <a:schemeClr val="tx1"/>
          </a:solidFill>
          <a:latin typeface="+mn-lt"/>
          <a:ea typeface="宋体" panose="02010600030101010101" pitchFamily="2" charset="-122"/>
          <a:cs typeface="+mn-cs"/>
        </a:defRPr>
      </a:lvl7pPr>
      <a:lvl8pPr marL="3200400" algn="l" defTabSz="457200" rtl="0" eaLnBrk="1" latinLnBrk="0" hangingPunct="1">
        <a:defRPr sz="1800" kern="1200">
          <a:solidFill>
            <a:schemeClr val="tx1"/>
          </a:solidFill>
          <a:latin typeface="+mn-lt"/>
          <a:ea typeface="宋体" panose="02010600030101010101" pitchFamily="2" charset="-122"/>
          <a:cs typeface="+mn-cs"/>
        </a:defRPr>
      </a:lvl8pPr>
      <a:lvl9pPr marL="3657600" algn="l" defTabSz="457200" rtl="0" eaLnBrk="1" latinLnBrk="0" hangingPunct="1">
        <a:defRPr sz="1800" kern="1200">
          <a:solidFill>
            <a:schemeClr val="tx1"/>
          </a:solidFill>
          <a:latin typeface="+mn-lt"/>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2.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7.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image" Target="../media/image9.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image" Target="../media/image16.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image" Target="../media/image17.e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image" Target="../media/image18.e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image" Target="../media/image20.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18.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image" Target="../media/image23.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6.xml"/><Relationship Id="rId2" Type="http://schemas.openxmlformats.org/officeDocument/2006/relationships/image" Target="../media/image27.png"/><Relationship Id="rId1" Type="http://schemas.openxmlformats.org/officeDocument/2006/relationships/image" Target="../media/image26.e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em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6.xml"/><Relationship Id="rId1" Type="http://schemas.openxmlformats.org/officeDocument/2006/relationships/image" Target="../media/image28.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image" Target="../media/image30.emf"/></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image" Target="../media/image31.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image" Target="../media/image32.emf"/></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emf"/><Relationship Id="rId1" Type="http://schemas.openxmlformats.org/officeDocument/2006/relationships/tags" Target="../tags/tag4.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7.xml"/><Relationship Id="rId2" Type="http://schemas.openxmlformats.org/officeDocument/2006/relationships/image" Target="../media/image33.emf"/><Relationship Id="rId1" Type="http://schemas.openxmlformats.org/officeDocument/2006/relationships/tags" Target="../tags/tag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6.xml"/><Relationship Id="rId1" Type="http://schemas.openxmlformats.org/officeDocument/2006/relationships/image" Target="../media/image34.e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34.emf"/></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36.emf"/></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36.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ctrTitle"/>
          </p:nvPr>
        </p:nvSpPr>
        <p:spPr>
          <a:xfrm>
            <a:off x="312738" y="2141538"/>
            <a:ext cx="8518525" cy="14509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Chapter 6: </a:t>
            </a:r>
            <a:r>
              <a:rPr kumimoji="1" lang="en-US" altLang="zh-CN" sz="40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Entity-Relationship Model</a:t>
            </a:r>
            <a:endParaRPr kumimoji="1" lang="en-US" altLang="zh-CN" sz="40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a:xfrm>
            <a:off x="852488" y="857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Chapter 6:  Entity-Relationship Model</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0242" name="Rectangle 3"/>
          <p:cNvSpPr>
            <a:spLocks noGrp="1"/>
          </p:cNvSpPr>
          <p:nvPr>
            <p:ph idx="1"/>
          </p:nvPr>
        </p:nvSpPr>
        <p:spPr>
          <a:xfrm>
            <a:off x="855980" y="901065"/>
            <a:ext cx="7848600" cy="5398770"/>
          </a:xfrm>
        </p:spPr>
        <p:txBody>
          <a:bodyPr vert="horz" wrap="square" lIns="91440" tIns="45720" rIns="91440" bIns="45720" anchor="t" anchorCtr="0"/>
          <a:lstStyle/>
          <a:p>
            <a:r>
              <a:rPr lang="en-US" altLang="zh-CN" sz="2400" dirty="0"/>
              <a:t>Design Process</a:t>
            </a:r>
            <a:endParaRPr lang="en-US" altLang="zh-CN" sz="2400" dirty="0"/>
          </a:p>
          <a:p>
            <a:r>
              <a:rPr lang="en-US" altLang="zh-CN" sz="2400" dirty="0"/>
              <a:t>Modeling</a:t>
            </a:r>
            <a:endParaRPr lang="en-US" altLang="zh-CN" sz="2400" dirty="0"/>
          </a:p>
          <a:p>
            <a:r>
              <a:rPr lang="en-US" altLang="zh-CN" sz="2400" dirty="0"/>
              <a:t>Constraints</a:t>
            </a:r>
            <a:endParaRPr lang="en-US" altLang="zh-CN" sz="2400" dirty="0"/>
          </a:p>
          <a:p>
            <a:r>
              <a:rPr lang="en-US" altLang="zh-CN" sz="2400" dirty="0"/>
              <a:t>E-R Diagram </a:t>
            </a:r>
            <a:endParaRPr lang="en-US" altLang="zh-CN" sz="2400" dirty="0"/>
          </a:p>
          <a:p>
            <a:r>
              <a:rPr lang="en-US" altLang="zh-CN" sz="2400" dirty="0"/>
              <a:t>Design Issues </a:t>
            </a:r>
            <a:endParaRPr lang="en-US" altLang="zh-CN" sz="2400" dirty="0"/>
          </a:p>
          <a:p>
            <a:r>
              <a:rPr lang="en-US" altLang="zh-CN" sz="2400" dirty="0"/>
              <a:t>Weak Entity Sets </a:t>
            </a:r>
            <a:endParaRPr lang="en-US" altLang="zh-CN" sz="2400" dirty="0"/>
          </a:p>
          <a:p>
            <a:r>
              <a:rPr lang="en-US" altLang="zh-CN" sz="2400" dirty="0"/>
              <a:t>Extended E-R Features</a:t>
            </a:r>
            <a:endParaRPr lang="en-US" altLang="zh-CN" sz="2400" dirty="0"/>
          </a:p>
          <a:p>
            <a:r>
              <a:rPr lang="en-US" altLang="zh-CN" sz="2400" dirty="0"/>
              <a:t>Design of the Bank Database</a:t>
            </a:r>
            <a:endParaRPr lang="en-US" altLang="zh-CN" sz="2400" dirty="0"/>
          </a:p>
          <a:p>
            <a:r>
              <a:rPr lang="en-US" altLang="zh-CN" sz="2400" dirty="0"/>
              <a:t>Reduction to Relation Schemas</a:t>
            </a:r>
            <a:endParaRPr lang="en-US" altLang="zh-CN" sz="2400" dirty="0"/>
          </a:p>
          <a:p>
            <a:r>
              <a:rPr lang="en-US" altLang="zh-CN" sz="2400" dirty="0"/>
              <a:t>Database Design</a:t>
            </a:r>
            <a:endParaRPr lang="en-US" altLang="zh-CN" sz="2400" dirty="0"/>
          </a:p>
          <a:p>
            <a:r>
              <a:rPr lang="en-US" altLang="zh-CN" sz="2400" dirty="0"/>
              <a:t>UML</a:t>
            </a:r>
            <a:endParaRPr lang="en-US" altLang="zh-C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宋体" panose="02010600030101010101" pitchFamily="2" charset="-122"/>
                <a:cs typeface="Arial" panose="020B0604020202020204"/>
              </a:rPr>
              <a:t>Design Phases</a:t>
            </a:r>
            <a:endParaRPr kumimoji="1" lang="en-US"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宋体" panose="02010600030101010101" pitchFamily="2" charset="-122"/>
              <a:cs typeface="Arial" panose="020B0604020202020204"/>
            </a:endParaRPr>
          </a:p>
        </p:txBody>
      </p:sp>
      <p:sp>
        <p:nvSpPr>
          <p:cNvPr id="12290" name="Rectangle 3"/>
          <p:cNvSpPr>
            <a:spLocks noGrp="1"/>
          </p:cNvSpPr>
          <p:nvPr>
            <p:ph idx="1"/>
          </p:nvPr>
        </p:nvSpPr>
        <p:spPr>
          <a:xfrm>
            <a:off x="250825" y="1093788"/>
            <a:ext cx="8655050" cy="4903787"/>
          </a:xfrm>
        </p:spPr>
        <p:txBody>
          <a:bodyPr vert="horz" wrap="square" lIns="91440" tIns="45720" rIns="91440" bIns="45720" anchor="t" anchorCtr="0"/>
          <a:lstStyle/>
          <a:p>
            <a:r>
              <a:rPr lang="en-US" altLang="zh-CN" sz="2400" dirty="0"/>
              <a:t>The initial phase of database design is to characterize fully the data needs of the</a:t>
            </a:r>
            <a:r>
              <a:rPr lang="en-US" altLang="zh-CN" sz="2400" dirty="0">
                <a:solidFill>
                  <a:srgbClr val="FF0000"/>
                </a:solidFill>
              </a:rPr>
              <a:t> prospective database users</a:t>
            </a:r>
            <a:r>
              <a:rPr lang="en-US" altLang="zh-CN" sz="2400" dirty="0"/>
              <a:t>. </a:t>
            </a:r>
            <a:endParaRPr lang="en-US" altLang="zh-CN" sz="2400" dirty="0"/>
          </a:p>
          <a:p>
            <a:r>
              <a:rPr lang="en-US" altLang="zh-CN" sz="2400" dirty="0"/>
              <a:t>Next, the</a:t>
            </a:r>
            <a:r>
              <a:rPr lang="en-US" altLang="zh-CN" sz="2400" dirty="0">
                <a:solidFill>
                  <a:srgbClr val="FF0000"/>
                </a:solidFill>
              </a:rPr>
              <a:t> designer chooses a data model</a:t>
            </a:r>
            <a:r>
              <a:rPr lang="en-US" altLang="zh-CN" sz="2400" dirty="0"/>
              <a:t> and, by applying the concepts of the chosen data model, </a:t>
            </a:r>
            <a:r>
              <a:rPr lang="en-US" altLang="zh-CN" sz="2400" dirty="0">
                <a:solidFill>
                  <a:srgbClr val="FF0000"/>
                </a:solidFill>
              </a:rPr>
              <a:t>translates these requirements into a conceptual schema of the database</a:t>
            </a:r>
            <a:r>
              <a:rPr lang="en-US" altLang="zh-CN" sz="2400" dirty="0"/>
              <a:t>.</a:t>
            </a:r>
            <a:endParaRPr lang="en-US" altLang="zh-CN" sz="2400" dirty="0"/>
          </a:p>
          <a:p>
            <a:r>
              <a:rPr lang="en-US" altLang="zh-CN" sz="2400" dirty="0"/>
              <a:t>A fully developed conceptual schema also indicates the functional requirements of the enterprise. </a:t>
            </a:r>
            <a:endParaRPr lang="en-US" altLang="zh-CN" sz="2400" dirty="0"/>
          </a:p>
          <a:p>
            <a:r>
              <a:rPr lang="en-US" altLang="zh-CN" sz="2400" dirty="0"/>
              <a:t>In a </a:t>
            </a:r>
            <a:r>
              <a:rPr lang="en-US" altLang="en-US" sz="2400" dirty="0"/>
              <a:t>“</a:t>
            </a:r>
            <a:r>
              <a:rPr lang="en-US" altLang="zh-CN" sz="2400" dirty="0"/>
              <a:t>specification of functional requirements</a:t>
            </a:r>
            <a:r>
              <a:rPr lang="en-US" altLang="en-US" sz="2400" dirty="0"/>
              <a:t>”</a:t>
            </a:r>
            <a:r>
              <a:rPr lang="en-US" altLang="en-US" sz="2400" dirty="0">
                <a:solidFill>
                  <a:schemeClr val="tx1">
                    <a:lumMod val="50000"/>
                    <a:lumOff val="50000"/>
                  </a:schemeClr>
                </a:solidFill>
              </a:rPr>
              <a:t>(</a:t>
            </a:r>
            <a:r>
              <a:rPr lang="zh-CN" altLang="en-US" sz="2400" dirty="0">
                <a:solidFill>
                  <a:schemeClr val="tx1">
                    <a:lumMod val="50000"/>
                    <a:lumOff val="50000"/>
                  </a:schemeClr>
                </a:solidFill>
              </a:rPr>
              <a:t>功能需求说明书</a:t>
            </a:r>
            <a:r>
              <a:rPr lang="en-US" altLang="en-US" sz="2400" dirty="0">
                <a:solidFill>
                  <a:schemeClr val="tx1">
                    <a:lumMod val="50000"/>
                    <a:lumOff val="50000"/>
                  </a:schemeClr>
                </a:solidFill>
              </a:rPr>
              <a:t>)</a:t>
            </a:r>
            <a:r>
              <a:rPr lang="en-US" altLang="zh-CN" sz="2400" dirty="0"/>
              <a:t>, users describe the kinds of operations (or transactions) that will be performed on the data.</a:t>
            </a:r>
            <a:r>
              <a:rPr lang="en-US" altLang="zh-CN" sz="2400" dirty="0">
                <a:sym typeface="Symbol" panose="05050102010706020507" charset="2"/>
              </a:rPr>
              <a:t>     </a:t>
            </a:r>
            <a:endParaRPr lang="en-US" altLang="zh-CN" sz="2400" dirty="0">
              <a:sym typeface="Symbol" panose="05050102010706020507" charset="2"/>
            </a:endParaRPr>
          </a:p>
        </p:txBody>
      </p:sp>
      <p:sp>
        <p:nvSpPr>
          <p:cNvPr id="12291" name="Rectangle 3"/>
          <p:cNvSpPr/>
          <p:nvPr/>
        </p:nvSpPr>
        <p:spPr>
          <a:xfrm>
            <a:off x="927100" y="1074738"/>
            <a:ext cx="7327900" cy="584200"/>
          </a:xfrm>
          <a:prstGeom prst="rect">
            <a:avLst/>
          </a:prstGeom>
          <a:noFill/>
          <a:ln w="9525">
            <a:noFill/>
          </a:ln>
        </p:spPr>
        <p:txBody>
          <a:bodyPr anchor="t" anchorCtr="0">
            <a:spAutoFit/>
          </a:bodyPr>
          <a:lstStyle/>
          <a:p>
            <a:pPr eaLnBrk="0" hangingPunct="0">
              <a:buFont typeface="Monotype Sorts" charset="2"/>
            </a:pPr>
            <a:endParaRPr lang="en-US" altLang="zh-CN" dirty="0">
              <a:latin typeface="Helvetica" charset="0"/>
            </a:endParaRPr>
          </a:p>
          <a:p>
            <a:pPr eaLnBrk="0" hangingPunct="0">
              <a:buFont typeface="Monotype Sorts" charset="2"/>
            </a:pPr>
            <a:r>
              <a:rPr lang="en-US" altLang="zh-CN" dirty="0">
                <a:latin typeface="Helvetica" charset="0"/>
                <a:sym typeface="Symbol" panose="05050102010706020507" charset="2"/>
              </a:rPr>
              <a:t> </a:t>
            </a:r>
            <a:endParaRPr lang="en-US" altLang="zh-CN" dirty="0">
              <a:latin typeface="Helvetica"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type="title"/>
          </p:nvPr>
        </p:nvSpPr>
        <p:spPr/>
        <p:txBody>
          <a:bodyPr vert="horz" wrap="square" lIns="91440" tIns="45720" rIns="91440" bIns="45720" anchor="b" anchorCtr="0"/>
          <a:lstStyle/>
          <a:p>
            <a:r>
              <a:rPr lang="en-US" altLang="zh-CN" dirty="0">
                <a:effectLst/>
              </a:rPr>
              <a:t>Design Phases (Cont.)</a:t>
            </a:r>
            <a:endParaRPr lang="en-US" altLang="zh-CN" dirty="0">
              <a:effectLst/>
            </a:endParaRPr>
          </a:p>
        </p:txBody>
      </p:sp>
      <p:sp>
        <p:nvSpPr>
          <p:cNvPr id="14338" name="Rectangle 3"/>
          <p:cNvSpPr>
            <a:spLocks noGrp="1"/>
          </p:cNvSpPr>
          <p:nvPr>
            <p:ph idx="1"/>
          </p:nvPr>
        </p:nvSpPr>
        <p:spPr>
          <a:xfrm>
            <a:off x="217488" y="1019175"/>
            <a:ext cx="8670925" cy="5381625"/>
          </a:xfrm>
        </p:spPr>
        <p:txBody>
          <a:bodyPr vert="horz" wrap="square" lIns="91440" tIns="45720" rIns="91440" bIns="45720" anchor="t" anchorCtr="0"/>
          <a:lstStyle/>
          <a:p>
            <a:r>
              <a:rPr lang="en-US" altLang="zh-CN" sz="2400" dirty="0"/>
              <a:t>The process of moving from an abstract data model to the implementation of the database proceeds in two final design phases.</a:t>
            </a:r>
            <a:endParaRPr lang="en-US" altLang="zh-CN" sz="2400" dirty="0"/>
          </a:p>
          <a:p>
            <a:r>
              <a:rPr lang="en-US" altLang="zh-CN" sz="2400" b="1" i="1" u="sng" dirty="0">
                <a:solidFill>
                  <a:schemeClr val="tx2"/>
                </a:solidFill>
              </a:rPr>
              <a:t>Logical Design</a:t>
            </a:r>
            <a:r>
              <a:rPr lang="en-US" altLang="zh-CN" sz="2400" dirty="0"/>
              <a:t> –  Deciding on the database schema. Database design requires that we find a </a:t>
            </a:r>
            <a:r>
              <a:rPr lang="en-US" altLang="en-US" sz="2400" dirty="0"/>
              <a:t>“</a:t>
            </a:r>
            <a:r>
              <a:rPr lang="en-US" altLang="zh-CN" sz="2400" dirty="0"/>
              <a:t>good</a:t>
            </a:r>
            <a:r>
              <a:rPr lang="en-US" altLang="en-US" sz="2400" dirty="0"/>
              <a:t>”</a:t>
            </a:r>
            <a:r>
              <a:rPr lang="en-US" altLang="zh-CN" sz="2400" dirty="0"/>
              <a:t> collection of relation schemas.</a:t>
            </a:r>
            <a:endParaRPr lang="en-US" altLang="zh-CN" sz="2400" dirty="0"/>
          </a:p>
          <a:p>
            <a:pPr lvl="1"/>
            <a:r>
              <a:rPr lang="en-US" altLang="zh-CN" sz="2400" dirty="0"/>
              <a:t>Business decision – What attributes should we record in the database?</a:t>
            </a:r>
            <a:endParaRPr lang="en-US" altLang="zh-CN" sz="2400" dirty="0"/>
          </a:p>
          <a:p>
            <a:pPr lvl="1"/>
            <a:r>
              <a:rPr lang="en-US" altLang="zh-CN" sz="2400" dirty="0"/>
              <a:t>Computer Science decision –  What relation schemas should we have and how should the attributes be distributed among the various relation schemas?</a:t>
            </a:r>
            <a:endParaRPr lang="en-US" altLang="zh-CN" sz="2400" dirty="0"/>
          </a:p>
          <a:p>
            <a:r>
              <a:rPr lang="en-US" altLang="zh-CN" sz="2400" b="1" i="1" u="sng" dirty="0">
                <a:solidFill>
                  <a:schemeClr val="tx2"/>
                </a:solidFill>
              </a:rPr>
              <a:t>Physical Design</a:t>
            </a:r>
            <a:r>
              <a:rPr lang="en-US" altLang="zh-CN" sz="2400" dirty="0"/>
              <a:t> – Deciding on the physical layout of the database                </a:t>
            </a:r>
            <a:endParaRPr lang="en-US" altLang="zh-CN" sz="2400" dirty="0"/>
          </a:p>
          <a:p>
            <a:pPr>
              <a:buNone/>
            </a:pPr>
            <a:endParaRPr lang="en-US" altLang="zh-CN" sz="2400" dirty="0"/>
          </a:p>
          <a:p>
            <a:pPr>
              <a:buNone/>
            </a:pPr>
            <a:r>
              <a:rPr lang="en-US" altLang="zh-CN" sz="2400" dirty="0">
                <a:sym typeface="Symbol" panose="05050102010706020507" charset="2"/>
              </a:rPr>
              <a:t>     </a:t>
            </a:r>
            <a:endParaRPr lang="en-US" altLang="zh-CN" sz="2400" dirty="0">
              <a:sym typeface="Symbol" panose="05050102010706020507" charset="2"/>
            </a:endParaRPr>
          </a:p>
        </p:txBody>
      </p:sp>
      <p:sp>
        <p:nvSpPr>
          <p:cNvPr id="14339" name="Rectangle 3"/>
          <p:cNvSpPr/>
          <p:nvPr/>
        </p:nvSpPr>
        <p:spPr>
          <a:xfrm>
            <a:off x="927100" y="1074738"/>
            <a:ext cx="7327900" cy="584200"/>
          </a:xfrm>
          <a:prstGeom prst="rect">
            <a:avLst/>
          </a:prstGeom>
          <a:noFill/>
          <a:ln w="9525">
            <a:noFill/>
          </a:ln>
        </p:spPr>
        <p:txBody>
          <a:bodyPr anchor="t" anchorCtr="0">
            <a:spAutoFit/>
          </a:bodyPr>
          <a:lstStyle/>
          <a:p>
            <a:pPr eaLnBrk="0" hangingPunct="0">
              <a:buFont typeface="Monotype Sorts" charset="2"/>
            </a:pPr>
            <a:endParaRPr lang="en-US" altLang="zh-CN" dirty="0">
              <a:latin typeface="Helvetica" charset="0"/>
            </a:endParaRPr>
          </a:p>
          <a:p>
            <a:pPr eaLnBrk="0" hangingPunct="0">
              <a:buFont typeface="Monotype Sorts" charset="2"/>
            </a:pPr>
            <a:r>
              <a:rPr lang="en-US" altLang="zh-CN" dirty="0">
                <a:latin typeface="Helvetica" charset="0"/>
                <a:sym typeface="Symbol" panose="05050102010706020507" charset="2"/>
              </a:rPr>
              <a:t> </a:t>
            </a:r>
            <a:endParaRPr lang="en-US" altLang="zh-CN" dirty="0">
              <a:latin typeface="Helvetica"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b" anchorCtr="0"/>
          <a:lstStyle/>
          <a:p>
            <a:r>
              <a:rPr lang="en-US" altLang="zh-CN" dirty="0">
                <a:effectLst/>
              </a:rPr>
              <a:t>Design Approaches</a:t>
            </a:r>
            <a:endParaRPr lang="en-US" altLang="zh-CN" dirty="0">
              <a:effectLst/>
            </a:endParaRPr>
          </a:p>
        </p:txBody>
      </p:sp>
      <p:sp>
        <p:nvSpPr>
          <p:cNvPr id="16386" name="Rectangle 3"/>
          <p:cNvSpPr>
            <a:spLocks noGrp="1"/>
          </p:cNvSpPr>
          <p:nvPr>
            <p:ph idx="1"/>
          </p:nvPr>
        </p:nvSpPr>
        <p:spPr>
          <a:xfrm>
            <a:off x="233363" y="1093788"/>
            <a:ext cx="8689975" cy="4903787"/>
          </a:xfrm>
        </p:spPr>
        <p:txBody>
          <a:bodyPr vert="horz" wrap="square" lIns="91440" tIns="45720" rIns="91440" bIns="45720" anchor="t" anchorCtr="0"/>
          <a:lstStyle/>
          <a:p>
            <a:r>
              <a:rPr lang="en-US" altLang="zh-CN" sz="2400" dirty="0"/>
              <a:t>Entity Relationship Model (covered in this chapter)</a:t>
            </a:r>
            <a:endParaRPr lang="en-US" altLang="zh-CN" sz="2400" dirty="0"/>
          </a:p>
          <a:p>
            <a:pPr lvl="1"/>
            <a:r>
              <a:rPr lang="en-US" altLang="zh-CN" sz="2400" dirty="0"/>
              <a:t>Models an enterprise as a collection of</a:t>
            </a:r>
            <a:r>
              <a:rPr lang="en-US" altLang="zh-CN" sz="2400" b="1" i="1" u="sng" dirty="0">
                <a:solidFill>
                  <a:schemeClr val="tx2"/>
                </a:solidFill>
                <a:effectLst>
                  <a:outerShdw blurRad="38100" dist="38100" dir="2700000" algn="tl">
                    <a:srgbClr val="000000">
                      <a:alpha val="43137"/>
                    </a:srgbClr>
                  </a:outerShdw>
                </a:effectLst>
              </a:rPr>
              <a:t> entities </a:t>
            </a:r>
            <a:r>
              <a:rPr lang="en-US" altLang="zh-CN" sz="2400" dirty="0"/>
              <a:t>and </a:t>
            </a:r>
            <a:r>
              <a:rPr lang="en-US" altLang="zh-CN" sz="2400" b="1" i="1" u="sng" dirty="0">
                <a:solidFill>
                  <a:schemeClr val="tx2"/>
                </a:solidFill>
                <a:effectLst>
                  <a:outerShdw blurRad="38100" dist="38100" dir="2700000" algn="tl">
                    <a:srgbClr val="000000">
                      <a:alpha val="43137"/>
                    </a:srgbClr>
                  </a:outerShdw>
                </a:effectLst>
              </a:rPr>
              <a:t>relationships</a:t>
            </a:r>
            <a:endParaRPr lang="en-US" altLang="zh-CN" sz="2400" i="1" dirty="0"/>
          </a:p>
          <a:p>
            <a:pPr lvl="2"/>
            <a:r>
              <a:rPr lang="en-US" altLang="zh-CN" sz="2400" b="1" i="1" u="sng" dirty="0">
                <a:solidFill>
                  <a:schemeClr val="tx2"/>
                </a:solidFill>
                <a:effectLst>
                  <a:outerShdw blurRad="38100" dist="38100" dir="2700000" algn="tl">
                    <a:srgbClr val="000000">
                      <a:alpha val="43137"/>
                    </a:srgbClr>
                  </a:outerShdw>
                </a:effectLst>
              </a:rPr>
              <a:t>Entity</a:t>
            </a:r>
            <a:r>
              <a:rPr lang="en-US" altLang="zh-CN" sz="2400" dirty="0"/>
              <a:t>: a </a:t>
            </a:r>
            <a:r>
              <a:rPr lang="en-US" altLang="en-US" sz="2400" dirty="0"/>
              <a:t>“</a:t>
            </a:r>
            <a:r>
              <a:rPr lang="en-US" altLang="zh-CN" sz="2400" dirty="0"/>
              <a:t>thing</a:t>
            </a:r>
            <a:r>
              <a:rPr lang="en-US" altLang="en-US" sz="2400" dirty="0"/>
              <a:t>”</a:t>
            </a:r>
            <a:r>
              <a:rPr lang="en-US" altLang="zh-CN" sz="2400" dirty="0"/>
              <a:t> or </a:t>
            </a:r>
            <a:r>
              <a:rPr lang="en-US" altLang="en-US" sz="2400" dirty="0"/>
              <a:t>“</a:t>
            </a:r>
            <a:r>
              <a:rPr lang="en-US" altLang="zh-CN" sz="2400" dirty="0"/>
              <a:t>object</a:t>
            </a:r>
            <a:r>
              <a:rPr lang="en-US" altLang="en-US" sz="2400" dirty="0"/>
              <a:t>”</a:t>
            </a:r>
            <a:r>
              <a:rPr lang="en-US" altLang="zh-CN" sz="2400" dirty="0"/>
              <a:t> in the enterprise that is distinguishable from other objects</a:t>
            </a:r>
            <a:endParaRPr lang="en-US" altLang="zh-CN" sz="2400" dirty="0"/>
          </a:p>
          <a:p>
            <a:pPr lvl="3"/>
            <a:r>
              <a:rPr lang="en-US" altLang="zh-CN" sz="2400" dirty="0">
                <a:solidFill>
                  <a:srgbClr val="002060"/>
                </a:solidFill>
              </a:rPr>
              <a:t>Described by a set of </a:t>
            </a:r>
            <a:r>
              <a:rPr lang="en-US" altLang="zh-CN" sz="2400" i="1" dirty="0">
                <a:solidFill>
                  <a:srgbClr val="002060"/>
                </a:solidFill>
              </a:rPr>
              <a:t>attributes</a:t>
            </a:r>
            <a:endParaRPr lang="en-US" altLang="zh-CN" sz="2400" dirty="0"/>
          </a:p>
          <a:p>
            <a:pPr lvl="2"/>
            <a:r>
              <a:rPr lang="en-US" altLang="zh-CN" sz="2400" b="1" i="1" u="sng" dirty="0">
                <a:solidFill>
                  <a:schemeClr val="tx2"/>
                </a:solidFill>
                <a:effectLst>
                  <a:outerShdw blurRad="38100" dist="38100" dir="2700000" algn="tl">
                    <a:srgbClr val="000000">
                      <a:alpha val="43137"/>
                    </a:srgbClr>
                  </a:outerShdw>
                </a:effectLst>
              </a:rPr>
              <a:t>Relationship</a:t>
            </a:r>
            <a:r>
              <a:rPr lang="en-US" altLang="zh-CN" sz="2400" dirty="0"/>
              <a:t>: an association among several entities</a:t>
            </a:r>
            <a:endParaRPr lang="en-US" altLang="zh-CN" sz="2400" dirty="0"/>
          </a:p>
          <a:p>
            <a:pPr lvl="1"/>
            <a:r>
              <a:rPr lang="en-US" altLang="zh-CN" sz="2400" dirty="0"/>
              <a:t>Represented diagrammatically by an </a:t>
            </a:r>
            <a:r>
              <a:rPr lang="en-US" altLang="zh-CN" sz="2400" i="1" dirty="0"/>
              <a:t>entity-relationship diagram:</a:t>
            </a:r>
            <a:endParaRPr lang="en-US" altLang="zh-CN" sz="2400" i="1" dirty="0"/>
          </a:p>
          <a:p>
            <a:r>
              <a:rPr lang="en-US" altLang="zh-CN" sz="2400" dirty="0"/>
              <a:t>Normalization Theory (Chapter 8)</a:t>
            </a:r>
            <a:endParaRPr lang="en-US" altLang="zh-CN" sz="2400" dirty="0"/>
          </a:p>
          <a:p>
            <a:pPr lvl="1"/>
            <a:r>
              <a:rPr lang="en-US" altLang="zh-CN" sz="2400" dirty="0"/>
              <a:t>Formalize what designs are bad, and test for them</a:t>
            </a:r>
            <a:endParaRPr lang="en-US" altLang="zh-CN" sz="2400" dirty="0"/>
          </a:p>
          <a:p>
            <a:pPr lvl="1">
              <a:buNone/>
            </a:pPr>
            <a:endParaRPr lang="en-US" altLang="zh-C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2736850"/>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Outline of the ER Model</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8434" name="Rectangle 3"/>
          <p:cNvSpPr/>
          <p:nvPr/>
        </p:nvSpPr>
        <p:spPr>
          <a:xfrm>
            <a:off x="1422400" y="2851150"/>
            <a:ext cx="6845300" cy="2816225"/>
          </a:xfrm>
          <a:prstGeom prst="rect">
            <a:avLst/>
          </a:prstGeom>
          <a:noFill/>
          <a:ln w="9525">
            <a:noFill/>
          </a:ln>
        </p:spPr>
        <p:txBody>
          <a:bodyPr anchor="t" anchorCtr="0"/>
          <a:lstStyle/>
          <a:p>
            <a:pPr marL="342900" indent="-342900" eaLnBrk="0" hangingPunct="0">
              <a:spcBef>
                <a:spcPct val="35000"/>
              </a:spcBef>
              <a:buClr>
                <a:schemeClr val="tx2"/>
              </a:buClr>
              <a:buSzPct val="90000"/>
            </a:pPr>
            <a:endParaRPr lang="en-US" altLang="en-US" sz="1800" dirty="0">
              <a:latin typeface="Helvetica"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model -- Database Modeling</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20482" name="Rectangle 3"/>
          <p:cNvSpPr>
            <a:spLocks noGrp="1"/>
          </p:cNvSpPr>
          <p:nvPr>
            <p:ph idx="1"/>
          </p:nvPr>
        </p:nvSpPr>
        <p:spPr>
          <a:xfrm>
            <a:off x="250825" y="1105535"/>
            <a:ext cx="8688705" cy="5309870"/>
          </a:xfrm>
        </p:spPr>
        <p:txBody>
          <a:bodyPr vert="horz" wrap="square" lIns="91440" tIns="45720" rIns="91440" bIns="45720" anchor="t" anchorCtr="0"/>
          <a:lstStyle/>
          <a:p>
            <a:r>
              <a:rPr lang="en-US" altLang="zh-CN" sz="2000" dirty="0"/>
              <a:t>The ER data mode was developed to facilitate database design by allowing specification of an </a:t>
            </a:r>
            <a:r>
              <a:rPr lang="en-US" altLang="zh-CN" sz="2000" dirty="0">
                <a:solidFill>
                  <a:srgbClr val="000099"/>
                </a:solidFill>
              </a:rPr>
              <a:t>enterprise schema </a:t>
            </a:r>
            <a:r>
              <a:rPr lang="en-US" altLang="zh-CN" sz="2000" dirty="0"/>
              <a:t>that represents the overall logical structure of a database.</a:t>
            </a:r>
            <a:endParaRPr lang="en-US" altLang="zh-CN" sz="2000" dirty="0"/>
          </a:p>
          <a:p>
            <a:r>
              <a:rPr lang="en-US" altLang="zh-CN" sz="2000" dirty="0"/>
              <a:t>The ER model is very useful in mapping the meanings and interactions of real-world enterprises onto a conceptual schema.  Because of this usefulness, many database-design tools draw on concepts from the ER model.</a:t>
            </a:r>
            <a:endParaRPr lang="en-US" altLang="zh-CN" sz="2000" dirty="0"/>
          </a:p>
          <a:p>
            <a:r>
              <a:rPr lang="en-US" altLang="zh-CN" sz="2000" dirty="0"/>
              <a:t>The ER data model employs three basic concepts: </a:t>
            </a:r>
            <a:endParaRPr lang="en-US" altLang="zh-CN" sz="2000" dirty="0"/>
          </a:p>
          <a:p>
            <a:pPr lvl="1"/>
            <a:r>
              <a:rPr lang="en-US" altLang="zh-CN" sz="2400" b="1" i="1" u="sng" dirty="0">
                <a:solidFill>
                  <a:schemeClr val="tx2"/>
                </a:solidFill>
                <a:effectLst>
                  <a:outerShdw blurRad="38100" dist="38100" dir="2700000" algn="tl">
                    <a:srgbClr val="000000">
                      <a:alpha val="43137"/>
                    </a:srgbClr>
                  </a:outerShdw>
                </a:effectLst>
              </a:rPr>
              <a:t>entity sets,</a:t>
            </a:r>
            <a:endParaRPr lang="en-US" altLang="zh-CN" sz="2400" b="1" i="1" u="sng" dirty="0">
              <a:solidFill>
                <a:schemeClr val="tx2"/>
              </a:solidFill>
              <a:effectLst>
                <a:outerShdw blurRad="38100" dist="38100" dir="2700000" algn="tl">
                  <a:srgbClr val="000000">
                    <a:alpha val="43137"/>
                  </a:srgbClr>
                </a:outerShdw>
              </a:effectLst>
            </a:endParaRPr>
          </a:p>
          <a:p>
            <a:pPr lvl="1" algn="l"/>
            <a:r>
              <a:rPr lang="en-US" altLang="zh-CN" sz="2400" b="1" i="1" u="sng" dirty="0">
                <a:solidFill>
                  <a:schemeClr val="tx2"/>
                </a:solidFill>
                <a:effectLst>
                  <a:outerShdw blurRad="38100" dist="38100" dir="2700000" algn="tl">
                    <a:srgbClr val="000000">
                      <a:alpha val="43137"/>
                    </a:srgbClr>
                  </a:outerShdw>
                </a:effectLst>
              </a:rPr>
              <a:t>relationship sets, </a:t>
            </a:r>
            <a:endParaRPr lang="en-US" altLang="zh-CN" sz="2400" b="1" i="1" u="sng" dirty="0">
              <a:solidFill>
                <a:schemeClr val="tx2"/>
              </a:solidFill>
              <a:effectLst>
                <a:outerShdw blurRad="38100" dist="38100" dir="2700000" algn="tl">
                  <a:srgbClr val="000000">
                    <a:alpha val="43137"/>
                  </a:srgbClr>
                </a:outerShdw>
              </a:effectLst>
            </a:endParaRPr>
          </a:p>
          <a:p>
            <a:pPr lvl="1" algn="l"/>
            <a:r>
              <a:rPr lang="en-US" altLang="zh-CN" sz="2400" b="1" i="1" u="sng" dirty="0">
                <a:solidFill>
                  <a:schemeClr val="tx2"/>
                </a:solidFill>
                <a:effectLst>
                  <a:outerShdw blurRad="38100" dist="38100" dir="2700000" algn="tl">
                    <a:srgbClr val="000000">
                      <a:alpha val="43137"/>
                    </a:srgbClr>
                  </a:outerShdw>
                </a:effectLst>
              </a:rPr>
              <a:t>attributes.</a:t>
            </a:r>
            <a:endParaRPr lang="en-US" altLang="zh-CN" sz="2400" b="1" i="1" u="sng" dirty="0">
              <a:solidFill>
                <a:schemeClr val="tx2"/>
              </a:solidFill>
              <a:effectLst>
                <a:outerShdw blurRad="38100" dist="38100" dir="2700000" algn="tl">
                  <a:srgbClr val="000000">
                    <a:alpha val="43137"/>
                  </a:srgbClr>
                </a:outerShdw>
              </a:effectLst>
            </a:endParaRPr>
          </a:p>
          <a:p>
            <a:r>
              <a:rPr lang="en-US" altLang="zh-CN" sz="2000" dirty="0"/>
              <a:t>The ER model also has an associated diagrammatic representation, the ER diagram, which can express the overall logical structure of a database graphically.</a:t>
            </a:r>
            <a:endParaRPr lang="en-US" altLang="zh-CN" sz="2000" dirty="0"/>
          </a:p>
          <a:p>
            <a:pPr>
              <a:buNone/>
            </a:pPr>
            <a:endParaRPr lang="en-US" altLang="zh-CN" sz="2000" dirty="0"/>
          </a:p>
          <a:p>
            <a:endParaRPr lang="en-US" altLang="zh-C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Entity Sets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22530" name="Rectangle 3"/>
          <p:cNvSpPr>
            <a:spLocks noGrp="1"/>
          </p:cNvSpPr>
          <p:nvPr>
            <p:ph idx="1"/>
          </p:nvPr>
        </p:nvSpPr>
        <p:spPr>
          <a:xfrm>
            <a:off x="42545" y="974090"/>
            <a:ext cx="9086850" cy="5551170"/>
          </a:xfrm>
        </p:spPr>
        <p:txBody>
          <a:bodyPr vert="horz" wrap="square" lIns="91440" tIns="45720" rIns="91440" bIns="45720" anchor="t" anchorCtr="0"/>
          <a:lstStyle/>
          <a:p>
            <a:r>
              <a:rPr lang="en-US" altLang="zh-CN" sz="2400" dirty="0"/>
              <a:t>An </a:t>
            </a:r>
            <a:r>
              <a:rPr lang="en-US" altLang="zh-CN" sz="2400" b="1" dirty="0">
                <a:solidFill>
                  <a:srgbClr val="000099"/>
                </a:solidFill>
              </a:rPr>
              <a:t>entity</a:t>
            </a:r>
            <a:r>
              <a:rPr lang="en-US" altLang="zh-CN" sz="2400" b="1" dirty="0"/>
              <a:t> </a:t>
            </a:r>
            <a:r>
              <a:rPr lang="en-US" altLang="zh-CN" sz="2400" dirty="0"/>
              <a:t>is an object that exists and is distinguishable from other objects.</a:t>
            </a:r>
            <a:endParaRPr lang="en-US" altLang="zh-CN" sz="2400" dirty="0"/>
          </a:p>
          <a:p>
            <a:pPr lvl="1"/>
            <a:r>
              <a:rPr lang="en-US" altLang="zh-CN" sz="2000" dirty="0"/>
              <a:t>Example:  specific person, company, event, plant</a:t>
            </a:r>
            <a:endParaRPr lang="en-US" altLang="zh-CN" sz="2000" dirty="0"/>
          </a:p>
          <a:p>
            <a:r>
              <a:rPr lang="en-US" altLang="zh-CN" sz="2400" dirty="0"/>
              <a:t>An </a:t>
            </a:r>
            <a:r>
              <a:rPr lang="en-US" altLang="zh-CN" sz="2400" b="1" dirty="0">
                <a:solidFill>
                  <a:srgbClr val="000099"/>
                </a:solidFill>
              </a:rPr>
              <a:t>entity set</a:t>
            </a:r>
            <a:r>
              <a:rPr lang="en-US" altLang="zh-CN" sz="2400" dirty="0"/>
              <a:t> is a set of entities of the same type that share the same properties.</a:t>
            </a:r>
            <a:endParaRPr lang="en-US" altLang="zh-CN" sz="2400" dirty="0"/>
          </a:p>
          <a:p>
            <a:pPr lvl="1"/>
            <a:r>
              <a:rPr lang="en-US" altLang="zh-CN" sz="2000" dirty="0"/>
              <a:t>Example: set of all persons, companies, trees, holidays</a:t>
            </a:r>
            <a:endParaRPr lang="en-US" altLang="zh-CN" sz="2000" dirty="0"/>
          </a:p>
          <a:p>
            <a:r>
              <a:rPr lang="en-US" altLang="zh-CN" sz="2400" b="1" dirty="0">
                <a:solidFill>
                  <a:srgbClr val="000099"/>
                </a:solidFill>
              </a:rPr>
              <a:t>An entity is represented by a set of attributes</a:t>
            </a:r>
            <a:r>
              <a:rPr lang="en-US" altLang="zh-CN" sz="2400" dirty="0"/>
              <a:t>; i.e., descriptive properties possessed by all members of an entity set.</a:t>
            </a:r>
            <a:endParaRPr lang="en-US" altLang="zh-CN" sz="2400" dirty="0"/>
          </a:p>
          <a:p>
            <a:pPr lvl="1"/>
            <a:r>
              <a:rPr lang="en-US" altLang="zh-CN" sz="2400" dirty="0"/>
              <a:t>Example: </a:t>
            </a:r>
            <a:r>
              <a:rPr lang="en-US" altLang="zh-CN" sz="2400" i="1" dirty="0"/>
              <a:t>instructor = </a:t>
            </a:r>
            <a:r>
              <a:rPr lang="en-US" altLang="zh-CN" sz="2400" dirty="0"/>
              <a:t>(</a:t>
            </a:r>
            <a:r>
              <a:rPr lang="en-US" altLang="zh-CN" sz="2400" i="1" dirty="0"/>
              <a:t>ID, name, street, city, salary </a:t>
            </a:r>
            <a:r>
              <a:rPr lang="en-US" altLang="zh-CN" sz="2400" dirty="0"/>
              <a:t>)</a:t>
            </a:r>
            <a:br>
              <a:rPr lang="en-US" altLang="zh-CN" sz="2400" i="1" dirty="0"/>
            </a:br>
            <a:r>
              <a:rPr lang="en-US" altLang="zh-CN" sz="2400" i="1" dirty="0"/>
              <a:t>	              course= </a:t>
            </a:r>
            <a:r>
              <a:rPr lang="en-US" altLang="zh-CN" sz="2400" dirty="0"/>
              <a:t>(</a:t>
            </a:r>
            <a:r>
              <a:rPr lang="en-US" altLang="zh-CN" sz="2400" i="1" dirty="0"/>
              <a:t>course_id, title, credits</a:t>
            </a:r>
            <a:r>
              <a:rPr lang="en-US" altLang="zh-CN" sz="2400" dirty="0"/>
              <a:t>)</a:t>
            </a:r>
            <a:endParaRPr lang="en-US" altLang="zh-CN" sz="2400" i="1" dirty="0">
              <a:solidFill>
                <a:schemeClr val="tx2"/>
              </a:solidFill>
            </a:endParaRPr>
          </a:p>
          <a:p>
            <a:r>
              <a:rPr lang="en-US" altLang="zh-CN" sz="2400" dirty="0"/>
              <a:t>A subset of the attributes form a  </a:t>
            </a:r>
            <a:r>
              <a:rPr lang="en-US" altLang="zh-CN" sz="2400" b="1" dirty="0">
                <a:solidFill>
                  <a:srgbClr val="000099"/>
                </a:solidFill>
              </a:rPr>
              <a:t>primary key </a:t>
            </a:r>
            <a:r>
              <a:rPr lang="en-US" altLang="zh-CN" sz="2400" dirty="0"/>
              <a:t>of the entity set; i.e., uniquely identifiying each member of the set.</a:t>
            </a:r>
            <a:endParaRPr lang="en-US" altLang="zh-CN" sz="2400" dirty="0"/>
          </a:p>
          <a:p>
            <a:pPr>
              <a:buNone/>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768350" y="65088"/>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Entity Sets -- </a:t>
            </a:r>
            <a:r>
              <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instructor </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and </a:t>
            </a:r>
            <a:r>
              <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student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sp>
        <p:nvSpPr>
          <p:cNvPr id="24578" name="Text Box 3"/>
          <p:cNvSpPr txBox="1"/>
          <p:nvPr/>
        </p:nvSpPr>
        <p:spPr>
          <a:xfrm>
            <a:off x="1192213" y="1216025"/>
            <a:ext cx="7381875" cy="304800"/>
          </a:xfrm>
          <a:prstGeom prst="rect">
            <a:avLst/>
          </a:prstGeom>
          <a:noFill/>
          <a:ln w="9525">
            <a:noFill/>
          </a:ln>
        </p:spPr>
        <p:txBody>
          <a:bodyPr anchor="t" anchorCtr="0">
            <a:spAutoFit/>
          </a:bodyPr>
          <a:lstStyle/>
          <a:p>
            <a:pPr eaLnBrk="0" hangingPunct="0"/>
            <a:r>
              <a:rPr lang="en-US" altLang="zh-CN" sz="1400" dirty="0">
                <a:latin typeface="Arial" panose="020B0604020202020204" pitchFamily="34" charset="0"/>
              </a:rPr>
              <a:t>instructor_ID  instructor_name                                    student-ID   student_name</a:t>
            </a:r>
            <a:endParaRPr lang="en-US" altLang="zh-CN" sz="1400" dirty="0">
              <a:latin typeface="Arial" panose="020B0604020202020204" pitchFamily="34" charset="0"/>
              <a:ea typeface="Arial" panose="020B0604020202020204" pitchFamily="34" charset="0"/>
            </a:endParaRPr>
          </a:p>
        </p:txBody>
      </p:sp>
      <p:pic>
        <p:nvPicPr>
          <p:cNvPr id="24579" name="Picture 6"/>
          <p:cNvPicPr>
            <a:picLocks noChangeAspect="1"/>
          </p:cNvPicPr>
          <p:nvPr/>
        </p:nvPicPr>
        <p:blipFill>
          <a:blip r:embed="rId1"/>
          <a:stretch>
            <a:fillRect/>
          </a:stretch>
        </p:blipFill>
        <p:spPr>
          <a:xfrm>
            <a:off x="1328738" y="1679575"/>
            <a:ext cx="6354762" cy="353853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26626" name="Rectangle 3"/>
          <p:cNvSpPr>
            <a:spLocks noGrp="1"/>
          </p:cNvSpPr>
          <p:nvPr>
            <p:ph idx="1"/>
          </p:nvPr>
        </p:nvSpPr>
        <p:spPr>
          <a:xfrm>
            <a:off x="150813" y="919163"/>
            <a:ext cx="8772525" cy="5180012"/>
          </a:xfrm>
        </p:spPr>
        <p:txBody>
          <a:bodyPr vert="horz" wrap="square" lIns="91440" tIns="45720" rIns="91440" bIns="45720" anchor="t" anchorCtr="0"/>
          <a:lstStyle/>
          <a:p>
            <a:pPr defTabSz="0">
              <a:tabLst>
                <a:tab pos="1536700" algn="ctr"/>
                <a:tab pos="3543300" algn="ctr"/>
                <a:tab pos="5481955" algn="ctr"/>
              </a:tabLst>
            </a:pPr>
            <a:r>
              <a:rPr lang="en-US" altLang="zh-CN" sz="2400" dirty="0"/>
              <a:t>A </a:t>
            </a:r>
            <a:r>
              <a:rPr lang="en-US" altLang="zh-CN" sz="2400" b="1" dirty="0">
                <a:solidFill>
                  <a:srgbClr val="000099"/>
                </a:solidFill>
              </a:rPr>
              <a:t>relationship</a:t>
            </a:r>
            <a:r>
              <a:rPr lang="en-US" altLang="zh-CN" sz="2400" dirty="0"/>
              <a:t> is an association among several entities</a:t>
            </a:r>
            <a:endParaRPr lang="en-US" altLang="zh-CN" sz="2400" dirty="0"/>
          </a:p>
          <a:p>
            <a:pPr defTabSz="0">
              <a:buNone/>
              <a:tabLst>
                <a:tab pos="1536700" algn="ctr"/>
                <a:tab pos="3543300" algn="ctr"/>
                <a:tab pos="5481955" algn="ctr"/>
              </a:tabLst>
            </a:pPr>
            <a:r>
              <a:rPr lang="en-US" altLang="zh-CN" sz="2400" dirty="0"/>
              <a:t>	Example:</a:t>
            </a:r>
            <a:br>
              <a:rPr lang="en-US" altLang="zh-CN" sz="2400" dirty="0"/>
            </a:br>
            <a:r>
              <a:rPr lang="en-US" altLang="zh-CN" sz="2400" dirty="0"/>
              <a:t>	 44553 (Peltier</a:t>
            </a:r>
            <a:r>
              <a:rPr lang="en-US" altLang="zh-CN" sz="2400" u="sng" dirty="0"/>
              <a:t>)</a:t>
            </a:r>
            <a:r>
              <a:rPr lang="en-US" altLang="zh-CN" sz="2400" dirty="0"/>
              <a:t> 	</a:t>
            </a:r>
            <a:r>
              <a:rPr lang="en-US" altLang="zh-CN" sz="2400" i="1" u="sng" dirty="0"/>
              <a:t>advisor</a:t>
            </a:r>
            <a:r>
              <a:rPr lang="en-US" altLang="zh-CN" sz="2400" dirty="0"/>
              <a:t>	 22222 (</a:t>
            </a:r>
            <a:r>
              <a:rPr lang="en-US" altLang="zh-CN" sz="2400" u="sng" dirty="0"/>
              <a:t>Einstein)</a:t>
            </a:r>
            <a:r>
              <a:rPr lang="en-US" altLang="zh-CN" sz="2400" dirty="0"/>
              <a:t> </a:t>
            </a:r>
            <a:br>
              <a:rPr lang="en-US" altLang="zh-CN" sz="2400" u="sng" dirty="0"/>
            </a:br>
            <a:r>
              <a:rPr lang="en-US" altLang="zh-CN" sz="2400" dirty="0"/>
              <a:t>	 </a:t>
            </a:r>
            <a:r>
              <a:rPr lang="en-US" altLang="zh-CN" sz="2400" i="1" dirty="0"/>
              <a:t>student</a:t>
            </a:r>
            <a:r>
              <a:rPr lang="en-US" altLang="zh-CN" sz="2400" dirty="0"/>
              <a:t> entity	relationship set	 </a:t>
            </a:r>
            <a:r>
              <a:rPr lang="en-US" altLang="zh-CN" sz="2400" i="1" dirty="0"/>
              <a:t>instructor</a:t>
            </a:r>
            <a:r>
              <a:rPr lang="en-US" altLang="zh-CN" sz="2400" dirty="0"/>
              <a:t> entity</a:t>
            </a:r>
            <a:endParaRPr lang="en-US" altLang="zh-CN" sz="2400" dirty="0"/>
          </a:p>
          <a:p>
            <a:pPr defTabSz="0">
              <a:tabLst>
                <a:tab pos="1536700" algn="ctr"/>
                <a:tab pos="3543300" algn="ctr"/>
                <a:tab pos="5481955" algn="ctr"/>
              </a:tabLst>
            </a:pPr>
            <a:r>
              <a:rPr lang="en-US" altLang="zh-CN" sz="2400" dirty="0"/>
              <a:t>A </a:t>
            </a:r>
            <a:r>
              <a:rPr lang="en-US" altLang="zh-CN" sz="2400" b="1" dirty="0">
                <a:solidFill>
                  <a:srgbClr val="000099"/>
                </a:solidFill>
              </a:rPr>
              <a:t>relationship set</a:t>
            </a:r>
            <a:r>
              <a:rPr lang="en-US" altLang="zh-CN" sz="2400" dirty="0"/>
              <a:t> is a mathematical relation among </a:t>
            </a:r>
            <a:r>
              <a:rPr lang="en-US" altLang="zh-CN" sz="2400" i="1" dirty="0"/>
              <a:t>n</a:t>
            </a:r>
            <a:r>
              <a:rPr lang="en-US" altLang="zh-CN" sz="2400" dirty="0"/>
              <a:t> </a:t>
            </a:r>
            <a:r>
              <a:rPr lang="en-US" altLang="zh-CN" sz="2400" dirty="0">
                <a:sym typeface="Symbol" panose="05050102010706020507" charset="2"/>
              </a:rPr>
              <a:t> 2 entities, each taken from entity sets</a:t>
            </a:r>
            <a:endParaRPr lang="en-US" altLang="zh-CN" sz="2400" dirty="0">
              <a:sym typeface="Symbol" panose="05050102010706020507" charset="2"/>
            </a:endParaRPr>
          </a:p>
          <a:p>
            <a:pPr defTabSz="0">
              <a:buNone/>
              <a:tabLst>
                <a:tab pos="1536700" algn="ctr"/>
                <a:tab pos="3543300" algn="ctr"/>
                <a:tab pos="5481955" algn="ctr"/>
              </a:tabLst>
            </a:pP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 |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a:t>
            </a:r>
            <a:br>
              <a:rPr lang="en-US" altLang="zh-CN" sz="2400" dirty="0">
                <a:sym typeface="Symbol" panose="05050102010706020507" charset="2"/>
              </a:rPr>
            </a:br>
            <a:br>
              <a:rPr lang="en-US" altLang="zh-CN" sz="2400" dirty="0">
                <a:sym typeface="Symbol" panose="05050102010706020507" charset="2"/>
              </a:rPr>
            </a:br>
            <a:r>
              <a:rPr lang="en-US" altLang="zh-CN" sz="2400" dirty="0">
                <a:sym typeface="Symbol" panose="05050102010706020507" charset="2"/>
              </a:rPr>
              <a:t>where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 is a relationship</a:t>
            </a:r>
            <a:endParaRPr lang="en-US" altLang="zh-CN" sz="2400" dirty="0">
              <a:sym typeface="Symbol" panose="05050102010706020507" charset="2"/>
            </a:endParaRPr>
          </a:p>
          <a:p>
            <a:pPr lvl="1" defTabSz="0">
              <a:tabLst>
                <a:tab pos="1536700" algn="ctr"/>
                <a:tab pos="3543300" algn="ctr"/>
                <a:tab pos="5481955" algn="ctr"/>
              </a:tabLst>
            </a:pPr>
            <a:r>
              <a:rPr lang="en-US" altLang="zh-CN" sz="2400" dirty="0">
                <a:sym typeface="Symbol" panose="05050102010706020507" charset="2"/>
              </a:rPr>
              <a:t>Example: </a:t>
            </a:r>
            <a:endParaRPr lang="en-US" altLang="zh-CN" sz="2400" dirty="0">
              <a:sym typeface="Symbol" panose="05050102010706020507" charset="2"/>
            </a:endParaRPr>
          </a:p>
          <a:p>
            <a:pPr lvl="1" defTabSz="0">
              <a:buNone/>
              <a:tabLst>
                <a:tab pos="1536700" algn="ctr"/>
                <a:tab pos="3543300" algn="ctr"/>
                <a:tab pos="5481955" algn="ctr"/>
              </a:tabLst>
            </a:pPr>
            <a:r>
              <a:rPr lang="en-US" altLang="zh-CN" sz="2400" dirty="0">
                <a:sym typeface="Symbol" panose="05050102010706020507" charset="2"/>
              </a:rPr>
              <a:t>		        (44553,22222)  </a:t>
            </a:r>
            <a:r>
              <a:rPr lang="en-US" altLang="zh-CN" sz="2400" i="1" dirty="0">
                <a:sym typeface="Symbol" panose="05050102010706020507" charset="2"/>
              </a:rPr>
              <a:t>advisor</a:t>
            </a:r>
            <a:endParaRPr lang="en-US" altLang="zh-CN" sz="2400" i="1" dirty="0">
              <a:sym typeface="Symbol" panose="05050102010706020507"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 </a:t>
            </a:r>
            <a:r>
              <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advisor</a:t>
            </a:r>
            <a:endPar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28674" name="Picture 6"/>
          <p:cNvPicPr>
            <a:picLocks noChangeAspect="1"/>
          </p:cNvPicPr>
          <p:nvPr/>
        </p:nvPicPr>
        <p:blipFill>
          <a:blip r:embed="rId1"/>
          <a:stretch>
            <a:fillRect/>
          </a:stretch>
        </p:blipFill>
        <p:spPr>
          <a:xfrm>
            <a:off x="708025" y="1316038"/>
            <a:ext cx="8027988" cy="4452937"/>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30722" name="Rectangle 3"/>
          <p:cNvSpPr>
            <a:spLocks noGrp="1"/>
          </p:cNvSpPr>
          <p:nvPr>
            <p:ph idx="1"/>
          </p:nvPr>
        </p:nvSpPr>
        <p:spPr>
          <a:xfrm>
            <a:off x="0" y="1078230"/>
            <a:ext cx="9143365" cy="1713230"/>
          </a:xfrm>
        </p:spPr>
        <p:txBody>
          <a:bodyPr vert="horz" wrap="square" lIns="91440" tIns="45720" rIns="91440" bIns="45720" anchor="t" anchorCtr="0"/>
          <a:lstStyle/>
          <a:p>
            <a:r>
              <a:rPr lang="en-US" altLang="zh-CN" sz="2400" b="1" dirty="0">
                <a:solidFill>
                  <a:srgbClr val="002060"/>
                </a:solidFill>
              </a:rPr>
              <a:t>An attribute can also be associated with a relationship set.</a:t>
            </a:r>
            <a:endParaRPr lang="en-US" altLang="zh-CN" sz="2400" b="1" dirty="0">
              <a:solidFill>
                <a:srgbClr val="002060"/>
              </a:solidFill>
            </a:endParaRPr>
          </a:p>
          <a:p>
            <a:pPr>
              <a:lnSpc>
                <a:spcPct val="90000"/>
              </a:lnSpc>
            </a:pPr>
            <a:r>
              <a:rPr lang="en-US" altLang="zh-CN" sz="2400" dirty="0"/>
              <a:t>For instance, the </a:t>
            </a:r>
            <a:r>
              <a:rPr lang="en-US" altLang="zh-CN" sz="2400" i="1" dirty="0"/>
              <a:t>advisor </a:t>
            </a:r>
            <a:r>
              <a:rPr lang="en-US" altLang="zh-CN" sz="2400" dirty="0"/>
              <a:t>relationship set between entity sets </a:t>
            </a:r>
            <a:r>
              <a:rPr lang="en-US" altLang="zh-CN" sz="2400" i="1" dirty="0"/>
              <a:t>instructor </a:t>
            </a:r>
            <a:r>
              <a:rPr lang="en-US" altLang="zh-CN" sz="2400" dirty="0"/>
              <a:t>and </a:t>
            </a:r>
            <a:r>
              <a:rPr lang="en-US" altLang="zh-CN" sz="2400" i="1" dirty="0"/>
              <a:t>student </a:t>
            </a:r>
            <a:r>
              <a:rPr lang="en-US" altLang="zh-CN" sz="2400" dirty="0"/>
              <a:t>may have the attribute </a:t>
            </a:r>
            <a:r>
              <a:rPr lang="en-US" altLang="zh-CN" sz="2400" i="1" dirty="0"/>
              <a:t>date </a:t>
            </a:r>
            <a:r>
              <a:rPr lang="en-US" altLang="zh-CN" sz="2400" dirty="0"/>
              <a:t>which tracks when the student started being associated with the advisor</a:t>
            </a:r>
            <a:endParaRPr lang="en-US" altLang="zh-CN" sz="2400" dirty="0"/>
          </a:p>
        </p:txBody>
      </p:sp>
      <p:pic>
        <p:nvPicPr>
          <p:cNvPr id="30723" name="Picture 6"/>
          <p:cNvPicPr>
            <a:picLocks noChangeAspect="1"/>
          </p:cNvPicPr>
          <p:nvPr/>
        </p:nvPicPr>
        <p:blipFill>
          <a:blip r:embed="rId1"/>
          <a:stretch>
            <a:fillRect/>
          </a:stretch>
        </p:blipFill>
        <p:spPr>
          <a:xfrm>
            <a:off x="616585" y="2830195"/>
            <a:ext cx="7878445" cy="373634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Degree of a Relationship Set</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32770" name="Rectangle 3"/>
          <p:cNvSpPr>
            <a:spLocks noGrp="1"/>
          </p:cNvSpPr>
          <p:nvPr>
            <p:ph idx="1"/>
          </p:nvPr>
        </p:nvSpPr>
        <p:spPr>
          <a:xfrm>
            <a:off x="133350" y="1093788"/>
            <a:ext cx="8890000" cy="5356225"/>
          </a:xfrm>
        </p:spPr>
        <p:txBody>
          <a:bodyPr vert="horz" wrap="square" lIns="91440" tIns="45720" rIns="91440" bIns="45720" anchor="t" anchorCtr="0"/>
          <a:lstStyle/>
          <a:p>
            <a:r>
              <a:rPr lang="en-US" altLang="zh-CN" sz="2400" b="1" dirty="0">
                <a:solidFill>
                  <a:srgbClr val="002060"/>
                </a:solidFill>
              </a:rPr>
              <a:t>binary relationship</a:t>
            </a:r>
            <a:endParaRPr lang="en-US" altLang="zh-CN" sz="2400" dirty="0"/>
          </a:p>
          <a:p>
            <a:pPr lvl="1"/>
            <a:r>
              <a:rPr lang="en-US" altLang="zh-CN" sz="2400" dirty="0"/>
              <a:t>involve two entity sets (or degree two). </a:t>
            </a:r>
            <a:endParaRPr lang="en-US" altLang="zh-CN" sz="2400" dirty="0"/>
          </a:p>
          <a:p>
            <a:pPr lvl="1"/>
            <a:r>
              <a:rPr lang="en-US" altLang="zh-CN" sz="2400" dirty="0">
                <a:solidFill>
                  <a:srgbClr val="000099"/>
                </a:solidFill>
              </a:rPr>
              <a:t>most relationship sets in a database system are binary.</a:t>
            </a:r>
            <a:endParaRPr lang="en-US" altLang="zh-CN" sz="2400" dirty="0"/>
          </a:p>
          <a:p>
            <a:r>
              <a:rPr lang="en-US" altLang="zh-CN" sz="2400" dirty="0"/>
              <a:t>Relationships between more than two entity sets are rare.  Most relationships are binary. (More on this later.)</a:t>
            </a:r>
            <a:endParaRPr lang="en-US" altLang="zh-CN" sz="2400" dirty="0"/>
          </a:p>
          <a:p>
            <a:pPr lvl="1">
              <a:buClr>
                <a:srgbClr val="CC6600"/>
              </a:buClr>
              <a:buSzPct val="105000"/>
              <a:buFont typeface="Webdings" panose="05030102010509060703" charset="2"/>
              <a:buChar char="4"/>
            </a:pPr>
            <a:r>
              <a:rPr lang="en-US" altLang="zh-CN" sz="2400" dirty="0"/>
              <a:t>Example: </a:t>
            </a:r>
            <a:r>
              <a:rPr lang="en-US" altLang="zh-CN" sz="2400" i="1" dirty="0"/>
              <a:t>students</a:t>
            </a:r>
            <a:r>
              <a:rPr lang="en-US" altLang="zh-CN" sz="2400" dirty="0"/>
              <a:t> work on research </a:t>
            </a:r>
            <a:r>
              <a:rPr lang="en-US" altLang="zh-CN" sz="2400" i="1" dirty="0"/>
              <a:t>projects</a:t>
            </a:r>
            <a:r>
              <a:rPr lang="en-US" altLang="zh-CN" sz="2400" dirty="0"/>
              <a:t> under the guidance of an </a:t>
            </a:r>
            <a:r>
              <a:rPr lang="en-US" altLang="zh-CN" sz="2400" i="1" dirty="0"/>
              <a:t>instructor</a:t>
            </a:r>
            <a:r>
              <a:rPr lang="en-US" altLang="zh-CN" sz="2400" dirty="0"/>
              <a:t>. </a:t>
            </a:r>
            <a:endParaRPr lang="en-US" altLang="zh-CN" sz="2400" dirty="0"/>
          </a:p>
          <a:p>
            <a:pPr lvl="1">
              <a:buClr>
                <a:srgbClr val="CC6600"/>
              </a:buClr>
              <a:buSzPct val="105000"/>
              <a:buFont typeface="Webdings" panose="05030102010509060703" charset="2"/>
              <a:buChar char="4"/>
            </a:pPr>
            <a:r>
              <a:rPr lang="en-US" altLang="zh-CN" sz="2400" dirty="0"/>
              <a:t>relationship </a:t>
            </a:r>
            <a:r>
              <a:rPr lang="en-US" altLang="zh-CN" sz="2400" i="1" dirty="0">
                <a:solidFill>
                  <a:srgbClr val="000099"/>
                </a:solidFill>
              </a:rPr>
              <a:t>proj_guide</a:t>
            </a:r>
            <a:r>
              <a:rPr lang="en-US" altLang="zh-CN" sz="2400" dirty="0">
                <a:solidFill>
                  <a:srgbClr val="000099"/>
                </a:solidFill>
              </a:rPr>
              <a:t> is a ternary relationship</a:t>
            </a:r>
            <a:r>
              <a:rPr lang="en-US" altLang="zh-CN" sz="2400" dirty="0"/>
              <a:t> between </a:t>
            </a:r>
            <a:r>
              <a:rPr lang="en-US" altLang="zh-CN" sz="2400" i="1" dirty="0"/>
              <a:t>instructor, student, </a:t>
            </a:r>
            <a:r>
              <a:rPr lang="en-US" altLang="zh-CN" sz="2400" dirty="0"/>
              <a:t>and </a:t>
            </a:r>
            <a:r>
              <a:rPr lang="en-US" altLang="zh-CN" sz="2400" i="1" dirty="0"/>
              <a:t>project</a:t>
            </a:r>
            <a:endParaRPr lang="en-US" altLang="zh-CN" sz="2400" dirty="0"/>
          </a:p>
          <a:p>
            <a:pPr lvl="1">
              <a:buFont typeface="Monotype Sorts" charset="2"/>
              <a:buChar char="•"/>
            </a:pPr>
            <a:endParaRPr lang="en-US" altLang="zh-C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a:xfrm>
            <a:off x="855980" y="1174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Mapping Cardinality Constraints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34818" name="Rectangle 3"/>
          <p:cNvSpPr>
            <a:spLocks noGrp="1"/>
          </p:cNvSpPr>
          <p:nvPr>
            <p:ph idx="1"/>
          </p:nvPr>
        </p:nvSpPr>
        <p:spPr>
          <a:xfrm>
            <a:off x="250825" y="1093788"/>
            <a:ext cx="8604250" cy="4114800"/>
          </a:xfrm>
        </p:spPr>
        <p:txBody>
          <a:bodyPr vert="horz" wrap="square" lIns="91440" tIns="45720" rIns="91440" bIns="45720" anchor="t" anchorCtr="0"/>
          <a:lstStyle/>
          <a:p>
            <a:r>
              <a:rPr lang="en-US" altLang="zh-CN" sz="2400" dirty="0"/>
              <a:t>Express the number of entities to which another entity can be associated via a relationship set.</a:t>
            </a:r>
            <a:endParaRPr lang="en-US" altLang="zh-CN" sz="2400" dirty="0"/>
          </a:p>
          <a:p>
            <a:r>
              <a:rPr lang="en-US" altLang="zh-CN" sz="2400" dirty="0"/>
              <a:t>Most useful in describing binary relationship sets.</a:t>
            </a:r>
            <a:endParaRPr lang="en-US" altLang="zh-CN" sz="2400" dirty="0"/>
          </a:p>
          <a:p>
            <a:r>
              <a:rPr lang="en-US" altLang="zh-CN" sz="2400" dirty="0"/>
              <a:t>For a binary relationship set the mapping cardinality must be one of the following types:</a:t>
            </a:r>
            <a:endParaRPr lang="en-US" altLang="zh-CN" sz="2400" dirty="0"/>
          </a:p>
          <a:p>
            <a:pPr lvl="1"/>
            <a:r>
              <a:rPr lang="en-US" altLang="zh-CN" sz="2400" b="1" dirty="0">
                <a:solidFill>
                  <a:srgbClr val="000099"/>
                </a:solidFill>
              </a:rPr>
              <a:t>One to one</a:t>
            </a:r>
            <a:endParaRPr lang="en-US" altLang="zh-CN" sz="2400" b="1" dirty="0">
              <a:solidFill>
                <a:srgbClr val="000099"/>
              </a:solidFill>
            </a:endParaRPr>
          </a:p>
          <a:p>
            <a:pPr lvl="1"/>
            <a:r>
              <a:rPr lang="en-US" altLang="zh-CN" sz="2400" b="1" dirty="0">
                <a:solidFill>
                  <a:srgbClr val="000099"/>
                </a:solidFill>
              </a:rPr>
              <a:t>One to many</a:t>
            </a:r>
            <a:endParaRPr lang="en-US" altLang="zh-CN" sz="2400" b="1" dirty="0">
              <a:solidFill>
                <a:srgbClr val="000099"/>
              </a:solidFill>
            </a:endParaRPr>
          </a:p>
          <a:p>
            <a:pPr lvl="1"/>
            <a:r>
              <a:rPr lang="en-US" altLang="zh-CN" sz="2400" b="1" dirty="0">
                <a:solidFill>
                  <a:srgbClr val="000099"/>
                </a:solidFill>
              </a:rPr>
              <a:t>Many to one</a:t>
            </a:r>
            <a:endParaRPr lang="en-US" altLang="zh-CN" sz="2400" b="1" dirty="0">
              <a:solidFill>
                <a:srgbClr val="000099"/>
              </a:solidFill>
            </a:endParaRPr>
          </a:p>
          <a:p>
            <a:pPr lvl="1"/>
            <a:r>
              <a:rPr lang="en-US" altLang="zh-CN" sz="2400" b="1" dirty="0">
                <a:solidFill>
                  <a:srgbClr val="000099"/>
                </a:solidFill>
              </a:rPr>
              <a:t>Many to many</a:t>
            </a:r>
            <a:r>
              <a:rPr lang="en-US" altLang="zh-CN" sz="2400" dirty="0"/>
              <a:t> </a:t>
            </a:r>
            <a:endParaRPr lang="en-US" altLang="zh-CN"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Mapping Cardinalities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36866" name="Text Box 3"/>
          <p:cNvSpPr txBox="1"/>
          <p:nvPr/>
        </p:nvSpPr>
        <p:spPr>
          <a:xfrm>
            <a:off x="1895475" y="4883150"/>
            <a:ext cx="1416050" cy="366713"/>
          </a:xfrm>
          <a:prstGeom prst="rect">
            <a:avLst/>
          </a:prstGeom>
          <a:noFill/>
          <a:ln w="9525">
            <a:noFill/>
          </a:ln>
        </p:spPr>
        <p:txBody>
          <a:bodyPr anchor="t" anchorCtr="0">
            <a:spAutoFit/>
          </a:bodyPr>
          <a:lstStyle/>
          <a:p>
            <a:pPr algn="ctr" eaLnBrk="0" hangingPunct="0">
              <a:spcBef>
                <a:spcPct val="50000"/>
              </a:spcBef>
            </a:pPr>
            <a:r>
              <a:rPr lang="en-US" altLang="zh-CN" sz="1800" dirty="0">
                <a:latin typeface="Helvetica" charset="0"/>
              </a:rPr>
              <a:t>One to one</a:t>
            </a:r>
            <a:endParaRPr lang="en-US" altLang="zh-CN" sz="1800" dirty="0">
              <a:latin typeface="Helvetica" charset="0"/>
            </a:endParaRPr>
          </a:p>
        </p:txBody>
      </p:sp>
      <p:sp>
        <p:nvSpPr>
          <p:cNvPr id="36867" name="Text Box 4"/>
          <p:cNvSpPr txBox="1"/>
          <p:nvPr/>
        </p:nvSpPr>
        <p:spPr>
          <a:xfrm>
            <a:off x="5935663" y="4868863"/>
            <a:ext cx="1487487" cy="366712"/>
          </a:xfrm>
          <a:prstGeom prst="rect">
            <a:avLst/>
          </a:prstGeom>
          <a:noFill/>
          <a:ln w="9525">
            <a:noFill/>
          </a:ln>
        </p:spPr>
        <p:txBody>
          <a:bodyPr wrap="none" anchor="t" anchorCtr="0">
            <a:spAutoFit/>
          </a:bodyPr>
          <a:lstStyle/>
          <a:p>
            <a:pPr algn="ctr" eaLnBrk="0" hangingPunct="0">
              <a:spcBef>
                <a:spcPct val="50000"/>
              </a:spcBef>
            </a:pPr>
            <a:r>
              <a:rPr lang="en-US" altLang="zh-CN" sz="1800" dirty="0">
                <a:latin typeface="Helvetica" charset="0"/>
              </a:rPr>
              <a:t>One to many</a:t>
            </a:r>
            <a:endParaRPr lang="en-US" altLang="zh-CN" sz="1800" dirty="0">
              <a:latin typeface="Helvetica" charset="0"/>
            </a:endParaRPr>
          </a:p>
        </p:txBody>
      </p:sp>
      <p:sp>
        <p:nvSpPr>
          <p:cNvPr id="36868" name="Text Box 5"/>
          <p:cNvSpPr txBox="1"/>
          <p:nvPr/>
        </p:nvSpPr>
        <p:spPr>
          <a:xfrm>
            <a:off x="1025525" y="5426075"/>
            <a:ext cx="7007225" cy="701675"/>
          </a:xfrm>
          <a:prstGeom prst="rect">
            <a:avLst/>
          </a:prstGeom>
          <a:noFill/>
          <a:ln w="9525">
            <a:noFill/>
          </a:ln>
        </p:spPr>
        <p:txBody>
          <a:bodyPr wrap="none" anchor="t" anchorCtr="0">
            <a:spAutoFit/>
          </a:bodyPr>
          <a:lstStyle/>
          <a:p>
            <a:pPr eaLnBrk="0" hangingPunct="0"/>
            <a:r>
              <a:rPr lang="en-US" altLang="zh-CN" sz="2000" dirty="0">
                <a:latin typeface="Helvetica" charset="0"/>
              </a:rPr>
              <a:t>Note: Some elements in </a:t>
            </a:r>
            <a:r>
              <a:rPr lang="en-US" altLang="zh-CN" sz="2000" i="1" dirty="0">
                <a:latin typeface="Helvetica" charset="0"/>
              </a:rPr>
              <a:t>A</a:t>
            </a:r>
            <a:r>
              <a:rPr lang="en-US" altLang="zh-CN" sz="2000" dirty="0">
                <a:latin typeface="Helvetica" charset="0"/>
              </a:rPr>
              <a:t> and </a:t>
            </a:r>
            <a:r>
              <a:rPr lang="en-US" altLang="zh-CN" sz="2000" i="1" dirty="0">
                <a:latin typeface="Helvetica" charset="0"/>
              </a:rPr>
              <a:t>B</a:t>
            </a:r>
            <a:r>
              <a:rPr lang="en-US" altLang="zh-CN" sz="2000" dirty="0">
                <a:latin typeface="Helvetica" charset="0"/>
              </a:rPr>
              <a:t> may not be mapped to any </a:t>
            </a:r>
            <a:endParaRPr lang="en-US" altLang="zh-CN" sz="2000" dirty="0">
              <a:latin typeface="Helvetica" charset="0"/>
            </a:endParaRPr>
          </a:p>
          <a:p>
            <a:pPr eaLnBrk="0" hangingPunct="0"/>
            <a:r>
              <a:rPr lang="en-US" altLang="zh-CN" sz="2000" dirty="0">
                <a:latin typeface="Helvetica" charset="0"/>
              </a:rPr>
              <a:t>elements in the other set</a:t>
            </a:r>
            <a:endParaRPr lang="en-US" altLang="zh-CN" sz="2000" dirty="0">
              <a:latin typeface="Helvetica" charset="0"/>
            </a:endParaRPr>
          </a:p>
        </p:txBody>
      </p:sp>
      <p:pic>
        <p:nvPicPr>
          <p:cNvPr id="36869" name="Picture 7" descr="7"/>
          <p:cNvPicPr>
            <a:picLocks noChangeAspect="1"/>
          </p:cNvPicPr>
          <p:nvPr/>
        </p:nvPicPr>
        <p:blipFill>
          <a:blip r:embed="rId1"/>
          <a:stretch>
            <a:fillRect/>
          </a:stretch>
        </p:blipFill>
        <p:spPr>
          <a:xfrm>
            <a:off x="1257300" y="1220788"/>
            <a:ext cx="6705600" cy="34163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Mapping Cardinalities </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38914" name="Text Box 3"/>
          <p:cNvSpPr txBox="1"/>
          <p:nvPr/>
        </p:nvSpPr>
        <p:spPr>
          <a:xfrm>
            <a:off x="1992313" y="4849813"/>
            <a:ext cx="1436687" cy="366712"/>
          </a:xfrm>
          <a:prstGeom prst="rect">
            <a:avLst/>
          </a:prstGeom>
          <a:noFill/>
          <a:ln w="9525">
            <a:noFill/>
          </a:ln>
        </p:spPr>
        <p:txBody>
          <a:bodyPr anchor="t" anchorCtr="0">
            <a:spAutoFit/>
          </a:bodyPr>
          <a:lstStyle/>
          <a:p>
            <a:pPr algn="ctr" eaLnBrk="0" hangingPunct="0">
              <a:spcBef>
                <a:spcPct val="50000"/>
              </a:spcBef>
            </a:pPr>
            <a:r>
              <a:rPr lang="en-US" altLang="zh-CN" sz="1800" dirty="0">
                <a:latin typeface="Helvetica" charset="0"/>
              </a:rPr>
              <a:t>Many to one</a:t>
            </a:r>
            <a:endParaRPr lang="en-US" altLang="zh-CN" sz="1800" dirty="0">
              <a:latin typeface="Helvetica" charset="0"/>
            </a:endParaRPr>
          </a:p>
        </p:txBody>
      </p:sp>
      <p:sp>
        <p:nvSpPr>
          <p:cNvPr id="38915" name="Text Box 4"/>
          <p:cNvSpPr txBox="1"/>
          <p:nvPr/>
        </p:nvSpPr>
        <p:spPr>
          <a:xfrm>
            <a:off x="5913438" y="4864100"/>
            <a:ext cx="1609725" cy="366713"/>
          </a:xfrm>
          <a:prstGeom prst="rect">
            <a:avLst/>
          </a:prstGeom>
          <a:noFill/>
          <a:ln w="9525">
            <a:noFill/>
          </a:ln>
        </p:spPr>
        <p:txBody>
          <a:bodyPr wrap="none" anchor="t" anchorCtr="0">
            <a:spAutoFit/>
          </a:bodyPr>
          <a:lstStyle/>
          <a:p>
            <a:pPr algn="ctr" eaLnBrk="0" hangingPunct="0">
              <a:spcBef>
                <a:spcPct val="50000"/>
              </a:spcBef>
            </a:pPr>
            <a:r>
              <a:rPr lang="en-US" altLang="zh-CN" sz="1800" dirty="0">
                <a:latin typeface="Helvetica" charset="0"/>
              </a:rPr>
              <a:t>Many to many</a:t>
            </a:r>
            <a:endParaRPr lang="en-US" altLang="zh-CN" sz="1800" dirty="0">
              <a:latin typeface="Helvetica" charset="0"/>
            </a:endParaRPr>
          </a:p>
        </p:txBody>
      </p:sp>
      <p:sp>
        <p:nvSpPr>
          <p:cNvPr id="38916" name="Text Box 5"/>
          <p:cNvSpPr txBox="1"/>
          <p:nvPr/>
        </p:nvSpPr>
        <p:spPr>
          <a:xfrm>
            <a:off x="1177925" y="5430838"/>
            <a:ext cx="7007225" cy="701675"/>
          </a:xfrm>
          <a:prstGeom prst="rect">
            <a:avLst/>
          </a:prstGeom>
          <a:noFill/>
          <a:ln w="9525">
            <a:noFill/>
          </a:ln>
        </p:spPr>
        <p:txBody>
          <a:bodyPr wrap="none" anchor="t" anchorCtr="0">
            <a:spAutoFit/>
          </a:bodyPr>
          <a:lstStyle/>
          <a:p>
            <a:pPr eaLnBrk="0" hangingPunct="0"/>
            <a:r>
              <a:rPr lang="en-US" altLang="zh-CN" sz="2000" dirty="0">
                <a:latin typeface="Helvetica" charset="0"/>
              </a:rPr>
              <a:t>Note: Some elements in A and B may not be mapped to any </a:t>
            </a:r>
            <a:endParaRPr lang="en-US" altLang="zh-CN" sz="2000" dirty="0">
              <a:latin typeface="Helvetica" charset="0"/>
            </a:endParaRPr>
          </a:p>
          <a:p>
            <a:pPr eaLnBrk="0" hangingPunct="0"/>
            <a:r>
              <a:rPr lang="en-US" altLang="zh-CN" sz="2000" dirty="0">
                <a:latin typeface="Helvetica" charset="0"/>
              </a:rPr>
              <a:t>elements in the other set</a:t>
            </a:r>
            <a:endParaRPr lang="en-US" altLang="zh-CN" sz="2000" dirty="0">
              <a:latin typeface="Helvetica" charset="0"/>
            </a:endParaRPr>
          </a:p>
        </p:txBody>
      </p:sp>
      <p:pic>
        <p:nvPicPr>
          <p:cNvPr id="38917" name="Picture 7" descr="7"/>
          <p:cNvPicPr>
            <a:picLocks noChangeAspect="1"/>
          </p:cNvPicPr>
          <p:nvPr/>
        </p:nvPicPr>
        <p:blipFill>
          <a:blip r:embed="rId1"/>
          <a:stretch>
            <a:fillRect/>
          </a:stretch>
        </p:blipFill>
        <p:spPr>
          <a:xfrm>
            <a:off x="1514475" y="1452563"/>
            <a:ext cx="6324600" cy="3300412"/>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Complex Attributes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40962" name="Rectangle 3"/>
          <p:cNvSpPr>
            <a:spLocks noGrp="1"/>
          </p:cNvSpPr>
          <p:nvPr>
            <p:ph idx="1"/>
          </p:nvPr>
        </p:nvSpPr>
        <p:spPr>
          <a:xfrm>
            <a:off x="115570" y="970280"/>
            <a:ext cx="8926195" cy="5643245"/>
          </a:xfrm>
        </p:spPr>
        <p:txBody>
          <a:bodyPr vert="horz" wrap="square" lIns="91440" tIns="45720" rIns="91440" bIns="45720" anchor="t" anchorCtr="0"/>
          <a:lstStyle/>
          <a:p>
            <a:r>
              <a:rPr lang="en-US" altLang="zh-CN" sz="2800" dirty="0"/>
              <a:t>Attribute types:</a:t>
            </a:r>
            <a:endParaRPr lang="en-US" altLang="zh-CN" sz="2800" dirty="0"/>
          </a:p>
          <a:p>
            <a:pPr lvl="1"/>
            <a:r>
              <a:rPr lang="en-US" altLang="zh-CN" sz="2800" b="1" dirty="0">
                <a:solidFill>
                  <a:srgbClr val="000099"/>
                </a:solidFill>
              </a:rPr>
              <a:t>Simple</a:t>
            </a:r>
            <a:r>
              <a:rPr lang="en-US" altLang="zh-CN" sz="2800" dirty="0"/>
              <a:t> and </a:t>
            </a:r>
            <a:r>
              <a:rPr lang="en-US" altLang="zh-CN" sz="2800" b="1" dirty="0">
                <a:solidFill>
                  <a:srgbClr val="000099"/>
                </a:solidFill>
              </a:rPr>
              <a:t>composite</a:t>
            </a:r>
            <a:r>
              <a:rPr lang="en-US" altLang="zh-CN" sz="2800" dirty="0"/>
              <a:t> attributes.</a:t>
            </a:r>
            <a:endParaRPr lang="en-US" altLang="zh-CN" sz="2800" dirty="0"/>
          </a:p>
          <a:p>
            <a:pPr lvl="1"/>
            <a:r>
              <a:rPr lang="en-US" altLang="zh-CN" sz="2800" b="1" dirty="0">
                <a:solidFill>
                  <a:srgbClr val="000099"/>
                </a:solidFill>
              </a:rPr>
              <a:t>Single-valued</a:t>
            </a:r>
            <a:r>
              <a:rPr lang="en-US" altLang="zh-CN" sz="2800" dirty="0"/>
              <a:t> and </a:t>
            </a:r>
            <a:r>
              <a:rPr lang="en-US" altLang="zh-CN" sz="2800" b="1" dirty="0">
                <a:solidFill>
                  <a:srgbClr val="000099"/>
                </a:solidFill>
              </a:rPr>
              <a:t>multivalued</a:t>
            </a:r>
            <a:r>
              <a:rPr lang="en-US" altLang="zh-CN" sz="2800" dirty="0"/>
              <a:t> attributes</a:t>
            </a:r>
            <a:endParaRPr lang="en-US" altLang="zh-CN" sz="2800" dirty="0"/>
          </a:p>
          <a:p>
            <a:pPr lvl="2"/>
            <a:r>
              <a:rPr lang="en-US" altLang="zh-CN" sz="2800" dirty="0"/>
              <a:t>Example: multivalued attribute: </a:t>
            </a:r>
            <a:r>
              <a:rPr lang="en-US" altLang="zh-CN" sz="2800" i="1" dirty="0"/>
              <a:t>phone_numbers</a:t>
            </a:r>
            <a:endParaRPr lang="en-US" altLang="zh-CN" sz="2800" i="1" dirty="0"/>
          </a:p>
          <a:p>
            <a:pPr lvl="1"/>
            <a:r>
              <a:rPr lang="en-US" altLang="zh-CN" sz="2800" b="1" dirty="0">
                <a:solidFill>
                  <a:srgbClr val="000099"/>
                </a:solidFill>
              </a:rPr>
              <a:t>Derived</a:t>
            </a:r>
            <a:r>
              <a:rPr lang="en-US" altLang="zh-CN" sz="2800" dirty="0"/>
              <a:t> attributes</a:t>
            </a:r>
            <a:endParaRPr lang="en-US" altLang="zh-CN" sz="2800" dirty="0"/>
          </a:p>
          <a:p>
            <a:pPr lvl="2"/>
            <a:r>
              <a:rPr lang="en-US" altLang="zh-CN" sz="2800" dirty="0"/>
              <a:t>Can be computed from other attributes</a:t>
            </a:r>
            <a:endParaRPr lang="en-US" altLang="zh-CN" sz="2800" dirty="0"/>
          </a:p>
          <a:p>
            <a:pPr lvl="2"/>
            <a:r>
              <a:rPr lang="en-US" altLang="zh-CN" sz="2800" dirty="0"/>
              <a:t>Example:  age, given date_of_birth</a:t>
            </a:r>
            <a:endParaRPr lang="en-US" altLang="zh-CN" sz="2800" dirty="0"/>
          </a:p>
          <a:p>
            <a:r>
              <a:rPr lang="en-US" altLang="zh-CN" sz="2800" b="1" dirty="0">
                <a:solidFill>
                  <a:srgbClr val="000099"/>
                </a:solidFill>
              </a:rPr>
              <a:t>Domain</a:t>
            </a:r>
            <a:r>
              <a:rPr lang="en-US" altLang="zh-CN" sz="2800" dirty="0"/>
              <a:t> – the set of permitted values for each attribute </a:t>
            </a:r>
            <a:endParaRPr lang="en-US" altLang="zh-CN" sz="2800" dirty="0"/>
          </a:p>
          <a:p>
            <a:endParaRPr lang="en-US" altLang="zh-CN"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752475" y="104775"/>
            <a:ext cx="8391525"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Composite Attributes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43010" name="Picture 5"/>
          <p:cNvPicPr>
            <a:picLocks noChangeAspect="1"/>
          </p:cNvPicPr>
          <p:nvPr/>
        </p:nvPicPr>
        <p:blipFill>
          <a:blip r:embed="rId1"/>
          <a:stretch>
            <a:fillRect/>
          </a:stretch>
        </p:blipFill>
        <p:spPr>
          <a:xfrm>
            <a:off x="93980" y="1330325"/>
            <a:ext cx="8927465" cy="281368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Redundant Attributes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45058" name="Rectangle 3"/>
          <p:cNvSpPr>
            <a:spLocks noGrp="1"/>
          </p:cNvSpPr>
          <p:nvPr>
            <p:ph idx="1"/>
          </p:nvPr>
        </p:nvSpPr>
        <p:spPr>
          <a:xfrm>
            <a:off x="64770" y="885825"/>
            <a:ext cx="8975725" cy="5681980"/>
          </a:xfrm>
        </p:spPr>
        <p:txBody>
          <a:bodyPr vert="horz" wrap="square" lIns="91440" tIns="45720" rIns="91440" bIns="45720" anchor="t" anchorCtr="0"/>
          <a:lstStyle/>
          <a:p>
            <a:r>
              <a:rPr lang="en-US" altLang="zh-CN" sz="2400" dirty="0"/>
              <a:t>Suppose we have entity sets:</a:t>
            </a:r>
            <a:endParaRPr lang="en-US" altLang="zh-CN" sz="2400" dirty="0"/>
          </a:p>
          <a:p>
            <a:pPr lvl="1"/>
            <a:r>
              <a:rPr lang="en-US" altLang="zh-CN" sz="2400" i="1" dirty="0">
                <a:solidFill>
                  <a:srgbClr val="000099"/>
                </a:solidFill>
              </a:rPr>
              <a:t>instructor</a:t>
            </a:r>
            <a:r>
              <a:rPr lang="en-US" altLang="zh-CN" sz="2400" dirty="0"/>
              <a:t>, with attributes: </a:t>
            </a:r>
            <a:r>
              <a:rPr lang="en-US" altLang="zh-CN" sz="2400" i="1" dirty="0"/>
              <a:t>ID</a:t>
            </a:r>
            <a:r>
              <a:rPr lang="en-US" altLang="zh-CN" sz="2400" dirty="0"/>
              <a:t>, </a:t>
            </a:r>
            <a:r>
              <a:rPr lang="en-US" altLang="zh-CN" sz="2400" i="1" dirty="0"/>
              <a:t>name</a:t>
            </a:r>
            <a:r>
              <a:rPr lang="en-US" altLang="zh-CN" sz="2400" dirty="0"/>
              <a:t>, </a:t>
            </a:r>
            <a:r>
              <a:rPr lang="en-US" altLang="zh-CN" sz="2400" i="1" dirty="0">
                <a:solidFill>
                  <a:srgbClr val="006600"/>
                </a:solidFill>
              </a:rPr>
              <a:t>dept_name</a:t>
            </a:r>
            <a:r>
              <a:rPr lang="en-US" altLang="zh-CN" sz="2400" i="1" dirty="0"/>
              <a:t>, salary</a:t>
            </a:r>
            <a:endParaRPr lang="en-US" altLang="zh-CN" sz="2400" i="1" dirty="0"/>
          </a:p>
          <a:p>
            <a:pPr lvl="1"/>
            <a:r>
              <a:rPr lang="en-US" altLang="zh-CN" sz="2400" i="1" dirty="0">
                <a:solidFill>
                  <a:srgbClr val="000099"/>
                </a:solidFill>
              </a:rPr>
              <a:t>department</a:t>
            </a:r>
            <a:r>
              <a:rPr lang="en-US" altLang="zh-CN" sz="2400" i="1" dirty="0"/>
              <a:t>, </a:t>
            </a:r>
            <a:r>
              <a:rPr lang="en-US" altLang="zh-CN" sz="2400" dirty="0"/>
              <a:t>with attributes: </a:t>
            </a:r>
            <a:r>
              <a:rPr lang="en-US" altLang="zh-CN" sz="2400" i="1" dirty="0">
                <a:solidFill>
                  <a:srgbClr val="FF0000"/>
                </a:solidFill>
              </a:rPr>
              <a:t>dept_name</a:t>
            </a:r>
            <a:r>
              <a:rPr lang="en-US" altLang="zh-CN" sz="2400" i="1" dirty="0"/>
              <a:t>, building, budget</a:t>
            </a:r>
            <a:endParaRPr lang="en-US" altLang="zh-CN" sz="2400" i="1" dirty="0"/>
          </a:p>
          <a:p>
            <a:r>
              <a:rPr lang="en-US" altLang="zh-CN" sz="2400" dirty="0"/>
              <a:t>We model the fact that each instructor has an associated department</a:t>
            </a:r>
            <a:r>
              <a:rPr lang="en-US" altLang="zh-CN" sz="2400" i="1" dirty="0"/>
              <a:t> </a:t>
            </a:r>
            <a:r>
              <a:rPr lang="en-US" altLang="zh-CN" sz="2400" dirty="0"/>
              <a:t>using a relationship set </a:t>
            </a:r>
            <a:r>
              <a:rPr lang="en-US" altLang="zh-CN" sz="2400" i="1" dirty="0">
                <a:solidFill>
                  <a:srgbClr val="000099"/>
                </a:solidFill>
              </a:rPr>
              <a:t>inst_dept</a:t>
            </a:r>
            <a:endParaRPr lang="en-US" altLang="zh-CN" sz="2400" i="1" dirty="0">
              <a:solidFill>
                <a:srgbClr val="000099"/>
              </a:solidFill>
            </a:endParaRPr>
          </a:p>
          <a:p>
            <a:pPr algn="ctr"/>
            <a:r>
              <a:rPr lang="zh-CN" altLang="en-US" sz="2400" b="1" dirty="0">
                <a:solidFill>
                  <a:srgbClr val="C00000"/>
                </a:solidFill>
                <a:latin typeface="黑体" panose="02010609060101010101" charset="-122"/>
                <a:ea typeface="黑体" panose="02010609060101010101" charset="-122"/>
              </a:rPr>
              <a:t>避免：两个实体集之间的联系隐含于一个属性中</a:t>
            </a:r>
            <a:endParaRPr lang="en-US" altLang="zh-CN" sz="2400" b="1" dirty="0">
              <a:solidFill>
                <a:srgbClr val="C00000"/>
              </a:solidFill>
              <a:latin typeface="黑体" panose="02010609060101010101" charset="-122"/>
              <a:ea typeface="黑体" panose="02010609060101010101" charset="-122"/>
            </a:endParaRPr>
          </a:p>
          <a:p>
            <a:r>
              <a:rPr lang="en-US" altLang="zh-CN" sz="2400" dirty="0"/>
              <a:t>The attribute </a:t>
            </a:r>
            <a:r>
              <a:rPr lang="en-US" altLang="zh-CN" sz="2400" i="1" dirty="0">
                <a:solidFill>
                  <a:srgbClr val="FF0000"/>
                </a:solidFill>
              </a:rPr>
              <a:t>dept_name </a:t>
            </a:r>
            <a:r>
              <a:rPr lang="en-US" altLang="zh-CN" sz="2400" dirty="0"/>
              <a:t>appears in both entity sets.  Since it is the  primary key for the entity set </a:t>
            </a:r>
            <a:r>
              <a:rPr lang="en-US" altLang="zh-CN" sz="2400" i="1" dirty="0">
                <a:solidFill>
                  <a:srgbClr val="000099"/>
                </a:solidFill>
              </a:rPr>
              <a:t>department</a:t>
            </a:r>
            <a:r>
              <a:rPr lang="en-US" altLang="zh-CN" sz="2400" dirty="0"/>
              <a:t>, it replicates information present in the relationship and is therefore  </a:t>
            </a:r>
            <a:r>
              <a:rPr lang="en-US" altLang="zh-CN" sz="2400" i="1" u="sng" dirty="0">
                <a:solidFill>
                  <a:srgbClr val="000099"/>
                </a:solidFill>
              </a:rPr>
              <a:t>redundant in the entity set instructor and needs to be removed.</a:t>
            </a:r>
            <a:endParaRPr lang="en-US" altLang="zh-CN" sz="2400" i="1" u="sng" dirty="0">
              <a:solidFill>
                <a:srgbClr val="000099"/>
              </a:solidFill>
            </a:endParaRPr>
          </a:p>
          <a:p>
            <a:r>
              <a:rPr lang="en-US" altLang="zh-CN" sz="2400" dirty="0"/>
              <a:t>BUT: when converting back to tables, in some cases the attribute gets reintroduced, as we will see later.</a:t>
            </a:r>
            <a:endParaRPr lang="en-US" altLang="zh-CN"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23555" name="Rectangle 3"/>
          <p:cNvSpPr>
            <a:spLocks noGrp="1"/>
          </p:cNvSpPr>
          <p:nvPr>
            <p:ph idx="1"/>
          </p:nvPr>
        </p:nvSpPr>
        <p:spPr>
          <a:xfrm>
            <a:off x="133350" y="1019175"/>
            <a:ext cx="8774113" cy="54991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Consider a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which is uniquely identified by a </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course_id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semester, year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sec_id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Clearly,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entities are related to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entities.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Suppose we create a relationship set </a:t>
            </a:r>
            <a:r>
              <a:rPr kumimoji="1" lang="en-US" altLang="en-US" sz="2400" b="1"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sec_course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between entity sets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Note that the information in </a:t>
            </a:r>
            <a:r>
              <a:rPr kumimoji="1" lang="en-US" altLang="en-US" sz="2400" b="1"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mn-ea"/>
              </a:rPr>
              <a:t>sec_course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is </a:t>
            </a:r>
            <a:r>
              <a:rPr kumimoji="1" lang="en-US" altLang="en-US" sz="2400" b="0"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rPr>
              <a:t>redundant</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since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already has an attribute </a:t>
            </a:r>
            <a:r>
              <a:rPr kumimoji="1" lang="en-US" altLang="en-US" sz="2400" b="0" i="1" u="none" strike="noStrike" kern="0" cap="none" spc="0" normalizeH="0" baseline="0" noProof="0" dirty="0">
                <a:ln>
                  <a:noFill/>
                </a:ln>
                <a:solidFill>
                  <a:srgbClr val="FF0000"/>
                </a:solidFill>
                <a:effectLst/>
                <a:uLnTx/>
                <a:uFillTx/>
                <a:latin typeface="Arial" panose="020B0604020202020204"/>
                <a:ea typeface="MS PGothic" panose="020B0600070205080204" pitchFamily="34" charset="-128"/>
                <a:cs typeface="Arial" panose="020B0604020202020204"/>
              </a:rPr>
              <a:t>course_id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which identifies the course with which the section is related.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One option to deal with this redundancy</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is to </a:t>
            </a:r>
            <a:r>
              <a:rPr kumimoji="1" lang="en-US" altLang="en-US" sz="2400" b="0"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rPr>
              <a:t>get rid of the relationship s</a:t>
            </a:r>
            <a:r>
              <a:rPr kumimoji="1" lang="en-US" altLang="en-US" sz="2400" b="0" i="1"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rPr>
              <a:t>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however, by doing so </a:t>
            </a:r>
            <a:r>
              <a:rPr kumimoji="1" lang="en-US" altLang="en-US" sz="2400" b="0"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the relationship between </a:t>
            </a:r>
            <a:r>
              <a:rPr kumimoji="1" lang="en-US" altLang="en-US" sz="2400" b="0"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 and </a:t>
            </a:r>
            <a:r>
              <a:rPr kumimoji="1" lang="en-US" altLang="en-US" sz="2400" b="0"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course </a:t>
            </a:r>
            <a:r>
              <a:rPr kumimoji="1" lang="en-US" altLang="en-US" sz="2400" b="0"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becomes implicit in an attribute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which is not desirable.</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p:txBody>
      </p:sp>
      <p:pic>
        <p:nvPicPr>
          <p:cNvPr id="11267" name="Picture 1"/>
          <p:cNvPicPr>
            <a:picLocks noChangeAspect="1"/>
          </p:cNvPicPr>
          <p:nvPr>
            <p:custDataLst>
              <p:tags r:id="rId1"/>
            </p:custDataLst>
          </p:nvPr>
        </p:nvPicPr>
        <p:blipFill>
          <a:blip r:embed="rId2"/>
          <a:srcRect t="25284" r="38094" b="16726"/>
          <a:stretch>
            <a:fillRect/>
          </a:stretch>
        </p:blipFill>
        <p:spPr>
          <a:xfrm>
            <a:off x="5774690" y="28575"/>
            <a:ext cx="3443605" cy="20662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24579" name="Rectangle 3"/>
          <p:cNvSpPr>
            <a:spLocks noGrp="1"/>
          </p:cNvSpPr>
          <p:nvPr>
            <p:ph idx="1"/>
          </p:nvPr>
        </p:nvSpPr>
        <p:spPr>
          <a:xfrm>
            <a:off x="177800" y="860425"/>
            <a:ext cx="8667750" cy="55721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An alternative way to deal with this redundancy is to not store the attribute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course_id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in the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800100" marR="0" lvl="1"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to only store the remaining attributes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section_id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year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semester</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endPar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However, the entity set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 </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then does not have enough attributes to identify a particular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a:t>
            </a:r>
            <a:r>
              <a:rPr kumimoji="1" lang="en-US" altLang="en-US" sz="2400" b="0" i="0" u="none" strike="noStrike" kern="0" cap="none" spc="0" normalizeH="0" baseline="0" noProof="0" dirty="0">
                <a:ln>
                  <a:noFill/>
                </a:ln>
                <a:solidFill>
                  <a:srgbClr val="FF0000"/>
                </a:solidFill>
                <a:effectLst/>
                <a:uLnTx/>
                <a:uFillTx/>
                <a:latin typeface="Arial" panose="020B0604020202020204"/>
                <a:ea typeface="MS PGothic" panose="020B0600070205080204" pitchFamily="34" charset="-128"/>
                <a:cs typeface="Arial" panose="020B0604020202020204"/>
              </a:rPr>
              <a:t>uniquely</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although each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is distinct, sections for different courses may share the same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mn-cs"/>
              </a:rPr>
              <a:t>section_id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mn-cs"/>
              </a:rPr>
              <a:t>year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mn-cs"/>
              </a:rPr>
              <a:t>semester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p:txBody>
      </p:sp>
      <p:pic>
        <p:nvPicPr>
          <p:cNvPr id="11267" name="Picture 1"/>
          <p:cNvPicPr>
            <a:picLocks noChangeAspect="1"/>
          </p:cNvPicPr>
          <p:nvPr>
            <p:custDataLst>
              <p:tags r:id="rId1"/>
            </p:custDataLst>
          </p:nvPr>
        </p:nvPicPr>
        <p:blipFill>
          <a:blip r:embed="rId2"/>
          <a:srcRect t="25284" r="38094" b="16726"/>
          <a:stretch>
            <a:fillRect/>
          </a:stretch>
        </p:blipFill>
        <p:spPr>
          <a:xfrm>
            <a:off x="4755515" y="4627880"/>
            <a:ext cx="3443605" cy="20662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075" y="1093788"/>
            <a:ext cx="8886825" cy="4903788"/>
          </a:xfrm>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To deal with this problem, we treat the relationship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sym typeface="+mn-ea"/>
              </a:rPr>
              <a:t>sec_course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as a </a:t>
            </a:r>
            <a:r>
              <a:rPr kumimoji="1" lang="en-US" altLang="en-US" sz="24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special relationship</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that provides extra information</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endParaRPr>
          </a:p>
          <a:p>
            <a:pPr marL="800100" marR="0" lvl="1"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in this case, the </a:t>
            </a:r>
            <a:r>
              <a:rPr kumimoji="1" lang="en-US" altLang="en-US" sz="20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sym typeface="+mn-ea"/>
              </a:rPr>
              <a:t>course_id</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required to identify </a:t>
            </a:r>
            <a:r>
              <a:rPr kumimoji="1" lang="en-US" altLang="en-US" sz="2000" b="0" i="1" u="sng"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section  entities uniquely.</a:t>
            </a:r>
            <a:endPar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The notion of </a:t>
            </a:r>
            <a:r>
              <a:rPr kumimoji="1" lang="en-US" altLang="en-US" sz="2400" b="1"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sym typeface="+mn-ea"/>
              </a:rPr>
              <a:t>weak entity set</a:t>
            </a:r>
            <a:r>
              <a:rPr kumimoji="1" lang="en-US" altLang="en-US" sz="24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 </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formalizes the above intuition.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 weak entity set is one whose existence is dependent on (</a:t>
            </a:r>
            <a:r>
              <a:rPr kumimoji="1" lang="zh-CN" altLang="en-US"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Arial" panose="020B0604020202020204"/>
                <a:sym typeface="+mn-ea"/>
              </a:rPr>
              <a:t>存在依赖</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)another entity, called its </a:t>
            </a:r>
            <a:r>
              <a:rPr kumimoji="1" lang="en-US" altLang="en-US" sz="2000" b="1"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sym typeface="+mn-ea"/>
              </a:rPr>
              <a:t>identifying entity</a:t>
            </a:r>
            <a:r>
              <a:rPr kumimoji="1" lang="zh-CN" altLang="en-US" sz="2000" b="1" i="0" u="none" strike="noStrike" kern="0" cap="none" spc="0" normalizeH="0" baseline="0" noProof="0" dirty="0">
                <a:ln>
                  <a:noFill/>
                </a:ln>
                <a:solidFill>
                  <a:srgbClr val="C00000"/>
                </a:solidFill>
                <a:effectLst/>
                <a:uLnTx/>
                <a:uFillTx/>
                <a:latin typeface="Arial" panose="020B0604020202020204"/>
                <a:ea typeface="宋体" panose="02010600030101010101" pitchFamily="2" charset="-122"/>
                <a:cs typeface="Arial" panose="020B0604020202020204"/>
                <a:sym typeface="+mn-ea"/>
              </a:rPr>
              <a:t>（标识性实体）</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t>
            </a:r>
            <a:endPar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instead of associating a primary key with a weak entity, we use the identifying entity, along with extra attributes called </a:t>
            </a:r>
            <a:r>
              <a:rPr kumimoji="1" lang="en-US" altLang="en-US" sz="2000" b="1"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sym typeface="+mn-ea"/>
              </a:rPr>
              <a:t>discriminator</a:t>
            </a:r>
            <a:r>
              <a:rPr kumimoji="1" lang="zh-CN" altLang="en-US" sz="2000" b="1" i="0" u="none" strike="noStrike" kern="0" cap="none" spc="0" normalizeH="0" baseline="0" noProof="0" dirty="0">
                <a:ln>
                  <a:noFill/>
                </a:ln>
                <a:solidFill>
                  <a:srgbClr val="C00000"/>
                </a:solidFill>
                <a:effectLst/>
                <a:uLnTx/>
                <a:uFillTx/>
                <a:latin typeface="Arial" panose="020B0604020202020204"/>
                <a:ea typeface="宋体" panose="02010600030101010101" pitchFamily="2" charset="-122"/>
                <a:cs typeface="Arial" panose="020B0604020202020204"/>
                <a:sym typeface="+mn-ea"/>
              </a:rPr>
              <a:t>（分辨符）</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to uniquely identify a weak entity. </a:t>
            </a:r>
            <a:endPar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An entity set that is not a weak entity set is termed a </a:t>
            </a:r>
            <a:r>
              <a:rPr kumimoji="1" lang="en-US" altLang="en-US" sz="20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strong entity set.</a:t>
            </a:r>
            <a:endParaRPr kumimoji="1" lang="zh-CN" altLang="en-US" sz="2000" b="0" i="0" u="none" strike="noStrike" kern="0" cap="none" spc="0" normalizeH="0" baseline="0" noProof="1">
              <a:solidFill>
                <a:schemeClr val="tx1"/>
              </a:solidFill>
              <a:latin typeface="Arial" panose="020B0604020202020204"/>
              <a:ea typeface="Arial" panose="020B0604020202020204" pitchFamily="34" charset="0"/>
              <a:cs typeface="Arial" panose="020B0604020202020204"/>
            </a:endParaRPr>
          </a:p>
        </p:txBody>
      </p:sp>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11267" name="Picture 1"/>
          <p:cNvPicPr>
            <a:picLocks noChangeAspect="1"/>
          </p:cNvPicPr>
          <p:nvPr>
            <p:custDataLst>
              <p:tags r:id="rId1"/>
            </p:custDataLst>
          </p:nvPr>
        </p:nvPicPr>
        <p:blipFill>
          <a:blip r:embed="rId2"/>
          <a:srcRect t="25284" r="38094" b="16726"/>
          <a:stretch>
            <a:fillRect/>
          </a:stretch>
        </p:blipFill>
        <p:spPr>
          <a:xfrm>
            <a:off x="5774690" y="28575"/>
            <a:ext cx="3443605" cy="20662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52226" name="Rectangle 3"/>
          <p:cNvSpPr>
            <a:spLocks noGrp="1"/>
          </p:cNvSpPr>
          <p:nvPr>
            <p:ph idx="1"/>
          </p:nvPr>
        </p:nvSpPr>
        <p:spPr>
          <a:xfrm>
            <a:off x="66675" y="1055688"/>
            <a:ext cx="9010650" cy="5210030"/>
          </a:xfrm>
        </p:spPr>
        <p:txBody>
          <a:bodyPr vert="horz" wrap="square" lIns="91440" tIns="45720" rIns="91440" bIns="45720" anchor="t" anchorCtr="0"/>
          <a:lstStyle/>
          <a:p>
            <a:r>
              <a:rPr lang="en-US" altLang="zh-CN" sz="2400" dirty="0">
                <a:solidFill>
                  <a:srgbClr val="C00000"/>
                </a:solidFill>
              </a:rPr>
              <a:t>Every weak entity</a:t>
            </a:r>
            <a:r>
              <a:rPr lang="en-US" altLang="zh-CN" sz="2400" dirty="0"/>
              <a:t> must be associated with an identifying entity;</a:t>
            </a:r>
            <a:endParaRPr lang="en-US" altLang="zh-CN" sz="2400" dirty="0"/>
          </a:p>
          <a:p>
            <a:pPr lvl="1"/>
            <a:r>
              <a:rPr lang="en-US" altLang="zh-CN" sz="2400" dirty="0"/>
              <a:t>t</a:t>
            </a:r>
            <a:r>
              <a:rPr lang="en-US" altLang="zh-CN" sz="2000" dirty="0"/>
              <a:t>hat is, the weak entity set is said to be </a:t>
            </a:r>
            <a:r>
              <a:rPr lang="en-US" altLang="zh-CN" sz="2000" b="1" dirty="0">
                <a:solidFill>
                  <a:srgbClr val="000099"/>
                </a:solidFill>
              </a:rPr>
              <a:t>existence dependent</a:t>
            </a:r>
            <a:r>
              <a:rPr lang="en-US" altLang="zh-CN" sz="2000" dirty="0"/>
              <a:t> on the identifying entity set. </a:t>
            </a:r>
            <a:endParaRPr lang="en-US" altLang="zh-CN" sz="2000" dirty="0"/>
          </a:p>
          <a:p>
            <a:pPr lvl="1"/>
            <a:r>
              <a:rPr lang="en-US" altLang="zh-CN" sz="2000" dirty="0"/>
              <a:t>The </a:t>
            </a:r>
            <a:r>
              <a:rPr lang="en-US" altLang="zh-CN" sz="2000" dirty="0">
                <a:solidFill>
                  <a:srgbClr val="000099"/>
                </a:solidFill>
              </a:rPr>
              <a:t>identifying entity set</a:t>
            </a:r>
            <a:r>
              <a:rPr lang="en-US" altLang="zh-CN" sz="2000" dirty="0"/>
              <a:t> is said to </a:t>
            </a:r>
            <a:r>
              <a:rPr lang="en-US" altLang="zh-CN" sz="2000" b="1" dirty="0">
                <a:solidFill>
                  <a:srgbClr val="000099"/>
                </a:solidFill>
              </a:rPr>
              <a:t>own</a:t>
            </a:r>
            <a:r>
              <a:rPr lang="en-US" altLang="zh-CN" sz="2000" dirty="0"/>
              <a:t> the </a:t>
            </a:r>
            <a:r>
              <a:rPr lang="en-US" altLang="zh-CN" sz="2000" dirty="0">
                <a:solidFill>
                  <a:srgbClr val="C00000"/>
                </a:solidFill>
              </a:rPr>
              <a:t>weak entity set </a:t>
            </a:r>
            <a:r>
              <a:rPr lang="en-US" altLang="zh-CN" sz="2000" dirty="0"/>
              <a:t>that it identifies. </a:t>
            </a:r>
            <a:endParaRPr lang="en-US" altLang="zh-CN" sz="2000" dirty="0"/>
          </a:p>
          <a:p>
            <a:pPr lvl="1"/>
            <a:r>
              <a:rPr lang="en-US" altLang="zh-CN" sz="2000" dirty="0"/>
              <a:t>The relationship associating the weak entity set with the identifying entity set is called the </a:t>
            </a:r>
            <a:r>
              <a:rPr lang="en-US" altLang="zh-CN" sz="2000" b="1" dirty="0">
                <a:solidFill>
                  <a:srgbClr val="000099"/>
                </a:solidFill>
              </a:rPr>
              <a:t>identifying relationship</a:t>
            </a:r>
            <a:r>
              <a:rPr lang="en-US" altLang="zh-CN" sz="2000" dirty="0"/>
              <a:t>.</a:t>
            </a:r>
            <a:endParaRPr lang="en-US" altLang="zh-CN" sz="2000" dirty="0"/>
          </a:p>
          <a:p>
            <a:pPr lvl="2"/>
            <a:r>
              <a:rPr lang="zh-CN" altLang="en-US" sz="2400" b="1" dirty="0">
                <a:solidFill>
                  <a:srgbClr val="C00000"/>
                </a:solidFill>
                <a:latin typeface="黑体" panose="02010609060101010101" charset="-122"/>
                <a:ea typeface="黑体" panose="02010609060101010101" charset="-122"/>
              </a:rPr>
              <a:t>标识性联系集不应该有任何描述性属性</a:t>
            </a:r>
            <a:endParaRPr lang="en-US" altLang="zh-CN" sz="2400" b="1" dirty="0">
              <a:solidFill>
                <a:srgbClr val="C00000"/>
              </a:solidFill>
              <a:latin typeface="黑体" panose="02010609060101010101" charset="-122"/>
              <a:ea typeface="黑体" panose="02010609060101010101" charset="-122"/>
            </a:endParaRPr>
          </a:p>
          <a:p>
            <a:r>
              <a:rPr lang="en-US" altLang="zh-CN" sz="2400" dirty="0"/>
              <a:t>Note that the relational schema we eventually create from the entity set </a:t>
            </a:r>
            <a:r>
              <a:rPr lang="en-US" altLang="zh-CN" sz="2400" b="1" i="1" dirty="0">
                <a:solidFill>
                  <a:srgbClr val="006600"/>
                </a:solidFill>
              </a:rPr>
              <a:t>section</a:t>
            </a:r>
            <a:r>
              <a:rPr lang="en-US" altLang="zh-CN" sz="2400" dirty="0"/>
              <a:t> does have the attribute </a:t>
            </a:r>
            <a:r>
              <a:rPr lang="en-US" altLang="zh-CN" sz="2400" b="1" i="1" dirty="0">
                <a:solidFill>
                  <a:srgbClr val="990099"/>
                </a:solidFill>
              </a:rPr>
              <a:t>course_id</a:t>
            </a:r>
            <a:r>
              <a:rPr lang="en-US" altLang="zh-CN" sz="2400" dirty="0"/>
              <a:t>, for reasons that will become clear later, even though we have dropped the attribute </a:t>
            </a:r>
            <a:r>
              <a:rPr lang="en-US" altLang="zh-CN" sz="2400" b="1" i="1" dirty="0">
                <a:solidFill>
                  <a:srgbClr val="990099"/>
                </a:solidFill>
              </a:rPr>
              <a:t>course_id</a:t>
            </a:r>
            <a:r>
              <a:rPr lang="en-US" altLang="zh-CN" sz="2400" dirty="0"/>
              <a:t>  from the entity set </a:t>
            </a:r>
            <a:r>
              <a:rPr lang="en-US" altLang="zh-CN" sz="2400" b="1" i="1" dirty="0">
                <a:solidFill>
                  <a:srgbClr val="006600"/>
                </a:solidFill>
              </a:rPr>
              <a:t>section</a:t>
            </a:r>
            <a:r>
              <a:rPr lang="en-US" altLang="zh-CN" sz="2400" i="1" dirty="0"/>
              <a:t>.</a:t>
            </a:r>
            <a:endParaRPr lang="en-US" altLang="zh-CN" sz="2400"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2736850"/>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Diagrams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54274" name="Rectangle 3"/>
          <p:cNvSpPr/>
          <p:nvPr/>
        </p:nvSpPr>
        <p:spPr>
          <a:xfrm>
            <a:off x="1422400" y="2851150"/>
            <a:ext cx="6845300" cy="2816225"/>
          </a:xfrm>
          <a:prstGeom prst="rect">
            <a:avLst/>
          </a:prstGeom>
          <a:noFill/>
          <a:ln w="9525">
            <a:noFill/>
          </a:ln>
        </p:spPr>
        <p:txBody>
          <a:bodyPr anchor="t" anchorCtr="0"/>
          <a:lstStyle/>
          <a:p>
            <a:pPr marL="342900" indent="-342900" eaLnBrk="0" hangingPunct="0">
              <a:spcBef>
                <a:spcPct val="35000"/>
              </a:spcBef>
              <a:buClr>
                <a:schemeClr val="tx2"/>
              </a:buClr>
              <a:buSzPct val="90000"/>
            </a:pPr>
            <a:endParaRPr lang="en-US" altLang="en-US" sz="1800" dirty="0">
              <a:latin typeface="Helvetica"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85725"/>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Entity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56322" name="Rectangle 3"/>
          <p:cNvSpPr/>
          <p:nvPr/>
        </p:nvSpPr>
        <p:spPr>
          <a:xfrm>
            <a:off x="233363" y="1109663"/>
            <a:ext cx="8756650" cy="1684337"/>
          </a:xfrm>
          <a:prstGeom prst="rect">
            <a:avLst/>
          </a:prstGeom>
          <a:noFill/>
          <a:ln w="9525">
            <a:noFill/>
          </a:ln>
        </p:spPr>
        <p:txBody>
          <a:bodyPr anchor="t" anchorCtr="0"/>
          <a:lstStyle/>
          <a:p>
            <a:pPr marL="342900"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Entities can be represented graphically as follows:</a:t>
            </a:r>
            <a:endParaRPr lang="en-US" altLang="zh-CN" sz="2400" dirty="0">
              <a:latin typeface="Arial" panose="020B0604020202020204" pitchFamily="34" charset="0"/>
            </a:endParaRPr>
          </a:p>
          <a:p>
            <a:pPr marL="800100" lvl="1" indent="-342900" eaLnBrk="0" hangingPunct="0">
              <a:spcBef>
                <a:spcPct val="35000"/>
              </a:spcBef>
              <a:buClr>
                <a:schemeClr val="tx2"/>
              </a:buClr>
              <a:buSzPct val="90000"/>
              <a:buFont typeface="Arial" panose="020B0604020202020204" pitchFamily="34" charset="0"/>
              <a:buChar char="•"/>
            </a:pPr>
            <a:r>
              <a:rPr lang="en-US" altLang="zh-CN" sz="2400" dirty="0">
                <a:latin typeface="Arial" panose="020B0604020202020204" pitchFamily="34" charset="0"/>
              </a:rPr>
              <a:t>Rectangles represent </a:t>
            </a:r>
            <a:r>
              <a:rPr lang="en-US" altLang="zh-CN" sz="2400" dirty="0">
                <a:solidFill>
                  <a:srgbClr val="C00000"/>
                </a:solidFill>
                <a:latin typeface="Arial" panose="020B0604020202020204" pitchFamily="34" charset="0"/>
              </a:rPr>
              <a:t>entity sets</a:t>
            </a:r>
            <a:r>
              <a:rPr lang="en-US" altLang="zh-CN" sz="2400" dirty="0">
                <a:latin typeface="Arial" panose="020B0604020202020204" pitchFamily="34" charset="0"/>
              </a:rPr>
              <a:t>.</a:t>
            </a:r>
            <a:endParaRPr lang="en-US" altLang="zh-CN" sz="2400" dirty="0">
              <a:latin typeface="Arial" panose="020B0604020202020204" pitchFamily="34" charset="0"/>
            </a:endParaRPr>
          </a:p>
          <a:p>
            <a:pPr marL="800100" lvl="1" indent="-342900" eaLnBrk="0" hangingPunct="0">
              <a:spcBef>
                <a:spcPct val="35000"/>
              </a:spcBef>
              <a:buClr>
                <a:schemeClr val="tx2"/>
              </a:buClr>
              <a:buSzPct val="90000"/>
              <a:buFont typeface="Arial" panose="020B0604020202020204" pitchFamily="34" charset="0"/>
              <a:buChar char="•"/>
            </a:pPr>
            <a:r>
              <a:rPr lang="en-US" altLang="zh-CN" sz="2400" dirty="0">
                <a:solidFill>
                  <a:srgbClr val="C00000"/>
                </a:solidFill>
                <a:latin typeface="Arial" panose="020B0604020202020204" pitchFamily="34" charset="0"/>
              </a:rPr>
              <a:t>Attributes</a:t>
            </a:r>
            <a:r>
              <a:rPr lang="en-US" altLang="zh-CN" sz="2400" dirty="0">
                <a:latin typeface="Arial" panose="020B0604020202020204" pitchFamily="34" charset="0"/>
              </a:rPr>
              <a:t> listed inside entity rectangle</a:t>
            </a:r>
            <a:endParaRPr lang="en-US" altLang="zh-CN" sz="2400" dirty="0">
              <a:latin typeface="Arial" panose="020B0604020202020204" pitchFamily="34" charset="0"/>
            </a:endParaRPr>
          </a:p>
          <a:p>
            <a:pPr marL="800100" lvl="1" indent="-342900" eaLnBrk="0" hangingPunct="0">
              <a:spcBef>
                <a:spcPct val="35000"/>
              </a:spcBef>
              <a:buClr>
                <a:schemeClr val="tx2"/>
              </a:buClr>
              <a:buSzPct val="90000"/>
              <a:buFont typeface="Arial" panose="020B0604020202020204" pitchFamily="34" charset="0"/>
              <a:buChar char="•"/>
            </a:pPr>
            <a:r>
              <a:rPr lang="en-US" altLang="zh-CN" sz="2400" dirty="0">
                <a:latin typeface="Arial" panose="020B0604020202020204" pitchFamily="34" charset="0"/>
              </a:rPr>
              <a:t>Underline indicates </a:t>
            </a:r>
            <a:r>
              <a:rPr lang="en-US" altLang="zh-CN" sz="2400" dirty="0">
                <a:solidFill>
                  <a:srgbClr val="C00000"/>
                </a:solidFill>
                <a:latin typeface="Arial" panose="020B0604020202020204" pitchFamily="34" charset="0"/>
              </a:rPr>
              <a:t>primary key</a:t>
            </a:r>
            <a:r>
              <a:rPr lang="en-US" altLang="zh-CN" sz="2400" dirty="0">
                <a:latin typeface="Arial" panose="020B0604020202020204" pitchFamily="34" charset="0"/>
              </a:rPr>
              <a:t> attributes</a:t>
            </a:r>
            <a:endParaRPr lang="en-US" altLang="zh-CN" sz="2400" dirty="0">
              <a:latin typeface="Arial" panose="020B0604020202020204" pitchFamily="34" charset="0"/>
              <a:ea typeface="Arial" panose="020B0604020202020204" pitchFamily="34" charset="0"/>
            </a:endParaRPr>
          </a:p>
        </p:txBody>
      </p:sp>
      <p:pic>
        <p:nvPicPr>
          <p:cNvPr id="56323" name="Picture 1"/>
          <p:cNvPicPr>
            <a:picLocks noChangeAspect="1"/>
          </p:cNvPicPr>
          <p:nvPr/>
        </p:nvPicPr>
        <p:blipFill>
          <a:blip r:embed="rId1"/>
          <a:stretch>
            <a:fillRect/>
          </a:stretch>
        </p:blipFill>
        <p:spPr>
          <a:xfrm>
            <a:off x="1452563" y="3325813"/>
            <a:ext cx="6157912" cy="222250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85725"/>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58370" name="Rectangle 3"/>
          <p:cNvSpPr/>
          <p:nvPr/>
        </p:nvSpPr>
        <p:spPr>
          <a:xfrm>
            <a:off x="278130" y="1374775"/>
            <a:ext cx="7651750" cy="806450"/>
          </a:xfrm>
          <a:prstGeom prst="rect">
            <a:avLst/>
          </a:prstGeom>
          <a:noFill/>
          <a:ln w="9525">
            <a:noFill/>
          </a:ln>
        </p:spPr>
        <p:txBody>
          <a:bodyPr anchor="t" anchorCtr="0"/>
          <a:lstStyle/>
          <a:p>
            <a:pPr marL="342900" indent="-342900" eaLnBrk="0" hangingPunct="0">
              <a:spcBef>
                <a:spcPct val="35000"/>
              </a:spcBef>
              <a:buClr>
                <a:schemeClr val="tx2"/>
              </a:buClr>
              <a:buSzPct val="90000"/>
              <a:buFont typeface="Monotype Sorts" charset="2"/>
              <a:buChar char="n"/>
            </a:pPr>
            <a:r>
              <a:rPr lang="en-US" altLang="zh-CN" sz="2800" dirty="0">
                <a:latin typeface="Arial" panose="020B0604020202020204" pitchFamily="34" charset="0"/>
              </a:rPr>
              <a:t>Diamonds represent</a:t>
            </a:r>
            <a:r>
              <a:rPr lang="en-US" altLang="zh-CN" sz="2800" dirty="0">
                <a:solidFill>
                  <a:srgbClr val="C00000"/>
                </a:solidFill>
                <a:latin typeface="Arial" panose="020B0604020202020204" pitchFamily="34" charset="0"/>
              </a:rPr>
              <a:t> relationship sets</a:t>
            </a:r>
            <a:r>
              <a:rPr lang="en-US" altLang="zh-CN" sz="2800" dirty="0">
                <a:latin typeface="Arial" panose="020B0604020202020204" pitchFamily="34" charset="0"/>
              </a:rPr>
              <a:t>.</a:t>
            </a:r>
            <a:endParaRPr lang="en-US" altLang="zh-CN" sz="2800" dirty="0">
              <a:latin typeface="Arial" panose="020B0604020202020204" pitchFamily="34" charset="0"/>
              <a:ea typeface="Arial" panose="020B0604020202020204" pitchFamily="34" charset="0"/>
            </a:endParaRPr>
          </a:p>
        </p:txBody>
      </p:sp>
      <p:pic>
        <p:nvPicPr>
          <p:cNvPr id="58371" name="Picture 6"/>
          <p:cNvPicPr>
            <a:picLocks noChangeAspect="1"/>
          </p:cNvPicPr>
          <p:nvPr/>
        </p:nvPicPr>
        <p:blipFill>
          <a:blip r:embed="rId1"/>
          <a:stretch>
            <a:fillRect/>
          </a:stretch>
        </p:blipFill>
        <p:spPr>
          <a:xfrm>
            <a:off x="735013" y="2270125"/>
            <a:ext cx="7443787" cy="152400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 with Attributes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60418" name="Picture 5"/>
          <p:cNvPicPr>
            <a:picLocks noChangeAspect="1"/>
          </p:cNvPicPr>
          <p:nvPr/>
        </p:nvPicPr>
        <p:blipFill>
          <a:blip r:embed="rId1"/>
          <a:stretch>
            <a:fillRect/>
          </a:stretch>
        </p:blipFill>
        <p:spPr>
          <a:xfrm>
            <a:off x="417513" y="1587500"/>
            <a:ext cx="7918450" cy="2306638"/>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Roles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62466" name="Rectangle 3"/>
          <p:cNvSpPr>
            <a:spLocks noGrp="1"/>
          </p:cNvSpPr>
          <p:nvPr>
            <p:ph idx="1"/>
          </p:nvPr>
        </p:nvSpPr>
        <p:spPr>
          <a:xfrm>
            <a:off x="166688" y="952500"/>
            <a:ext cx="8805862" cy="1889125"/>
          </a:xfrm>
        </p:spPr>
        <p:txBody>
          <a:bodyPr vert="horz" wrap="square" lIns="91440" tIns="45720" rIns="91440" bIns="45720" anchor="t" anchorCtr="0"/>
          <a:lstStyle/>
          <a:p>
            <a:r>
              <a:rPr lang="en-US" altLang="zh-CN" sz="2400" dirty="0"/>
              <a:t>Entity sets of a relationship need not be distinct</a:t>
            </a:r>
            <a:endParaRPr lang="en-US" altLang="zh-CN" sz="2400" dirty="0"/>
          </a:p>
          <a:p>
            <a:pPr lvl="1"/>
            <a:r>
              <a:rPr lang="en-US" altLang="zh-CN" sz="2400" dirty="0"/>
              <a:t>Each occurrence of an entity set plays a </a:t>
            </a:r>
            <a:r>
              <a:rPr lang="en-US" altLang="en-US" sz="2400" dirty="0"/>
              <a:t>“</a:t>
            </a:r>
            <a:r>
              <a:rPr lang="en-US" altLang="zh-CN" sz="2400" dirty="0"/>
              <a:t>role</a:t>
            </a:r>
            <a:r>
              <a:rPr lang="en-US" altLang="en-US" sz="2400" dirty="0"/>
              <a:t>”</a:t>
            </a:r>
            <a:r>
              <a:rPr lang="en-US" altLang="zh-CN" sz="2400" dirty="0"/>
              <a:t> in the relationship</a:t>
            </a:r>
            <a:endParaRPr lang="en-US" altLang="zh-CN" sz="2400" dirty="0"/>
          </a:p>
          <a:p>
            <a:r>
              <a:rPr lang="en-US" altLang="zh-CN" sz="2400" dirty="0"/>
              <a:t>The labels </a:t>
            </a:r>
            <a:r>
              <a:rPr lang="en-US" altLang="en-US" sz="2400" dirty="0"/>
              <a:t>“</a:t>
            </a:r>
            <a:r>
              <a:rPr lang="en-US" altLang="zh-CN" sz="2400" i="1" dirty="0"/>
              <a:t>course_id</a:t>
            </a:r>
            <a:r>
              <a:rPr lang="en-US" altLang="en-US" sz="2400" dirty="0"/>
              <a:t>”</a:t>
            </a:r>
            <a:r>
              <a:rPr lang="en-US" altLang="zh-CN" sz="2400" dirty="0"/>
              <a:t> and </a:t>
            </a:r>
            <a:r>
              <a:rPr lang="en-US" altLang="en-US" sz="2400" dirty="0"/>
              <a:t>“</a:t>
            </a:r>
            <a:r>
              <a:rPr lang="en-US" altLang="zh-CN" sz="2400" i="1" dirty="0"/>
              <a:t>prereq_id</a:t>
            </a:r>
            <a:r>
              <a:rPr lang="en-US" altLang="en-US" sz="2400" dirty="0"/>
              <a:t>”</a:t>
            </a:r>
            <a:r>
              <a:rPr lang="en-US" altLang="zh-CN" sz="2400" dirty="0"/>
              <a:t> are called </a:t>
            </a:r>
            <a:r>
              <a:rPr lang="en-US" altLang="zh-CN" sz="2400" b="1" dirty="0">
                <a:solidFill>
                  <a:srgbClr val="000099"/>
                </a:solidFill>
              </a:rPr>
              <a:t>roles</a:t>
            </a:r>
            <a:r>
              <a:rPr lang="en-US" altLang="zh-CN" sz="2400" dirty="0"/>
              <a:t>.</a:t>
            </a:r>
            <a:endParaRPr lang="en-US" altLang="zh-CN" sz="2400" dirty="0"/>
          </a:p>
        </p:txBody>
      </p:sp>
      <p:pic>
        <p:nvPicPr>
          <p:cNvPr id="62467" name="Picture 17"/>
          <p:cNvPicPr>
            <a:picLocks noChangeAspect="1"/>
          </p:cNvPicPr>
          <p:nvPr/>
        </p:nvPicPr>
        <p:blipFill>
          <a:blip r:embed="rId1"/>
          <a:stretch>
            <a:fillRect/>
          </a:stretch>
        </p:blipFill>
        <p:spPr>
          <a:xfrm>
            <a:off x="3878263" y="2908300"/>
            <a:ext cx="4732337" cy="1397000"/>
          </a:xfrm>
          <a:prstGeom prst="rect">
            <a:avLst/>
          </a:prstGeom>
          <a:noFill/>
          <a:ln w="9525">
            <a:noFill/>
          </a:ln>
        </p:spPr>
      </p:pic>
      <p:pic>
        <p:nvPicPr>
          <p:cNvPr id="62468" name="Picture 7"/>
          <p:cNvPicPr>
            <a:picLocks noChangeAspect="1"/>
          </p:cNvPicPr>
          <p:nvPr/>
        </p:nvPicPr>
        <p:blipFill>
          <a:blip r:embed="rId2"/>
          <a:srcRect l="578" t="17995" r="578" b="17995"/>
          <a:stretch>
            <a:fillRect/>
          </a:stretch>
        </p:blipFill>
        <p:spPr>
          <a:xfrm>
            <a:off x="150813" y="4187825"/>
            <a:ext cx="5275262" cy="2562225"/>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Cardinality Constraints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64514" name="Rectangle 3"/>
          <p:cNvSpPr>
            <a:spLocks noGrp="1"/>
          </p:cNvSpPr>
          <p:nvPr>
            <p:ph idx="1"/>
          </p:nvPr>
        </p:nvSpPr>
        <p:spPr>
          <a:xfrm>
            <a:off x="96520" y="936625"/>
            <a:ext cx="8959850" cy="3141980"/>
          </a:xfrm>
        </p:spPr>
        <p:txBody>
          <a:bodyPr vert="horz" wrap="square" lIns="91440" tIns="45720" rIns="91440" bIns="45720" anchor="t" anchorCtr="0"/>
          <a:lstStyle/>
          <a:p>
            <a:pPr>
              <a:lnSpc>
                <a:spcPct val="90000"/>
              </a:lnSpc>
            </a:pPr>
            <a:r>
              <a:rPr lang="en-US" altLang="zh-CN" sz="2400" dirty="0"/>
              <a:t>We express cardinality constraints by drawing either a directed line (</a:t>
            </a:r>
            <a:r>
              <a:rPr lang="en-US" altLang="zh-CN" sz="2400" dirty="0">
                <a:sym typeface="Symbol" panose="05050102010706020507" charset="2"/>
              </a:rPr>
              <a:t>), signifying </a:t>
            </a:r>
            <a:r>
              <a:rPr lang="en-US" altLang="en-US" sz="2400" dirty="0">
                <a:sym typeface="Symbol" panose="05050102010706020507" charset="2"/>
              </a:rPr>
              <a:t>“</a:t>
            </a:r>
            <a:r>
              <a:rPr lang="en-US" altLang="zh-CN" sz="2400" dirty="0">
                <a:sym typeface="Symbol" panose="05050102010706020507" charset="2"/>
              </a:rPr>
              <a:t>one,</a:t>
            </a:r>
            <a:r>
              <a:rPr lang="en-US" altLang="en-US" sz="2400" dirty="0">
                <a:sym typeface="Symbol" panose="05050102010706020507" charset="2"/>
              </a:rPr>
              <a:t>”</a:t>
            </a:r>
            <a:r>
              <a:rPr lang="en-US" altLang="zh-CN" sz="2400" dirty="0">
                <a:sym typeface="Symbol" panose="05050102010706020507" charset="2"/>
              </a:rPr>
              <a:t> or an undirected line (—), signifying </a:t>
            </a:r>
            <a:r>
              <a:rPr lang="en-US" altLang="en-US" sz="2400" dirty="0">
                <a:sym typeface="Symbol" panose="05050102010706020507" charset="2"/>
              </a:rPr>
              <a:t>“</a:t>
            </a:r>
            <a:r>
              <a:rPr lang="en-US" altLang="zh-CN" sz="2400" dirty="0">
                <a:sym typeface="Symbol" panose="05050102010706020507" charset="2"/>
              </a:rPr>
              <a:t>many,</a:t>
            </a:r>
            <a:r>
              <a:rPr lang="en-US" altLang="en-US" sz="2400" dirty="0">
                <a:sym typeface="Symbol" panose="05050102010706020507" charset="2"/>
              </a:rPr>
              <a:t>”</a:t>
            </a:r>
            <a:r>
              <a:rPr lang="en-US" altLang="zh-CN" sz="2400" dirty="0">
                <a:sym typeface="Symbol" panose="05050102010706020507" charset="2"/>
              </a:rPr>
              <a:t> between the relationship set and the entity set.</a:t>
            </a:r>
            <a:endParaRPr lang="en-US" altLang="zh-CN" sz="2400" dirty="0">
              <a:sym typeface="Symbol" panose="05050102010706020507" charset="2"/>
            </a:endParaRPr>
          </a:p>
          <a:p>
            <a:pPr>
              <a:lnSpc>
                <a:spcPct val="90000"/>
              </a:lnSpc>
            </a:pPr>
            <a:r>
              <a:rPr lang="en-US" altLang="zh-CN" sz="2400" dirty="0"/>
              <a:t>One-to-one relationship between an </a:t>
            </a:r>
            <a:r>
              <a:rPr lang="en-US" altLang="zh-CN" sz="2400" i="1" dirty="0"/>
              <a:t>instructor</a:t>
            </a:r>
            <a:r>
              <a:rPr lang="en-US" altLang="zh-CN" sz="2400" dirty="0"/>
              <a:t> and a </a:t>
            </a:r>
            <a:r>
              <a:rPr lang="en-US" altLang="zh-CN" sz="2400" i="1" dirty="0"/>
              <a:t>student </a:t>
            </a:r>
            <a:r>
              <a:rPr lang="en-US" altLang="zh-CN" sz="2400" dirty="0"/>
              <a:t>:</a:t>
            </a:r>
            <a:endParaRPr lang="en-US" altLang="zh-CN" sz="2400" dirty="0"/>
          </a:p>
          <a:p>
            <a:pPr lvl="1">
              <a:lnSpc>
                <a:spcPct val="90000"/>
              </a:lnSpc>
            </a:pPr>
            <a:r>
              <a:rPr lang="en-US" altLang="zh-CN" sz="2000" dirty="0"/>
              <a:t>A student is associated with at most one </a:t>
            </a:r>
            <a:r>
              <a:rPr lang="en-US" altLang="zh-CN" sz="2000" i="1" dirty="0"/>
              <a:t>instructor</a:t>
            </a:r>
            <a:r>
              <a:rPr lang="en-US" altLang="zh-CN" sz="2000" dirty="0"/>
              <a:t> via the relationship </a:t>
            </a:r>
            <a:r>
              <a:rPr lang="en-US" altLang="zh-CN" sz="2000" i="1" dirty="0"/>
              <a:t>advisor</a:t>
            </a:r>
            <a:endParaRPr lang="en-US" altLang="zh-CN" sz="2000" i="1" dirty="0"/>
          </a:p>
          <a:p>
            <a:pPr lvl="1">
              <a:lnSpc>
                <a:spcPct val="90000"/>
              </a:lnSpc>
            </a:pPr>
            <a:r>
              <a:rPr lang="en-US" altLang="zh-CN" sz="2000" dirty="0"/>
              <a:t>A </a:t>
            </a:r>
            <a:r>
              <a:rPr lang="en-US" altLang="zh-CN" sz="2000" i="1" dirty="0"/>
              <a:t>student</a:t>
            </a:r>
            <a:r>
              <a:rPr lang="en-US" altLang="zh-CN" sz="2000" dirty="0"/>
              <a:t> is associated with at most one </a:t>
            </a:r>
            <a:r>
              <a:rPr lang="en-US" altLang="zh-CN" sz="2000" i="1" dirty="0"/>
              <a:t>department</a:t>
            </a:r>
            <a:r>
              <a:rPr lang="en-US" altLang="zh-CN" sz="2000" dirty="0"/>
              <a:t> via </a:t>
            </a:r>
            <a:r>
              <a:rPr lang="en-US" altLang="zh-CN" sz="2000" i="1" dirty="0"/>
              <a:t>stud_dept</a:t>
            </a:r>
            <a:endParaRPr lang="en-US" altLang="zh-CN" sz="2000" dirty="0"/>
          </a:p>
        </p:txBody>
      </p:sp>
      <p:pic>
        <p:nvPicPr>
          <p:cNvPr id="64515" name="Picture 5"/>
          <p:cNvPicPr>
            <a:picLocks noChangeAspect="1"/>
          </p:cNvPicPr>
          <p:nvPr/>
        </p:nvPicPr>
        <p:blipFill>
          <a:blip r:embed="rId1"/>
          <a:srcRect b="78418"/>
          <a:stretch>
            <a:fillRect/>
          </a:stretch>
        </p:blipFill>
        <p:spPr>
          <a:xfrm>
            <a:off x="1657350" y="4652963"/>
            <a:ext cx="5845175" cy="1535112"/>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a:xfrm>
            <a:off x="819150" y="95250"/>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One-to-Many Relationship</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66562" name="Rectangle 3"/>
          <p:cNvSpPr>
            <a:spLocks noGrp="1"/>
          </p:cNvSpPr>
          <p:nvPr>
            <p:ph idx="1"/>
          </p:nvPr>
        </p:nvSpPr>
        <p:spPr>
          <a:xfrm>
            <a:off x="233363" y="1131888"/>
            <a:ext cx="8756650" cy="1852612"/>
          </a:xfrm>
        </p:spPr>
        <p:txBody>
          <a:bodyPr vert="horz" wrap="square" lIns="91440" tIns="45720" rIns="91440" bIns="45720" anchor="t" anchorCtr="0"/>
          <a:lstStyle/>
          <a:p>
            <a:r>
              <a:rPr lang="en-US" altLang="zh-CN" sz="2400" dirty="0"/>
              <a:t>one-to-many relationship between an </a:t>
            </a:r>
            <a:r>
              <a:rPr lang="en-US" altLang="zh-CN" sz="2400" i="1" dirty="0"/>
              <a:t>instructor</a:t>
            </a:r>
            <a:r>
              <a:rPr lang="en-US" altLang="zh-CN" sz="2400" dirty="0"/>
              <a:t> and a </a:t>
            </a:r>
            <a:r>
              <a:rPr lang="en-US" altLang="zh-CN" sz="2400" i="1" dirty="0"/>
              <a:t>student</a:t>
            </a:r>
            <a:endParaRPr lang="en-US" altLang="zh-CN" sz="2400" i="1" dirty="0"/>
          </a:p>
          <a:p>
            <a:pPr lvl="1"/>
            <a:r>
              <a:rPr lang="en-US" altLang="zh-CN" sz="2400" dirty="0"/>
              <a:t> an instructor is associated with several (including 0) students    via </a:t>
            </a:r>
            <a:r>
              <a:rPr lang="en-US" altLang="zh-CN" sz="2400" i="1" dirty="0"/>
              <a:t>advisor </a:t>
            </a:r>
            <a:endParaRPr lang="en-US" altLang="zh-CN" sz="2400" i="1" dirty="0"/>
          </a:p>
          <a:p>
            <a:pPr lvl="1"/>
            <a:r>
              <a:rPr lang="en-US" altLang="zh-CN" sz="2400" dirty="0"/>
              <a:t>a student is associated with at most one instructor via advisor, </a:t>
            </a:r>
            <a:endParaRPr lang="en-US" altLang="zh-CN" sz="2400" dirty="0"/>
          </a:p>
        </p:txBody>
      </p:sp>
      <p:pic>
        <p:nvPicPr>
          <p:cNvPr id="66563" name="Picture 5"/>
          <p:cNvPicPr>
            <a:picLocks noChangeAspect="1"/>
          </p:cNvPicPr>
          <p:nvPr/>
        </p:nvPicPr>
        <p:blipFill>
          <a:blip r:embed="rId1"/>
          <a:srcRect t="31459" b="44698"/>
          <a:stretch>
            <a:fillRect/>
          </a:stretch>
        </p:blipFill>
        <p:spPr>
          <a:xfrm>
            <a:off x="741363" y="3914775"/>
            <a:ext cx="7637462" cy="221773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512763" y="238125"/>
            <a:ext cx="8113713" cy="4572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Many-to-One Relationships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68610" name="Rectangle 3"/>
          <p:cNvSpPr>
            <a:spLocks noGrp="1"/>
          </p:cNvSpPr>
          <p:nvPr>
            <p:ph idx="1"/>
          </p:nvPr>
        </p:nvSpPr>
        <p:spPr>
          <a:xfrm>
            <a:off x="150813" y="1144588"/>
            <a:ext cx="8805862" cy="1814512"/>
          </a:xfrm>
        </p:spPr>
        <p:txBody>
          <a:bodyPr vert="horz" wrap="square" lIns="91440" tIns="45720" rIns="91440" bIns="45720" anchor="t" anchorCtr="0"/>
          <a:lstStyle/>
          <a:p>
            <a:r>
              <a:rPr lang="en-US" altLang="zh-CN" sz="2400" dirty="0"/>
              <a:t>In a many-to-one relationship between an </a:t>
            </a:r>
            <a:r>
              <a:rPr lang="en-US" altLang="zh-CN" sz="2400" i="1" dirty="0"/>
              <a:t>instructor</a:t>
            </a:r>
            <a:r>
              <a:rPr lang="en-US" altLang="zh-CN" sz="2400" dirty="0"/>
              <a:t> and a </a:t>
            </a:r>
            <a:r>
              <a:rPr lang="en-US" altLang="zh-CN" sz="2400" i="1" dirty="0"/>
              <a:t>student, </a:t>
            </a:r>
            <a:endParaRPr lang="en-US" altLang="zh-CN" sz="2400" i="1" dirty="0"/>
          </a:p>
          <a:p>
            <a:pPr lvl="1"/>
            <a:r>
              <a:rPr lang="en-US" altLang="zh-CN" sz="2400" dirty="0"/>
              <a:t>an instructor</a:t>
            </a:r>
            <a:r>
              <a:rPr lang="en-US" altLang="zh-CN" sz="2400" i="1" dirty="0"/>
              <a:t> </a:t>
            </a:r>
            <a:r>
              <a:rPr lang="en-US" altLang="zh-CN" sz="2400" dirty="0"/>
              <a:t> is associated with at most one student via </a:t>
            </a:r>
            <a:r>
              <a:rPr lang="en-US" altLang="zh-CN" sz="2400" i="1" dirty="0"/>
              <a:t>advisor</a:t>
            </a:r>
            <a:r>
              <a:rPr lang="en-US" altLang="zh-CN" sz="2400" dirty="0"/>
              <a:t>, </a:t>
            </a:r>
            <a:endParaRPr lang="en-US" altLang="zh-CN" sz="2400" dirty="0"/>
          </a:p>
          <a:p>
            <a:pPr lvl="1"/>
            <a:r>
              <a:rPr lang="en-US" altLang="zh-CN" sz="2400" dirty="0"/>
              <a:t>and a student is associated with several (including 0) instructors via </a:t>
            </a:r>
            <a:r>
              <a:rPr lang="en-US" altLang="zh-CN" sz="2400" i="1" dirty="0"/>
              <a:t>advisor</a:t>
            </a:r>
            <a:endParaRPr lang="en-US" altLang="zh-CN" sz="2400" i="1" dirty="0"/>
          </a:p>
        </p:txBody>
      </p:sp>
      <p:pic>
        <p:nvPicPr>
          <p:cNvPr id="68611" name="Picture 5"/>
          <p:cNvPicPr preferRelativeResize="0">
            <a:picLocks noChangeAspect="1"/>
          </p:cNvPicPr>
          <p:nvPr/>
        </p:nvPicPr>
        <p:blipFill>
          <a:blip r:embed="rId1"/>
          <a:srcRect t="68164" b="6378"/>
          <a:stretch>
            <a:fillRect/>
          </a:stretch>
        </p:blipFill>
        <p:spPr>
          <a:xfrm>
            <a:off x="858838" y="3938588"/>
            <a:ext cx="7459662" cy="2311400"/>
          </a:xfrm>
          <a:prstGeom prst="rect">
            <a:avLst/>
          </a:prstGeom>
          <a:noFill/>
          <a:ln w="9525">
            <a:noFill/>
          </a:ln>
        </p:spPr>
      </p:pic>
      <p:sp>
        <p:nvSpPr>
          <p:cNvPr id="68612" name="Line 6"/>
          <p:cNvSpPr/>
          <p:nvPr/>
        </p:nvSpPr>
        <p:spPr>
          <a:xfrm>
            <a:off x="6361113" y="5138738"/>
            <a:ext cx="228600" cy="1587"/>
          </a:xfrm>
          <a:prstGeom prst="line">
            <a:avLst/>
          </a:prstGeom>
          <a:ln w="12700" cap="flat" cmpd="sng">
            <a:solidFill>
              <a:schemeClr val="tx1"/>
            </a:solidFill>
            <a:prstDash val="solid"/>
            <a:round/>
            <a:headEnd type="none" w="lg" len="lg"/>
            <a:tailEnd type="stealth" w="lg" len="lg"/>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Many-to-Many Relationship</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70658" name="Rectangle 3"/>
          <p:cNvSpPr>
            <a:spLocks noGrp="1"/>
          </p:cNvSpPr>
          <p:nvPr>
            <p:ph idx="1"/>
          </p:nvPr>
        </p:nvSpPr>
        <p:spPr>
          <a:xfrm>
            <a:off x="200025" y="1093788"/>
            <a:ext cx="8739188" cy="1546225"/>
          </a:xfrm>
        </p:spPr>
        <p:txBody>
          <a:bodyPr vert="horz" wrap="square" lIns="91440" tIns="45720" rIns="91440" bIns="45720" anchor="t" anchorCtr="0"/>
          <a:lstStyle/>
          <a:p>
            <a:r>
              <a:rPr lang="en-US" altLang="zh-CN" sz="2400" dirty="0"/>
              <a:t>An instructor is associated with several (possibly 0) students via </a:t>
            </a:r>
            <a:r>
              <a:rPr lang="en-US" altLang="zh-CN" sz="2400" i="1" dirty="0"/>
              <a:t>advisor</a:t>
            </a:r>
            <a:endParaRPr lang="en-US" altLang="zh-CN" sz="2400" i="1" dirty="0"/>
          </a:p>
          <a:p>
            <a:r>
              <a:rPr lang="en-US" altLang="zh-CN" sz="2400" dirty="0"/>
              <a:t>A student is associated with several (possibly 0) instructors via </a:t>
            </a:r>
            <a:r>
              <a:rPr lang="en-US" altLang="zh-CN" sz="2400" i="1" dirty="0"/>
              <a:t>advisor</a:t>
            </a:r>
            <a:r>
              <a:rPr lang="en-US" altLang="zh-CN" sz="2400" dirty="0"/>
              <a:t> </a:t>
            </a:r>
            <a:endParaRPr lang="en-US" altLang="zh-CN" sz="2400" dirty="0"/>
          </a:p>
        </p:txBody>
      </p:sp>
      <p:pic>
        <p:nvPicPr>
          <p:cNvPr id="70659" name="Picture 6"/>
          <p:cNvPicPr>
            <a:picLocks noChangeAspect="1"/>
          </p:cNvPicPr>
          <p:nvPr/>
        </p:nvPicPr>
        <p:blipFill>
          <a:blip r:embed="rId1"/>
          <a:stretch>
            <a:fillRect/>
          </a:stretch>
        </p:blipFill>
        <p:spPr>
          <a:xfrm>
            <a:off x="549275" y="3190875"/>
            <a:ext cx="8091488" cy="1655763"/>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768350" y="132080"/>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一个实体集内的</a:t>
            </a:r>
            <a:r>
              <a:rPr kumimoji="1" lang="zh-CN" altLang="en-US" sz="3600" b="1" i="0" u="none" strike="noStrike" kern="0" cap="none" spc="0" normalizeH="0" baseline="0" noProof="1">
                <a:solidFill>
                  <a:srgbClr val="000099"/>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递归联系</a:t>
            </a:r>
            <a:endParaRPr kumimoji="1" lang="zh-CN" altLang="en-US" sz="3600" b="1" i="0" u="none" strike="noStrike" kern="0" cap="none" spc="0" normalizeH="0" baseline="0" noProof="1">
              <a:solidFill>
                <a:srgbClr val="000099"/>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183299" name="Rectangle 3"/>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一对一</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2500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i</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至多存在一个</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2500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j</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与之相联系（</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j≠i）</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一对多</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多对多</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grpSp>
        <p:nvGrpSpPr>
          <p:cNvPr id="72707" name="Group 4"/>
          <p:cNvGrpSpPr/>
          <p:nvPr/>
        </p:nvGrpSpPr>
        <p:grpSpPr>
          <a:xfrm>
            <a:off x="2757488" y="3367088"/>
            <a:ext cx="2667000" cy="1066800"/>
            <a:chOff x="3984" y="2640"/>
            <a:chExt cx="1680" cy="672"/>
          </a:xfrm>
        </p:grpSpPr>
        <p:sp>
          <p:nvSpPr>
            <p:cNvPr id="183301" name="Text Box 5"/>
            <p:cNvSpPr txBox="1">
              <a:spLocks noChangeArrowheads="1"/>
            </p:cNvSpPr>
            <p:nvPr/>
          </p:nvSpPr>
          <p:spPr bwMode="auto">
            <a:xfrm>
              <a:off x="3984" y="2793"/>
              <a:ext cx="672"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职工</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3302" name="AutoShape 6"/>
            <p:cNvSpPr>
              <a:spLocks noChangeArrowheads="1"/>
            </p:cNvSpPr>
            <p:nvPr/>
          </p:nvSpPr>
          <p:spPr bwMode="auto">
            <a:xfrm>
              <a:off x="5040" y="2640"/>
              <a:ext cx="624" cy="67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领导</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83303" name="Line 7"/>
            <p:cNvSpPr>
              <a:spLocks noChangeShapeType="1"/>
            </p:cNvSpPr>
            <p:nvPr/>
          </p:nvSpPr>
          <p:spPr bwMode="auto">
            <a:xfrm>
              <a:off x="4656" y="2880"/>
              <a:ext cx="480"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04" name="Line 8"/>
            <p:cNvSpPr>
              <a:spLocks noChangeShapeType="1"/>
            </p:cNvSpPr>
            <p:nvPr/>
          </p:nvSpPr>
          <p:spPr bwMode="auto">
            <a:xfrm>
              <a:off x="4656" y="3072"/>
              <a:ext cx="480" cy="0"/>
            </a:xfrm>
            <a:prstGeom prst="line">
              <a:avLst/>
            </a:prstGeom>
            <a:noFill/>
            <a:ln w="2857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05" name="Text Box 9"/>
            <p:cNvSpPr txBox="1">
              <a:spLocks noChangeArrowheads="1"/>
            </p:cNvSpPr>
            <p:nvPr/>
          </p:nvSpPr>
          <p:spPr bwMode="auto">
            <a:xfrm>
              <a:off x="4608" y="3024"/>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领导</a:t>
              </a:r>
              <a:endPar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183306" name="Text Box 10"/>
            <p:cNvSpPr txBox="1">
              <a:spLocks noChangeArrowheads="1"/>
            </p:cNvSpPr>
            <p:nvPr/>
          </p:nvSpPr>
          <p:spPr bwMode="auto">
            <a:xfrm>
              <a:off x="4608" y="2640"/>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属下</a:t>
              </a:r>
              <a:endPar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grpSp>
      <p:grpSp>
        <p:nvGrpSpPr>
          <p:cNvPr id="72714" name="Group 11"/>
          <p:cNvGrpSpPr/>
          <p:nvPr/>
        </p:nvGrpSpPr>
        <p:grpSpPr>
          <a:xfrm>
            <a:off x="2797175" y="2012950"/>
            <a:ext cx="2590800" cy="1066800"/>
            <a:chOff x="4032" y="1776"/>
            <a:chExt cx="1632" cy="672"/>
          </a:xfrm>
        </p:grpSpPr>
        <p:sp>
          <p:nvSpPr>
            <p:cNvPr id="183308" name="Text Box 12"/>
            <p:cNvSpPr txBox="1">
              <a:spLocks noChangeArrowheads="1"/>
            </p:cNvSpPr>
            <p:nvPr/>
          </p:nvSpPr>
          <p:spPr bwMode="auto">
            <a:xfrm>
              <a:off x="4032" y="1929"/>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职工</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3309" name="Line 13"/>
            <p:cNvSpPr>
              <a:spLocks noChangeShapeType="1"/>
            </p:cNvSpPr>
            <p:nvPr/>
          </p:nvSpPr>
          <p:spPr bwMode="auto">
            <a:xfrm>
              <a:off x="4656" y="2016"/>
              <a:ext cx="480" cy="0"/>
            </a:xfrm>
            <a:prstGeom prst="line">
              <a:avLst/>
            </a:prstGeom>
            <a:noFill/>
            <a:ln w="28575">
              <a:solidFill>
                <a:schemeClr val="tx1"/>
              </a:solidFill>
              <a:round/>
              <a:headEnd type="triangl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0" name="AutoShape 14"/>
            <p:cNvSpPr>
              <a:spLocks noChangeArrowheads="1"/>
            </p:cNvSpPr>
            <p:nvPr/>
          </p:nvSpPr>
          <p:spPr bwMode="auto">
            <a:xfrm>
              <a:off x="5040" y="1776"/>
              <a:ext cx="624" cy="67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配偶</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83311" name="Line 15"/>
            <p:cNvSpPr>
              <a:spLocks noChangeShapeType="1"/>
            </p:cNvSpPr>
            <p:nvPr/>
          </p:nvSpPr>
          <p:spPr bwMode="auto">
            <a:xfrm>
              <a:off x="4656" y="2208"/>
              <a:ext cx="480" cy="0"/>
            </a:xfrm>
            <a:prstGeom prst="line">
              <a:avLst/>
            </a:prstGeom>
            <a:noFill/>
            <a:ln w="2857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2" name="Text Box 16"/>
            <p:cNvSpPr txBox="1">
              <a:spLocks noChangeArrowheads="1"/>
            </p:cNvSpPr>
            <p:nvPr/>
          </p:nvSpPr>
          <p:spPr bwMode="auto">
            <a:xfrm>
              <a:off x="4656" y="2160"/>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丈夫</a:t>
              </a:r>
              <a:endPar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183313" name="Text Box 17"/>
            <p:cNvSpPr txBox="1">
              <a:spLocks noChangeArrowheads="1"/>
            </p:cNvSpPr>
            <p:nvPr/>
          </p:nvSpPr>
          <p:spPr bwMode="auto">
            <a:xfrm>
              <a:off x="4656" y="1776"/>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妻子</a:t>
              </a:r>
              <a:endPar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grpSp>
      <p:grpSp>
        <p:nvGrpSpPr>
          <p:cNvPr id="72721" name="Group 18"/>
          <p:cNvGrpSpPr/>
          <p:nvPr/>
        </p:nvGrpSpPr>
        <p:grpSpPr>
          <a:xfrm>
            <a:off x="2752725" y="4754563"/>
            <a:ext cx="2590800" cy="1066800"/>
            <a:chOff x="4032" y="3552"/>
            <a:chExt cx="1632" cy="672"/>
          </a:xfrm>
        </p:grpSpPr>
        <p:sp>
          <p:nvSpPr>
            <p:cNvPr id="183315" name="AutoShape 19"/>
            <p:cNvSpPr>
              <a:spLocks noChangeArrowheads="1"/>
            </p:cNvSpPr>
            <p:nvPr/>
          </p:nvSpPr>
          <p:spPr bwMode="auto">
            <a:xfrm>
              <a:off x="5040" y="3552"/>
              <a:ext cx="624" cy="672"/>
            </a:xfrm>
            <a:prstGeom prst="diamond">
              <a:avLst/>
            </a:prstGeom>
            <a:solidFill>
              <a:srgbClr val="33CCCC"/>
            </a:solidFill>
            <a:ln w="28575">
              <a:solidFill>
                <a:schemeClr val="tx1"/>
              </a:solidFill>
              <a:miter lim="800000"/>
            </a:ln>
            <a:effectLst/>
          </p:spPr>
          <p:txBody>
            <a:bodyPr wrap="none" anchor="ctr"/>
            <a:lstStyle/>
            <a:p>
              <a:pPr algn="ctr" fontAlgn="base"/>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构成</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3316" name="Text Box 20"/>
            <p:cNvSpPr txBox="1">
              <a:spLocks noChangeArrowheads="1"/>
            </p:cNvSpPr>
            <p:nvPr/>
          </p:nvSpPr>
          <p:spPr bwMode="auto">
            <a:xfrm>
              <a:off x="4032" y="3705"/>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零件</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183317" name="Line 21"/>
            <p:cNvSpPr>
              <a:spLocks noChangeShapeType="1"/>
            </p:cNvSpPr>
            <p:nvPr/>
          </p:nvSpPr>
          <p:spPr bwMode="auto">
            <a:xfrm>
              <a:off x="4656" y="3792"/>
              <a:ext cx="480"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8" name="Line 22"/>
            <p:cNvSpPr>
              <a:spLocks noChangeShapeType="1"/>
            </p:cNvSpPr>
            <p:nvPr/>
          </p:nvSpPr>
          <p:spPr bwMode="auto">
            <a:xfrm>
              <a:off x="4656" y="3984"/>
              <a:ext cx="480"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9" name="Text Box 23"/>
            <p:cNvSpPr txBox="1">
              <a:spLocks noChangeArrowheads="1"/>
            </p:cNvSpPr>
            <p:nvPr/>
          </p:nvSpPr>
          <p:spPr bwMode="auto">
            <a:xfrm>
              <a:off x="4560" y="3552"/>
              <a:ext cx="672"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母零件</a:t>
              </a:r>
              <a:endPar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183320" name="Text Box 24"/>
            <p:cNvSpPr txBox="1">
              <a:spLocks noChangeArrowheads="1"/>
            </p:cNvSpPr>
            <p:nvPr/>
          </p:nvSpPr>
          <p:spPr bwMode="auto">
            <a:xfrm>
              <a:off x="4560" y="3974"/>
              <a:ext cx="672"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子零件</a:t>
              </a:r>
              <a:endPar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a:xfrm>
            <a:off x="1296988" y="233363"/>
            <a:ext cx="7427913" cy="45561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Total  and Partial Participation</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35843" name="Rectangle 3"/>
          <p:cNvSpPr/>
          <p:nvPr/>
        </p:nvSpPr>
        <p:spPr>
          <a:xfrm>
            <a:off x="166688" y="922338"/>
            <a:ext cx="8789988" cy="1920875"/>
          </a:xfrm>
          <a:prstGeom prst="rect">
            <a:avLst/>
          </a:prstGeom>
          <a:noFill/>
          <a:ln w="9525">
            <a:noFill/>
          </a:ln>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0" lang="en-US" altLang="en-US" sz="2400" b="0" i="0" u="none" strike="noStrike" kern="120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Total participation (indicated by double line)</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every entity in the entity set participates in at least one relationship in the relationship set</a:t>
            </a: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0" marR="0" lvl="0" indent="0" algn="l" defTabSz="914400" rtl="0" eaLnBrk="0" fontAlgn="base" latinLnBrk="0" hangingPunct="0">
              <a:lnSpc>
                <a:spcPct val="100000"/>
              </a:lnSpc>
              <a:spcBef>
                <a:spcPct val="35000"/>
              </a:spcBef>
              <a:spcAft>
                <a:spcPct val="0"/>
              </a:spcAft>
              <a:buClr>
                <a:schemeClr val="tx2"/>
              </a:buClr>
              <a:buSzPct val="90000"/>
              <a:buFontTx/>
              <a:buNone/>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Tx/>
              <a:buNone/>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Tx/>
              <a:buNone/>
              <a:defRPr/>
            </a:pP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participation of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student  </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in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advisor r</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elation is total</a:t>
            </a: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2"/>
              <a:buChar char="4"/>
              <a:defRPr/>
            </a:pP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every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student </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must have an associated instructor</a:t>
            </a: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0" lang="en-US" altLang="en-US" sz="2400" b="0" i="0" u="none" strike="noStrike" kern="120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Partial participation</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some entities may not participate in any relationship in the relationship set</a:t>
            </a: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Example: participation of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instructor</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in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advisor</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is partial</a:t>
            </a: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p:txBody>
      </p:sp>
      <p:pic>
        <p:nvPicPr>
          <p:cNvPr id="73731" name="Picture 7"/>
          <p:cNvPicPr>
            <a:picLocks noChangeAspect="1"/>
          </p:cNvPicPr>
          <p:nvPr/>
        </p:nvPicPr>
        <p:blipFill>
          <a:blip r:embed="rId1"/>
          <a:stretch>
            <a:fillRect/>
          </a:stretch>
        </p:blipFill>
        <p:spPr>
          <a:xfrm>
            <a:off x="976313" y="2328863"/>
            <a:ext cx="7342187" cy="144780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a:xfrm>
            <a:off x="742950" y="38100"/>
            <a:ext cx="8420100" cy="68262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Notation for Expressing More Complex Constraints</a:t>
            </a:r>
            <a:endPar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75778" name="Rectangle 3"/>
          <p:cNvSpPr/>
          <p:nvPr/>
        </p:nvSpPr>
        <p:spPr>
          <a:xfrm>
            <a:off x="117475" y="1106488"/>
            <a:ext cx="8872538" cy="2525712"/>
          </a:xfrm>
          <a:prstGeom prst="rect">
            <a:avLst/>
          </a:prstGeom>
          <a:noFill/>
          <a:ln w="9525">
            <a:noFill/>
          </a:ln>
        </p:spPr>
        <p:txBody>
          <a:bodyPr anchor="t" anchorCtr="0"/>
          <a:lstStyle/>
          <a:p>
            <a:pPr marL="342900"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line may have an associated minimum and maximum cardinality, shown in the form </a:t>
            </a:r>
            <a:r>
              <a:rPr lang="en-US" altLang="zh-CN" sz="2400" i="1" dirty="0">
                <a:latin typeface="Arial" panose="020B0604020202020204" pitchFamily="34" charset="0"/>
              </a:rPr>
              <a:t>l..h</a:t>
            </a:r>
            <a:r>
              <a:rPr lang="en-US" altLang="zh-CN" sz="2400" dirty="0">
                <a:latin typeface="Arial" panose="020B0604020202020204" pitchFamily="34" charset="0"/>
              </a:rPr>
              <a:t>, where </a:t>
            </a:r>
            <a:r>
              <a:rPr lang="en-US" altLang="zh-CN" sz="2400" i="1" dirty="0">
                <a:latin typeface="Arial" panose="020B0604020202020204" pitchFamily="34" charset="0"/>
              </a:rPr>
              <a:t>l</a:t>
            </a:r>
            <a:r>
              <a:rPr lang="en-US" altLang="zh-CN" sz="2400" dirty="0">
                <a:latin typeface="Arial" panose="020B0604020202020204" pitchFamily="34" charset="0"/>
              </a:rPr>
              <a:t> is the minimum and </a:t>
            </a:r>
            <a:r>
              <a:rPr lang="en-US" altLang="zh-CN" sz="2400" i="1" dirty="0">
                <a:latin typeface="Arial" panose="020B0604020202020204" pitchFamily="34" charset="0"/>
              </a:rPr>
              <a:t>h</a:t>
            </a:r>
            <a:r>
              <a:rPr lang="en-US" altLang="zh-CN" sz="2400" dirty="0">
                <a:latin typeface="Arial" panose="020B0604020202020204" pitchFamily="34" charset="0"/>
              </a:rPr>
              <a:t> the maximum cardinality</a:t>
            </a:r>
            <a:endParaRPr lang="en-US" altLang="zh-CN" sz="2400" dirty="0">
              <a:latin typeface="Arial" panose="020B0604020202020204" pitchFamily="34" charset="0"/>
            </a:endParaRPr>
          </a:p>
          <a:p>
            <a:pPr marL="800100" lvl="1"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minimum value of 1 indicates total participation.</a:t>
            </a:r>
            <a:endParaRPr lang="en-US" altLang="zh-CN" sz="2400" dirty="0">
              <a:latin typeface="Arial" panose="020B0604020202020204" pitchFamily="34" charset="0"/>
            </a:endParaRPr>
          </a:p>
          <a:p>
            <a:pPr marL="800100" lvl="1"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maximum value of 1 indicates that the entity participates  in at most one relationship</a:t>
            </a:r>
            <a:endParaRPr lang="en-US" altLang="zh-CN" sz="2400" dirty="0">
              <a:latin typeface="Arial" panose="020B0604020202020204" pitchFamily="34" charset="0"/>
            </a:endParaRPr>
          </a:p>
          <a:p>
            <a:pPr marL="800100" lvl="1"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maximum value of * indicates no limit.</a:t>
            </a:r>
            <a:endParaRPr lang="en-US" altLang="zh-CN" sz="2400" dirty="0">
              <a:latin typeface="Arial" panose="020B0604020202020204" pitchFamily="34" charset="0"/>
            </a:endParaRPr>
          </a:p>
          <a:p>
            <a:pPr marL="342900" indent="-342900" eaLnBrk="0" hangingPunct="0">
              <a:spcBef>
                <a:spcPct val="35000"/>
              </a:spcBef>
              <a:buClr>
                <a:schemeClr val="tx2"/>
              </a:buClr>
              <a:buSzPct val="90000"/>
            </a:pPr>
            <a:endParaRPr lang="en-US" altLang="zh-CN" sz="2400" dirty="0">
              <a:latin typeface="Arial" panose="020B0604020202020204" pitchFamily="34" charset="0"/>
            </a:endParaRPr>
          </a:p>
          <a:p>
            <a:pPr marL="342900" indent="-342900" eaLnBrk="0" hangingPunct="0">
              <a:spcBef>
                <a:spcPct val="35000"/>
              </a:spcBef>
              <a:buClr>
                <a:schemeClr val="tx2"/>
              </a:buClr>
              <a:buSzPct val="90000"/>
              <a:buFont typeface="Monotype Sorts" charset="2"/>
              <a:buChar char="n"/>
            </a:pPr>
            <a:endParaRPr lang="en-US" altLang="zh-CN" sz="2400" dirty="0">
              <a:latin typeface="Arial" panose="020B0604020202020204" pitchFamily="34" charset="0"/>
              <a:ea typeface="Arial" panose="020B0604020202020204" pitchFamily="34" charset="0"/>
            </a:endParaRPr>
          </a:p>
        </p:txBody>
      </p:sp>
      <p:pic>
        <p:nvPicPr>
          <p:cNvPr id="75779" name="Picture 5"/>
          <p:cNvPicPr>
            <a:picLocks noChangeAspect="1"/>
          </p:cNvPicPr>
          <p:nvPr/>
        </p:nvPicPr>
        <p:blipFill>
          <a:blip r:embed="rId1"/>
          <a:stretch>
            <a:fillRect/>
          </a:stretch>
        </p:blipFill>
        <p:spPr>
          <a:xfrm>
            <a:off x="1758950" y="4351338"/>
            <a:ext cx="5800725" cy="1133475"/>
          </a:xfrm>
          <a:prstGeom prst="rect">
            <a:avLst/>
          </a:prstGeom>
          <a:noFill/>
          <a:ln w="9525">
            <a:noFill/>
          </a:ln>
        </p:spPr>
      </p:pic>
      <p:sp>
        <p:nvSpPr>
          <p:cNvPr id="75780" name="Rectangle 4"/>
          <p:cNvSpPr/>
          <p:nvPr/>
        </p:nvSpPr>
        <p:spPr>
          <a:xfrm>
            <a:off x="1239838" y="5891213"/>
            <a:ext cx="6626225" cy="646112"/>
          </a:xfrm>
          <a:prstGeom prst="rect">
            <a:avLst/>
          </a:prstGeom>
          <a:noFill/>
          <a:ln w="9525">
            <a:noFill/>
          </a:ln>
        </p:spPr>
        <p:txBody>
          <a:bodyPr anchor="t" anchorCtr="0">
            <a:spAutoFit/>
          </a:bodyPr>
          <a:lstStyle/>
          <a:p>
            <a:pPr marL="342900" indent="-342900" eaLnBrk="0" hangingPunct="0">
              <a:spcBef>
                <a:spcPct val="35000"/>
              </a:spcBef>
              <a:buClr>
                <a:schemeClr val="tx2"/>
              </a:buClr>
              <a:buSzPct val="90000"/>
              <a:buFont typeface="Monotype Sorts" charset="2"/>
            </a:pPr>
            <a:r>
              <a:rPr lang="en-US" altLang="zh-CN" sz="1800" dirty="0">
                <a:latin typeface="Helvetica" charset="0"/>
              </a:rPr>
              <a:t>Instructor can advise 0 or more students.  A student must have 1 advisor; cannot have multiple advisors</a:t>
            </a:r>
            <a:endParaRPr lang="en-US" altLang="zh-CN" sz="1800" dirty="0">
              <a:latin typeface="Helvetica"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a:xfrm>
            <a:off x="1017588" y="103188"/>
            <a:ext cx="7648575" cy="6397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Notation to Express Entity with Complex Attributes</a:t>
            </a:r>
            <a:endPar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pic>
        <p:nvPicPr>
          <p:cNvPr id="77826" name="Picture 5"/>
          <p:cNvPicPr>
            <a:picLocks noChangeAspect="1"/>
          </p:cNvPicPr>
          <p:nvPr/>
        </p:nvPicPr>
        <p:blipFill>
          <a:blip r:embed="rId1"/>
          <a:stretch>
            <a:fillRect/>
          </a:stretch>
        </p:blipFill>
        <p:spPr>
          <a:xfrm>
            <a:off x="3598863" y="1300163"/>
            <a:ext cx="2159000" cy="4575175"/>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a:xfrm>
            <a:off x="539750" y="857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Expressing Weak Entity Sets</a:t>
            </a:r>
            <a:endPar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79874" name="Rectangle 3"/>
          <p:cNvSpPr>
            <a:spLocks noGrp="1"/>
          </p:cNvSpPr>
          <p:nvPr>
            <p:ph idx="1"/>
          </p:nvPr>
        </p:nvSpPr>
        <p:spPr>
          <a:xfrm>
            <a:off x="217488" y="1093788"/>
            <a:ext cx="8755062" cy="2441575"/>
          </a:xfrm>
        </p:spPr>
        <p:txBody>
          <a:bodyPr vert="horz" wrap="square" lIns="91440" tIns="45720" rIns="91440" bIns="45720" anchor="t" anchorCtr="0"/>
          <a:lstStyle/>
          <a:p>
            <a:r>
              <a:rPr lang="en-US" altLang="zh-CN" sz="2400" dirty="0"/>
              <a:t>In E-R diagrams, a weak entity set is depicted via a double rectangle.</a:t>
            </a:r>
            <a:endParaRPr lang="en-US" altLang="zh-CN" sz="2400" dirty="0"/>
          </a:p>
          <a:p>
            <a:r>
              <a:rPr lang="en-US" altLang="zh-CN" sz="2400" dirty="0"/>
              <a:t>We underline the discriminator of a weak entity set  with a dashed line.</a:t>
            </a:r>
            <a:endParaRPr lang="en-US" altLang="zh-CN" sz="2400" dirty="0"/>
          </a:p>
          <a:p>
            <a:r>
              <a:rPr lang="en-US" altLang="zh-CN" sz="2400" dirty="0"/>
              <a:t>The relationship set connecting the  weak entity set to the identifying strong entity set is depicted by a double diamond. </a:t>
            </a:r>
            <a:endParaRPr lang="en-US" altLang="zh-CN" sz="2400" dirty="0"/>
          </a:p>
          <a:p>
            <a:r>
              <a:rPr lang="en-US" altLang="zh-CN" sz="2400" dirty="0"/>
              <a:t>Primary key for </a:t>
            </a:r>
            <a:r>
              <a:rPr lang="en-US" altLang="zh-CN" sz="2400" i="1" dirty="0"/>
              <a:t>section </a:t>
            </a:r>
            <a:r>
              <a:rPr lang="en-US" altLang="zh-CN" sz="2400" dirty="0"/>
              <a:t>– (</a:t>
            </a:r>
            <a:r>
              <a:rPr lang="en-US" altLang="zh-CN" sz="2400" i="1" dirty="0"/>
              <a:t>course_id, sec_id, semester, year</a:t>
            </a:r>
            <a:r>
              <a:rPr lang="en-US" altLang="zh-CN" sz="2400" dirty="0"/>
              <a:t>)</a:t>
            </a:r>
            <a:endParaRPr lang="en-US" altLang="zh-CN" sz="2400" dirty="0"/>
          </a:p>
        </p:txBody>
      </p:sp>
      <p:pic>
        <p:nvPicPr>
          <p:cNvPr id="79875" name="Picture 3"/>
          <p:cNvPicPr>
            <a:picLocks noChangeAspect="1"/>
          </p:cNvPicPr>
          <p:nvPr/>
        </p:nvPicPr>
        <p:blipFill>
          <a:blip r:embed="rId1"/>
          <a:stretch>
            <a:fillRect/>
          </a:stretch>
        </p:blipFill>
        <p:spPr>
          <a:xfrm>
            <a:off x="668338" y="4551363"/>
            <a:ext cx="7767637" cy="1649412"/>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a:xfrm>
            <a:off x="742950" y="38100"/>
            <a:ext cx="8420100" cy="68262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E-R Diagram for a University Enterprise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81922" name="Picture 2"/>
          <p:cNvPicPr>
            <a:picLocks noChangeAspect="1"/>
          </p:cNvPicPr>
          <p:nvPr/>
        </p:nvPicPr>
        <p:blipFill>
          <a:blip r:embed="rId1"/>
          <a:stretch>
            <a:fillRect/>
          </a:stretch>
        </p:blipFill>
        <p:spPr>
          <a:xfrm>
            <a:off x="1622425" y="927100"/>
            <a:ext cx="5657850" cy="537845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688340" y="117475"/>
            <a:ext cx="8375650" cy="609600"/>
          </a:xfrm>
          <a:noFill/>
          <a:ln w="9525">
            <a:noFill/>
            <a:miter lim="800000"/>
          </a:ln>
        </p:spPr>
        <p:txBody>
          <a:bodyPr vert="horz" wrap="square" lIns="91440" tIns="45720" rIns="91440" bIns="45720" numCol="1" rtlCol="0" anchor="b" anchorCtr="0" compatLnSpc="1">
            <a:normAutofit fontScale="90000"/>
          </a:bodyPr>
          <a:lstStyle/>
          <a:p>
            <a:pPr lvl="0" algn="ctr" defTabSz="914400">
              <a:buClrTx/>
              <a:buSzTx/>
              <a:buFontTx/>
              <a:defRPr/>
            </a:pPr>
            <a:r>
              <a:rPr lang="en-US" sz="3555" noProof="0">
                <a:ln>
                  <a:noFill/>
                </a:ln>
                <a:uLnTx/>
                <a:uFillTx/>
                <a:latin typeface="Arial" panose="020B0604020202020204" pitchFamily="34" charset="0"/>
                <a:ea typeface="+mj-ea"/>
                <a:cs typeface="Arial" panose="020B0604020202020204" pitchFamily="34" charset="0"/>
                <a:sym typeface="+mn-ea"/>
              </a:rPr>
              <a:t>Schema Diagram for University Database</a:t>
            </a:r>
            <a:endParaRPr lang="en-US" sz="3555" noProof="0">
              <a:ln>
                <a:noFill/>
              </a:ln>
              <a:uLnTx/>
              <a:uFillTx/>
              <a:latin typeface="Arial" panose="020B0604020202020204" pitchFamily="34" charset="0"/>
              <a:ea typeface="+mj-ea"/>
              <a:cs typeface="Arial" panose="020B0604020202020204" pitchFamily="34" charset="0"/>
              <a:sym typeface="+mn-ea"/>
            </a:endParaRPr>
          </a:p>
        </p:txBody>
      </p:sp>
      <p:pic>
        <p:nvPicPr>
          <p:cNvPr id="3" name="图片 2"/>
          <p:cNvPicPr>
            <a:picLocks noChangeAspect="1"/>
          </p:cNvPicPr>
          <p:nvPr/>
        </p:nvPicPr>
        <p:blipFill>
          <a:blip r:embed="rId1"/>
          <a:stretch>
            <a:fillRect/>
          </a:stretch>
        </p:blipFill>
        <p:spPr>
          <a:xfrm>
            <a:off x="-3810" y="1171575"/>
            <a:ext cx="9102725" cy="533336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a:xfrm>
            <a:off x="885825" y="2439988"/>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Reduction to Relation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a:xfrm>
            <a:off x="885825" y="114300"/>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Reduction to Relation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86018" name="Rectangle 3"/>
          <p:cNvSpPr>
            <a:spLocks noGrp="1"/>
          </p:cNvSpPr>
          <p:nvPr>
            <p:ph idx="1"/>
          </p:nvPr>
        </p:nvSpPr>
        <p:spPr>
          <a:xfrm>
            <a:off x="150813" y="968375"/>
            <a:ext cx="8783637" cy="5122863"/>
          </a:xfrm>
        </p:spPr>
        <p:txBody>
          <a:bodyPr vert="horz" wrap="square" lIns="91440" tIns="45720" rIns="91440" bIns="45720" anchor="t" anchorCtr="0"/>
          <a:lstStyle/>
          <a:p>
            <a:r>
              <a:rPr lang="en-US" altLang="zh-CN" sz="2400" dirty="0">
                <a:solidFill>
                  <a:srgbClr val="006600"/>
                </a:solidFill>
              </a:rPr>
              <a:t>Entity sets </a:t>
            </a:r>
            <a:r>
              <a:rPr lang="en-US" altLang="zh-CN" sz="2400" dirty="0"/>
              <a:t>and </a:t>
            </a:r>
            <a:r>
              <a:rPr lang="en-US" altLang="zh-CN" sz="2400" dirty="0">
                <a:solidFill>
                  <a:srgbClr val="006600"/>
                </a:solidFill>
              </a:rPr>
              <a:t>relationship sets</a:t>
            </a:r>
            <a:r>
              <a:rPr lang="en-US" altLang="zh-CN" sz="2400" dirty="0"/>
              <a:t> can be expressed uniformly as</a:t>
            </a:r>
            <a:r>
              <a:rPr lang="en-US" altLang="zh-CN" sz="2400" b="1" u="sng" dirty="0">
                <a:solidFill>
                  <a:srgbClr val="C00000"/>
                </a:solidFill>
              </a:rPr>
              <a:t> </a:t>
            </a:r>
            <a:r>
              <a:rPr lang="en-US" altLang="zh-CN" sz="2400" b="1" i="1" u="sng" dirty="0">
                <a:solidFill>
                  <a:srgbClr val="C00000"/>
                </a:solidFill>
              </a:rPr>
              <a:t>relation schemas </a:t>
            </a:r>
            <a:r>
              <a:rPr lang="en-US" altLang="zh-CN" sz="2400" dirty="0"/>
              <a:t>that represent the contents of the database.</a:t>
            </a:r>
            <a:endParaRPr lang="en-US" altLang="zh-CN" sz="2400" dirty="0"/>
          </a:p>
          <a:p>
            <a:r>
              <a:rPr lang="en-US" altLang="zh-CN" sz="2400" dirty="0">
                <a:solidFill>
                  <a:srgbClr val="C00000"/>
                </a:solidFill>
              </a:rPr>
              <a:t>A database</a:t>
            </a:r>
            <a:r>
              <a:rPr lang="en-US" altLang="zh-CN" sz="2400" dirty="0"/>
              <a:t> which conforms to an E-R diagram can be represented by</a:t>
            </a:r>
            <a:r>
              <a:rPr lang="en-US" altLang="zh-CN" sz="2400" dirty="0">
                <a:solidFill>
                  <a:srgbClr val="006600"/>
                </a:solidFill>
              </a:rPr>
              <a:t> a collection of schemas</a:t>
            </a:r>
            <a:r>
              <a:rPr lang="en-US" altLang="zh-CN" sz="2400" dirty="0"/>
              <a:t>.</a:t>
            </a:r>
            <a:endParaRPr lang="en-US" altLang="zh-CN" sz="2400" dirty="0"/>
          </a:p>
          <a:p>
            <a:r>
              <a:rPr lang="en-US" altLang="zh-CN" sz="2400" dirty="0"/>
              <a:t>For each </a:t>
            </a:r>
            <a:r>
              <a:rPr lang="en-US" altLang="zh-CN" sz="2400" dirty="0">
                <a:solidFill>
                  <a:srgbClr val="006600"/>
                </a:solidFill>
              </a:rPr>
              <a:t>entity set</a:t>
            </a:r>
            <a:r>
              <a:rPr lang="en-US" altLang="zh-CN" sz="2400" dirty="0"/>
              <a:t> and </a:t>
            </a:r>
            <a:r>
              <a:rPr lang="en-US" altLang="zh-CN" sz="2400" dirty="0">
                <a:solidFill>
                  <a:srgbClr val="006600"/>
                </a:solidFill>
              </a:rPr>
              <a:t>relationship set</a:t>
            </a:r>
            <a:r>
              <a:rPr lang="en-US" altLang="zh-CN" sz="2400" dirty="0"/>
              <a:t> there is </a:t>
            </a:r>
            <a:r>
              <a:rPr lang="en-US" altLang="zh-CN" sz="2400" dirty="0">
                <a:solidFill>
                  <a:srgbClr val="C00000"/>
                </a:solidFill>
              </a:rPr>
              <a:t>a unique schema</a:t>
            </a:r>
            <a:r>
              <a:rPr lang="en-US" altLang="zh-CN" sz="2400" dirty="0"/>
              <a:t> that is assigned </a:t>
            </a:r>
            <a:r>
              <a:rPr lang="en-US" altLang="zh-CN" sz="2400" dirty="0">
                <a:solidFill>
                  <a:srgbClr val="C00000"/>
                </a:solidFill>
              </a:rPr>
              <a:t>the name </a:t>
            </a:r>
            <a:r>
              <a:rPr lang="en-US" altLang="zh-CN" sz="2400" dirty="0"/>
              <a:t>of the corresponding entity set or relationship set.</a:t>
            </a:r>
            <a:endParaRPr lang="en-US" altLang="zh-CN" sz="2400" dirty="0"/>
          </a:p>
          <a:p>
            <a:r>
              <a:rPr lang="en-US" altLang="zh-CN" sz="2400" dirty="0"/>
              <a:t>Each schema has a number of columns (generally corresponding to attributes), which have unique names.</a:t>
            </a:r>
            <a:endParaRPr lang="en-US" altLang="zh-CN"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Representing Entity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sp>
        <p:nvSpPr>
          <p:cNvPr id="88066" name="Rectangle 3"/>
          <p:cNvSpPr>
            <a:spLocks noGrp="1"/>
          </p:cNvSpPr>
          <p:nvPr>
            <p:ph idx="1"/>
          </p:nvPr>
        </p:nvSpPr>
        <p:spPr>
          <a:xfrm>
            <a:off x="150813" y="1141413"/>
            <a:ext cx="8993188" cy="2528888"/>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1" u="sng" strike="noStrike" kern="0" cap="none" spc="0" normalizeH="0" baseline="0" noProof="1">
                <a:solidFill>
                  <a:srgbClr val="000099"/>
                </a:solidFill>
                <a:effectLst>
                  <a:outerShdw blurRad="38100" dist="38100" dir="2700000" algn="tl">
                    <a:srgbClr val="000000">
                      <a:alpha val="43137"/>
                    </a:srgbClr>
                  </a:outerShdw>
                </a:effectLst>
                <a:latin typeface="Arial" panose="020B0604020202020204"/>
                <a:ea typeface="宋体" panose="02010600030101010101" pitchFamily="2" charset="-122"/>
                <a:cs typeface="Arial" panose="020B0604020202020204"/>
              </a:rPr>
              <a:t>A strong entity set</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reduces to a schema with the same attributes</a:t>
            </a:r>
            <a:endPar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student(</a:t>
            </a:r>
            <a:r>
              <a:rPr kumimoji="1" lang="en-US" altLang="zh-CN" sz="2400" b="0" i="1" u="sng" strike="noStrike" kern="0" cap="none" spc="0" normalizeH="0" baseline="0" noProof="1">
                <a:solidFill>
                  <a:schemeClr val="tx1"/>
                </a:solidFill>
                <a:latin typeface="Arial" panose="020B0604020202020204"/>
                <a:ea typeface="宋体" panose="02010600030101010101" pitchFamily="2" charset="-122"/>
                <a:cs typeface="Arial" panose="020B0604020202020204"/>
              </a:rPr>
              <a:t>ID</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name, tot_cred)</a:t>
            </a:r>
            <a:endPar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1" u="sng" strike="noStrike" kern="0" cap="none" spc="0" normalizeH="0" baseline="0" noProof="1">
                <a:solidFill>
                  <a:srgbClr val="000099"/>
                </a:solidFill>
                <a:effectLst>
                  <a:outerShdw blurRad="38100" dist="38100" dir="2700000" algn="tl">
                    <a:srgbClr val="000000">
                      <a:alpha val="43137"/>
                    </a:srgbClr>
                  </a:outerShdw>
                </a:effectLst>
                <a:latin typeface="Arial" panose="020B0604020202020204"/>
                <a:ea typeface="宋体" panose="02010600030101010101" pitchFamily="2" charset="-122"/>
                <a:cs typeface="Arial" panose="020B0604020202020204"/>
              </a:rPr>
              <a:t>A weak entity set</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becomes a table that includes a column for the primary key of the identifying strong entity set </a:t>
            </a:r>
            <a:endPar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br>
              <a:rPr lang="en-US" altLang="zh-CN" sz="2400" dirty="0"/>
            </a:b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section ( </a:t>
            </a:r>
            <a:r>
              <a:rPr kumimoji="1" lang="en-US" altLang="zh-CN" sz="2400" b="0" i="1" u="sng" strike="noStrike" kern="0" cap="none" spc="0" normalizeH="0" baseline="0" noProof="1">
                <a:solidFill>
                  <a:srgbClr val="C00000"/>
                </a:solidFill>
                <a:latin typeface="Arial" panose="020B0604020202020204"/>
                <a:ea typeface="宋体" panose="02010600030101010101" pitchFamily="2" charset="-122"/>
                <a:cs typeface="Arial" panose="020B0604020202020204"/>
              </a:rPr>
              <a:t>course_id</a:t>
            </a:r>
            <a:r>
              <a:rPr kumimoji="1" lang="en-US" altLang="zh-CN" sz="2400" b="0" i="1" u="sng" strike="noStrike" kern="0" cap="none" spc="0" normalizeH="0" baseline="0" noProof="1">
                <a:solidFill>
                  <a:schemeClr val="tx1"/>
                </a:solidFill>
                <a:latin typeface="Arial" panose="020B0604020202020204"/>
                <a:ea typeface="宋体" panose="02010600030101010101" pitchFamily="2" charset="-122"/>
                <a:cs typeface="Arial" panose="020B0604020202020204"/>
              </a:rPr>
              <a:t>, sec_id, sem, year</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endPar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p:txBody>
      </p:sp>
      <p:pic>
        <p:nvPicPr>
          <p:cNvPr id="88067" name="Picture 3"/>
          <p:cNvPicPr>
            <a:picLocks noChangeAspect="1"/>
          </p:cNvPicPr>
          <p:nvPr/>
        </p:nvPicPr>
        <p:blipFill>
          <a:blip r:embed="rId1"/>
          <a:stretch>
            <a:fillRect/>
          </a:stretch>
        </p:blipFill>
        <p:spPr>
          <a:xfrm>
            <a:off x="684213" y="4503738"/>
            <a:ext cx="7715250" cy="1636712"/>
          </a:xfrm>
          <a:prstGeom prst="rect">
            <a:avLst/>
          </a:prstGeom>
          <a:noFill/>
          <a:ln w="9525">
            <a:noFill/>
          </a:ln>
        </p:spPr>
      </p:pic>
      <p:sp>
        <p:nvSpPr>
          <p:cNvPr id="88068" name="椭圆 1"/>
          <p:cNvSpPr/>
          <p:nvPr/>
        </p:nvSpPr>
        <p:spPr>
          <a:xfrm>
            <a:off x="887413" y="5037138"/>
            <a:ext cx="1258887" cy="341312"/>
          </a:xfrm>
          <a:prstGeom prst="ellipse">
            <a:avLst/>
          </a:prstGeom>
          <a:noFill/>
          <a:ln w="9525" cap="flat" cmpd="sng">
            <a:solidFill>
              <a:srgbClr val="C00000"/>
            </a:solidFill>
            <a:prstDash val="solid"/>
            <a:round/>
            <a:headEnd type="none" w="med" len="med"/>
            <a:tailEnd type="none" w="med" len="med"/>
          </a:ln>
        </p:spPr>
        <p:txBody>
          <a:bodyPr wrap="none" lIns="91440" tIns="45720" rIns="91440" bIns="45720" anchor="t" anchorCtr="0"/>
          <a:lstStyle/>
          <a:p>
            <a:pPr eaLnBrk="0" hangingPunct="0">
              <a:buSzTx/>
            </a:pPr>
            <a:endParaRPr lang="en-US" altLang="en-US">
              <a:latin typeface="Helvetica"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a:xfrm>
            <a:off x="666750" y="96838"/>
            <a:ext cx="8429625" cy="60325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Representing Relationship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sp>
        <p:nvSpPr>
          <p:cNvPr id="90114" name="Rectangle 3"/>
          <p:cNvSpPr>
            <a:spLocks noGrp="1"/>
          </p:cNvSpPr>
          <p:nvPr>
            <p:ph idx="1"/>
          </p:nvPr>
        </p:nvSpPr>
        <p:spPr>
          <a:xfrm>
            <a:off x="193675" y="947738"/>
            <a:ext cx="8783638" cy="3076575"/>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1" u="sng" strike="noStrike" kern="0" cap="none" spc="0" normalizeH="0" baseline="0" noProof="1">
                <a:solidFill>
                  <a:srgbClr val="000099"/>
                </a:solidFill>
                <a:effectLst>
                  <a:outerShdw blurRad="38100" dist="38100" dir="2700000" algn="tl">
                    <a:srgbClr val="000000">
                      <a:alpha val="43137"/>
                    </a:srgbClr>
                  </a:outerShdw>
                </a:effectLst>
                <a:latin typeface="Arial" panose="020B0604020202020204"/>
                <a:ea typeface="宋体" panose="02010600030101010101" pitchFamily="2" charset="-122"/>
                <a:cs typeface="Arial" panose="020B0604020202020204"/>
              </a:rPr>
              <a:t>A many-to-many relationship set</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is represented as a schema with attributes for the primary keys of the two participating entity sets, and any descriptive attributes of the relationship set. </a:t>
            </a:r>
            <a:endPar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Example: schema for relationship set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advisor</a:t>
            </a:r>
            <a:endPar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advisor = </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t>
            </a:r>
            <a:r>
              <a:rPr kumimoji="1" lang="en-US" altLang="zh-CN" sz="2400" b="0" i="1" u="sng" strike="noStrike" kern="0" cap="none" spc="0" normalizeH="0" baseline="0" noProof="1">
                <a:solidFill>
                  <a:schemeClr val="tx1"/>
                </a:solidFill>
                <a:latin typeface="Arial" panose="020B0604020202020204"/>
                <a:ea typeface="宋体" panose="02010600030101010101" pitchFamily="2" charset="-122"/>
                <a:cs typeface="Arial" panose="020B0604020202020204"/>
              </a:rPr>
              <a:t>s_id, i_id</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t>
            </a:r>
            <a:endPar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p:txBody>
      </p:sp>
      <p:pic>
        <p:nvPicPr>
          <p:cNvPr id="90115" name="Picture 6"/>
          <p:cNvPicPr>
            <a:picLocks noChangeAspect="1"/>
          </p:cNvPicPr>
          <p:nvPr/>
        </p:nvPicPr>
        <p:blipFill>
          <a:blip r:embed="rId1"/>
          <a:stretch>
            <a:fillRect/>
          </a:stretch>
        </p:blipFill>
        <p:spPr>
          <a:xfrm>
            <a:off x="241300" y="4046538"/>
            <a:ext cx="8718550" cy="1784350"/>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773113" y="-11112"/>
            <a:ext cx="8370888"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Representation of Entity Sets with Composite Attributes</a:t>
            </a:r>
            <a:endPar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92162" name="Rectangle 3"/>
          <p:cNvSpPr>
            <a:spLocks noGrp="1"/>
          </p:cNvSpPr>
          <p:nvPr>
            <p:ph type="body"/>
          </p:nvPr>
        </p:nvSpPr>
        <p:spPr>
          <a:xfrm>
            <a:off x="2849563" y="1104900"/>
            <a:ext cx="6026150" cy="5097463"/>
          </a:xfrm>
        </p:spPr>
        <p:txBody>
          <a:bodyPr vert="horz" wrap="square" lIns="91440" tIns="45720" rIns="91440" bIns="45720" anchor="t" anchorCtr="0"/>
          <a:lstStyle/>
          <a:p>
            <a:r>
              <a:rPr lang="en-US" altLang="zh-CN" b="1" i="1" dirty="0">
                <a:solidFill>
                  <a:srgbClr val="C00000"/>
                </a:solidFill>
              </a:rPr>
              <a:t>Composite attributes</a:t>
            </a:r>
            <a:r>
              <a:rPr lang="en-US" altLang="zh-CN" dirty="0">
                <a:solidFill>
                  <a:srgbClr val="000099"/>
                </a:solidFill>
              </a:rPr>
              <a:t> are flattened out by creating a separate attribute for each component attribute</a:t>
            </a:r>
            <a:endParaRPr lang="en-US" altLang="zh-CN" dirty="0">
              <a:solidFill>
                <a:srgbClr val="000099"/>
              </a:solidFill>
            </a:endParaRPr>
          </a:p>
          <a:p>
            <a:pPr lvl="1"/>
            <a:r>
              <a:rPr lang="en-US" altLang="zh-CN" dirty="0"/>
              <a:t>Example: given entity set </a:t>
            </a:r>
            <a:r>
              <a:rPr lang="en-US" altLang="zh-CN" i="1" dirty="0"/>
              <a:t>instructor</a:t>
            </a:r>
            <a:r>
              <a:rPr lang="en-US" altLang="zh-CN" dirty="0"/>
              <a:t> with composite attribute </a:t>
            </a:r>
            <a:r>
              <a:rPr lang="en-US" altLang="zh-CN" i="1" dirty="0"/>
              <a:t>name</a:t>
            </a:r>
            <a:r>
              <a:rPr lang="en-US" altLang="zh-CN" dirty="0"/>
              <a:t> with component attributes </a:t>
            </a:r>
            <a:r>
              <a:rPr lang="en-US" altLang="zh-CN" i="1" dirty="0"/>
              <a:t>first_name </a:t>
            </a:r>
            <a:r>
              <a:rPr lang="en-US" altLang="zh-CN" dirty="0"/>
              <a:t>and </a:t>
            </a:r>
            <a:r>
              <a:rPr lang="en-US" altLang="zh-CN" i="1" dirty="0"/>
              <a:t>last_name</a:t>
            </a:r>
            <a:r>
              <a:rPr lang="en-US" altLang="zh-CN" dirty="0"/>
              <a:t> the schema corresponding to the entity set has two attributes </a:t>
            </a:r>
            <a:r>
              <a:rPr lang="en-US" altLang="zh-CN" i="1" dirty="0"/>
              <a:t>name_first_name</a:t>
            </a:r>
            <a:r>
              <a:rPr lang="en-US" altLang="zh-CN" dirty="0"/>
              <a:t>  and </a:t>
            </a:r>
            <a:r>
              <a:rPr lang="en-US" altLang="zh-CN" i="1" dirty="0"/>
              <a:t>name_last_name</a:t>
            </a:r>
            <a:endParaRPr lang="en-US" altLang="zh-CN" i="1" dirty="0"/>
          </a:p>
          <a:p>
            <a:pPr lvl="2"/>
            <a:r>
              <a:rPr lang="en-US" altLang="zh-CN" dirty="0"/>
              <a:t>Prefix omitted if there is no ambiguity (</a:t>
            </a:r>
            <a:r>
              <a:rPr lang="en-US" altLang="zh-CN" i="1" dirty="0"/>
              <a:t>name_first_name </a:t>
            </a:r>
            <a:r>
              <a:rPr lang="en-US" altLang="zh-CN" dirty="0"/>
              <a:t>could be </a:t>
            </a:r>
            <a:r>
              <a:rPr lang="en-US" altLang="zh-CN" i="1" dirty="0"/>
              <a:t>first_name)</a:t>
            </a:r>
            <a:endParaRPr lang="en-US" altLang="zh-CN" dirty="0"/>
          </a:p>
          <a:p>
            <a:r>
              <a:rPr lang="en-US" altLang="zh-CN" dirty="0"/>
              <a:t>Ignoring </a:t>
            </a:r>
            <a:r>
              <a:rPr lang="en-US" altLang="zh-CN" b="1" i="1" dirty="0">
                <a:solidFill>
                  <a:srgbClr val="C00000"/>
                </a:solidFill>
              </a:rPr>
              <a:t>multivalued attributes</a:t>
            </a:r>
            <a:r>
              <a:rPr lang="en-US" altLang="zh-CN" dirty="0"/>
              <a:t>, extended instructor schema is</a:t>
            </a:r>
            <a:endParaRPr lang="en-US" altLang="zh-CN" dirty="0"/>
          </a:p>
          <a:p>
            <a:pPr lvl="1"/>
            <a:r>
              <a:rPr lang="en-US" altLang="zh-CN" i="1" dirty="0"/>
              <a:t>instructor(ID, </a:t>
            </a:r>
            <a:br>
              <a:rPr lang="en-US" altLang="zh-CN" i="1" dirty="0"/>
            </a:br>
            <a:r>
              <a:rPr lang="en-US" altLang="zh-CN" i="1" dirty="0"/>
              <a:t>      first_name, middle_initial,  last_name,</a:t>
            </a:r>
            <a:br>
              <a:rPr lang="en-US" altLang="zh-CN" i="1" dirty="0"/>
            </a:br>
            <a:r>
              <a:rPr lang="en-US" altLang="zh-CN" i="1" dirty="0"/>
              <a:t>      street_number, street_name,  </a:t>
            </a:r>
            <a:br>
              <a:rPr lang="en-US" altLang="zh-CN" i="1" dirty="0"/>
            </a:br>
            <a:r>
              <a:rPr lang="en-US" altLang="zh-CN" i="1" dirty="0"/>
              <a:t>           apt_number, city, state, zip_code,  </a:t>
            </a:r>
            <a:br>
              <a:rPr lang="en-US" altLang="zh-CN" i="1" dirty="0"/>
            </a:br>
            <a:r>
              <a:rPr lang="en-US" altLang="zh-CN" i="1" dirty="0"/>
              <a:t>      date_of_birth)</a:t>
            </a:r>
            <a:endParaRPr lang="en-US" altLang="zh-CN" i="1" dirty="0"/>
          </a:p>
          <a:p>
            <a:pPr lvl="1"/>
            <a:endParaRPr lang="en-US" altLang="zh-CN" dirty="0"/>
          </a:p>
        </p:txBody>
      </p:sp>
      <p:pic>
        <p:nvPicPr>
          <p:cNvPr id="92163" name="Picture 5"/>
          <p:cNvPicPr>
            <a:picLocks noChangeAspect="1"/>
          </p:cNvPicPr>
          <p:nvPr/>
        </p:nvPicPr>
        <p:blipFill>
          <a:blip r:embed="rId1"/>
          <a:stretch>
            <a:fillRect/>
          </a:stretch>
        </p:blipFill>
        <p:spPr>
          <a:xfrm>
            <a:off x="355600" y="1249363"/>
            <a:ext cx="2284413" cy="48418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631825" y="47625"/>
            <a:ext cx="8537575"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Representation of Entity Sets with </a:t>
            </a: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Multivalued Attributes</a:t>
            </a:r>
            <a:endPar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94210" name="Rectangle 3"/>
          <p:cNvSpPr>
            <a:spLocks noGrp="1"/>
          </p:cNvSpPr>
          <p:nvPr>
            <p:ph type="body" idx="4294967295"/>
          </p:nvPr>
        </p:nvSpPr>
        <p:spPr>
          <a:xfrm>
            <a:off x="107950" y="906460"/>
            <a:ext cx="9036050" cy="5529265"/>
          </a:xfrm>
        </p:spPr>
        <p:txBody>
          <a:bodyPr vert="horz" wrap="square" lIns="91440" tIns="45720" rIns="91440" bIns="45720" anchor="t"/>
          <a:lstStyle/>
          <a:p>
            <a:pPr fontAlgn="base"/>
            <a:r>
              <a:rPr lang="en-US" altLang="zh-CN" sz="2400" strike="noStrike" noProof="1">
                <a:solidFill>
                  <a:srgbClr val="000099"/>
                </a:solidFill>
              </a:rPr>
              <a:t>A multivalued attribute </a:t>
            </a:r>
            <a:r>
              <a:rPr lang="en-US" altLang="zh-CN" sz="2400" i="1" strike="noStrike" noProof="1">
                <a:solidFill>
                  <a:srgbClr val="000099"/>
                </a:solidFill>
              </a:rPr>
              <a:t>M</a:t>
            </a:r>
            <a:r>
              <a:rPr lang="en-US" altLang="zh-CN" sz="2400" strike="noStrike" noProof="1">
                <a:solidFill>
                  <a:srgbClr val="000099"/>
                </a:solidFill>
              </a:rPr>
              <a:t> of an entity </a:t>
            </a:r>
            <a:r>
              <a:rPr lang="en-US" altLang="zh-CN" sz="2400" i="1" strike="noStrike" noProof="1">
                <a:solidFill>
                  <a:srgbClr val="000099"/>
                </a:solidFill>
              </a:rPr>
              <a:t>E</a:t>
            </a:r>
            <a:r>
              <a:rPr lang="en-US" altLang="zh-CN" sz="2400" strike="noStrike" noProof="1">
                <a:solidFill>
                  <a:srgbClr val="000099"/>
                </a:solidFill>
              </a:rPr>
              <a:t> is represented by a separate schema </a:t>
            </a:r>
            <a:r>
              <a:rPr lang="en-US" altLang="zh-CN" sz="2400" i="1" strike="noStrike" noProof="1">
                <a:solidFill>
                  <a:srgbClr val="000099"/>
                </a:solidFill>
              </a:rPr>
              <a:t>EM</a:t>
            </a:r>
            <a:endParaRPr lang="en-US" altLang="zh-CN" sz="2400" strike="noStrike" noProof="1">
              <a:solidFill>
                <a:srgbClr val="000099"/>
              </a:solidFill>
            </a:endParaRPr>
          </a:p>
          <a:p>
            <a:pPr fontAlgn="base"/>
            <a:r>
              <a:rPr lang="en-US" altLang="zh-CN" sz="2400" strike="noStrike" noProof="1"/>
              <a:t>Schema </a:t>
            </a:r>
            <a:r>
              <a:rPr lang="en-US" altLang="zh-CN" sz="2400" i="1" strike="noStrike" noProof="1"/>
              <a:t>EM</a:t>
            </a:r>
            <a:r>
              <a:rPr lang="en-US" altLang="zh-CN" sz="2400" strike="noStrike" noProof="1"/>
              <a:t> has attributes corresponding to the </a:t>
            </a:r>
            <a:r>
              <a:rPr lang="en-US" altLang="zh-CN" sz="2400" strike="noStrike" noProof="1">
                <a:solidFill>
                  <a:srgbClr val="000099"/>
                </a:solidFill>
              </a:rPr>
              <a:t>primary key of </a:t>
            </a:r>
            <a:r>
              <a:rPr lang="en-US" altLang="zh-CN" sz="2400" i="1" strike="noStrike" noProof="1">
                <a:solidFill>
                  <a:srgbClr val="000099"/>
                </a:solidFill>
              </a:rPr>
              <a:t>E</a:t>
            </a:r>
            <a:r>
              <a:rPr lang="en-US" altLang="zh-CN" sz="2400" strike="noStrike" noProof="1">
                <a:solidFill>
                  <a:srgbClr val="000099"/>
                </a:solidFill>
              </a:rPr>
              <a:t> and an attribute corresponding to multivalued attribute </a:t>
            </a:r>
            <a:r>
              <a:rPr lang="en-US" altLang="zh-CN" sz="2400" i="1" strike="noStrike" noProof="1">
                <a:solidFill>
                  <a:srgbClr val="000099"/>
                </a:solidFill>
              </a:rPr>
              <a:t>M</a:t>
            </a:r>
            <a:endParaRPr lang="en-US" altLang="zh-CN" sz="2400" strike="noStrike" noProof="1"/>
          </a:p>
          <a:p>
            <a:pPr fontAlgn="base"/>
            <a:r>
              <a:rPr lang="en-US" altLang="zh-CN" sz="2400" strike="noStrike" noProof="1"/>
              <a:t>Example:  Multivalued attribute </a:t>
            </a:r>
            <a:r>
              <a:rPr lang="en-US" altLang="zh-CN" sz="2400" i="1" strike="noStrike" noProof="1"/>
              <a:t>phone_number </a:t>
            </a:r>
            <a:r>
              <a:rPr lang="en-US" altLang="zh-CN" sz="2400" strike="noStrike" noProof="1"/>
              <a:t>of </a:t>
            </a:r>
            <a:r>
              <a:rPr lang="en-US" altLang="zh-CN" sz="2400" i="1" strike="noStrike" noProof="1"/>
              <a:t>instructor</a:t>
            </a:r>
            <a:r>
              <a:rPr lang="en-US" altLang="zh-CN" sz="2400" strike="noStrike" noProof="1"/>
              <a:t> is represented by a schema:</a:t>
            </a:r>
            <a:br>
              <a:rPr lang="en-US" altLang="zh-CN" sz="2400" dirty="0"/>
            </a:br>
            <a:r>
              <a:rPr lang="en-US" altLang="zh-CN" sz="2400" strike="noStrike" noProof="1"/>
              <a:t>    </a:t>
            </a:r>
            <a:r>
              <a:rPr lang="en-US" altLang="zh-CN" sz="2400" i="1" strike="noStrike" noProof="1">
                <a:gradFill>
                  <a:gsLst>
                    <a:gs pos="0">
                      <a:srgbClr val="E30000"/>
                    </a:gs>
                    <a:gs pos="100000">
                      <a:srgbClr val="760303"/>
                    </a:gs>
                  </a:gsLst>
                  <a:lin scaled="0"/>
                </a:gradFill>
              </a:rPr>
              <a:t>inst_phone</a:t>
            </a:r>
            <a:r>
              <a:rPr lang="en-US" altLang="zh-CN" sz="2400" i="1" strike="noStrike" noProof="1"/>
              <a:t>= </a:t>
            </a:r>
            <a:r>
              <a:rPr lang="en-US" altLang="zh-CN" sz="2400" strike="noStrike" noProof="1"/>
              <a:t>(</a:t>
            </a:r>
            <a:r>
              <a:rPr lang="en-US" altLang="zh-CN" sz="2400" i="1" strike="noStrike" noProof="1"/>
              <a:t> </a:t>
            </a:r>
            <a:r>
              <a:rPr lang="en-US" altLang="zh-CN" sz="2400" i="1" u="sng" strike="noStrike" noProof="1"/>
              <a:t>ID</a:t>
            </a:r>
            <a:r>
              <a:rPr lang="en-US" altLang="zh-CN" sz="2400" i="1" strike="noStrike" noProof="1"/>
              <a:t>, </a:t>
            </a:r>
            <a:r>
              <a:rPr lang="en-US" altLang="zh-CN" sz="2400" i="1" u="sng" strike="noStrike" noProof="1"/>
              <a:t>phone_number</a:t>
            </a:r>
            <a:r>
              <a:rPr lang="en-US" altLang="zh-CN" sz="2400" strike="noStrike" noProof="1"/>
              <a:t>)</a:t>
            </a:r>
            <a:r>
              <a:rPr lang="en-US" altLang="zh-CN" sz="2400" i="1" strike="noStrike" noProof="1"/>
              <a:t> </a:t>
            </a:r>
            <a:endParaRPr lang="en-US" altLang="zh-CN" sz="2400" i="1" strike="noStrike" noProof="1"/>
          </a:p>
          <a:p>
            <a:pPr fontAlgn="base"/>
            <a:r>
              <a:rPr lang="en-US" altLang="zh-CN" sz="2400" strike="noStrike" noProof="1">
                <a:solidFill>
                  <a:srgbClr val="000099"/>
                </a:solidFill>
              </a:rPr>
              <a:t>Each value of the multivalued attribute maps to a separate tuple of the relation on schema </a:t>
            </a:r>
            <a:r>
              <a:rPr lang="en-US" altLang="zh-CN" sz="2400" i="1" strike="noStrike" noProof="1">
                <a:solidFill>
                  <a:srgbClr val="000099"/>
                </a:solidFill>
              </a:rPr>
              <a:t>EM</a:t>
            </a:r>
            <a:endParaRPr lang="en-US" altLang="zh-CN" sz="2400" strike="noStrike" noProof="1"/>
          </a:p>
          <a:p>
            <a:pPr lvl="1" fontAlgn="base"/>
            <a:r>
              <a:rPr lang="en-US" altLang="zh-CN" sz="2400" strike="noStrike" noProof="1"/>
              <a:t>For example, an </a:t>
            </a:r>
            <a:r>
              <a:rPr lang="en-US" altLang="zh-CN" sz="2400" i="1" strike="noStrike" noProof="1"/>
              <a:t>instructor</a:t>
            </a:r>
            <a:r>
              <a:rPr lang="en-US" altLang="zh-CN" sz="2400" strike="noStrike" noProof="1"/>
              <a:t> entity with primary key  22222 and phone numbers 456-7890 and 123-4567 maps to two tuples:   (22222, 456-7890) and (22222, 123-4567) </a:t>
            </a:r>
            <a:endParaRPr lang="en-US" altLang="zh-CN" sz="2400" strike="noStrike" noProof="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Redundancy of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96258" name="Rectangle 4"/>
          <p:cNvSpPr/>
          <p:nvPr/>
        </p:nvSpPr>
        <p:spPr>
          <a:xfrm>
            <a:off x="0" y="1079500"/>
            <a:ext cx="9144000" cy="2125663"/>
          </a:xfrm>
          <a:prstGeom prst="rect">
            <a:avLst/>
          </a:prstGeom>
          <a:noFill/>
          <a:ln w="9525">
            <a:noFill/>
          </a:ln>
        </p:spPr>
        <p:txBody>
          <a:bodyPr anchor="t" anchorCtr="0"/>
          <a:lstStyle/>
          <a:p>
            <a:pPr marL="342900" indent="-342900" eaLnBrk="0" hangingPunct="0">
              <a:lnSpc>
                <a:spcPct val="90000"/>
              </a:lnSpc>
              <a:spcBef>
                <a:spcPct val="35000"/>
              </a:spcBef>
              <a:buClr>
                <a:schemeClr val="tx2"/>
              </a:buClr>
              <a:buSzPct val="90000"/>
              <a:buFont typeface="Monotype Sorts" charset="2"/>
              <a:buChar char="n"/>
            </a:pPr>
            <a:r>
              <a:rPr lang="en-US" altLang="zh-CN" sz="2400" dirty="0">
                <a:solidFill>
                  <a:srgbClr val="000099"/>
                </a:solidFill>
                <a:latin typeface="Arial" panose="020B0604020202020204" pitchFamily="34" charset="0"/>
              </a:rPr>
              <a:t>Many-to-one and one-to-many relationship sets</a:t>
            </a:r>
            <a:r>
              <a:rPr lang="en-US" altLang="zh-CN" sz="2400" dirty="0">
                <a:latin typeface="Arial" panose="020B0604020202020204" pitchFamily="34" charset="0"/>
              </a:rPr>
              <a:t> that are total on the many-side can be represented by </a:t>
            </a:r>
            <a:r>
              <a:rPr lang="en-US" altLang="zh-CN" sz="2400" dirty="0">
                <a:solidFill>
                  <a:srgbClr val="C00000"/>
                </a:solidFill>
                <a:latin typeface="Arial" panose="020B0604020202020204" pitchFamily="34" charset="0"/>
              </a:rPr>
              <a:t>adding an extra attribute to the </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many</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 side, containing the primary key of the </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one</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 side</a:t>
            </a:r>
            <a:endParaRPr lang="en-US" altLang="zh-CN" sz="2400" dirty="0">
              <a:latin typeface="Arial" panose="020B0604020202020204" pitchFamily="34" charset="0"/>
            </a:endParaRPr>
          </a:p>
          <a:p>
            <a:pPr marL="342900" indent="-342900" eaLnBrk="0" hangingPunct="0">
              <a:lnSpc>
                <a:spcPct val="90000"/>
              </a:lnSpc>
              <a:spcBef>
                <a:spcPct val="35000"/>
              </a:spcBef>
              <a:buClr>
                <a:schemeClr val="tx2"/>
              </a:buClr>
              <a:buSzPct val="90000"/>
              <a:buFont typeface="Monotype Sorts" charset="2"/>
              <a:buChar char="n"/>
            </a:pPr>
            <a:r>
              <a:rPr lang="en-US" altLang="zh-CN" sz="2400" dirty="0">
                <a:latin typeface="Arial" panose="020B0604020202020204" pitchFamily="34" charset="0"/>
              </a:rPr>
              <a:t>Example: Instead of creating a schema for relationship set </a:t>
            </a:r>
            <a:r>
              <a:rPr lang="en-US" altLang="zh-CN" sz="2400" i="1" dirty="0">
                <a:latin typeface="Arial" panose="020B0604020202020204" pitchFamily="34" charset="0"/>
              </a:rPr>
              <a:t>inst_dept</a:t>
            </a:r>
            <a:r>
              <a:rPr lang="en-US" altLang="zh-CN" sz="2400" dirty="0">
                <a:latin typeface="Arial" panose="020B0604020202020204" pitchFamily="34" charset="0"/>
              </a:rPr>
              <a:t>, add an attribute </a:t>
            </a:r>
            <a:r>
              <a:rPr lang="en-US" altLang="zh-CN" sz="2400" i="1" dirty="0">
                <a:latin typeface="Arial" panose="020B0604020202020204" pitchFamily="34" charset="0"/>
              </a:rPr>
              <a:t>dept_name</a:t>
            </a:r>
            <a:r>
              <a:rPr lang="en-US" altLang="zh-CN" sz="2400" dirty="0">
                <a:latin typeface="Arial" panose="020B0604020202020204" pitchFamily="34" charset="0"/>
              </a:rPr>
              <a:t> to the schema arising from entity set </a:t>
            </a:r>
            <a:r>
              <a:rPr lang="en-US" altLang="zh-CN" sz="2400" i="1" dirty="0">
                <a:latin typeface="Arial" panose="020B0604020202020204" pitchFamily="34" charset="0"/>
              </a:rPr>
              <a:t>instructor</a:t>
            </a:r>
            <a:endParaRPr lang="en-US" altLang="zh-CN" sz="2400" i="1" dirty="0">
              <a:latin typeface="Arial" panose="020B0604020202020204" pitchFamily="34" charset="0"/>
              <a:ea typeface="Arial" panose="020B0604020202020204" pitchFamily="34" charset="0"/>
            </a:endParaRPr>
          </a:p>
        </p:txBody>
      </p:sp>
      <p:sp>
        <p:nvSpPr>
          <p:cNvPr id="96259" name="Rectangle 6"/>
          <p:cNvSpPr/>
          <p:nvPr/>
        </p:nvSpPr>
        <p:spPr>
          <a:xfrm rot="-372694">
            <a:off x="1692275" y="3449638"/>
            <a:ext cx="1970088" cy="280987"/>
          </a:xfrm>
          <a:prstGeom prst="rect">
            <a:avLst/>
          </a:prstGeom>
          <a:solidFill>
            <a:schemeClr val="accent1"/>
          </a:solidFill>
          <a:ln w="9525">
            <a:noFill/>
          </a:ln>
        </p:spPr>
        <p:txBody>
          <a:bodyPr wrap="none" anchor="ctr" anchorCtr="0"/>
          <a:lstStyle/>
          <a:p>
            <a:pPr eaLnBrk="0" hangingPunct="0"/>
            <a:endParaRPr lang="en-US" altLang="en-US" dirty="0">
              <a:latin typeface="Helvetica" charset="0"/>
            </a:endParaRPr>
          </a:p>
        </p:txBody>
      </p:sp>
      <p:grpSp>
        <p:nvGrpSpPr>
          <p:cNvPr id="96260" name="Group 13"/>
          <p:cNvGrpSpPr/>
          <p:nvPr/>
        </p:nvGrpSpPr>
        <p:grpSpPr>
          <a:xfrm>
            <a:off x="925513" y="3287713"/>
            <a:ext cx="7443787" cy="3213100"/>
            <a:chOff x="0" y="1413"/>
            <a:chExt cx="5483" cy="2545"/>
          </a:xfrm>
        </p:grpSpPr>
        <p:pic>
          <p:nvPicPr>
            <p:cNvPr id="96261" name="Picture 6"/>
            <p:cNvPicPr>
              <a:picLocks noChangeAspect="1"/>
            </p:cNvPicPr>
            <p:nvPr/>
          </p:nvPicPr>
          <p:blipFill>
            <a:blip r:embed="rId1"/>
            <a:srcRect l="17952" t="423" r="7481" b="61655"/>
            <a:stretch>
              <a:fillRect/>
            </a:stretch>
          </p:blipFill>
          <p:spPr>
            <a:xfrm>
              <a:off x="175" y="1413"/>
              <a:ext cx="5308" cy="2545"/>
            </a:xfrm>
            <a:prstGeom prst="rect">
              <a:avLst/>
            </a:prstGeom>
            <a:noFill/>
            <a:ln w="9525">
              <a:noFill/>
            </a:ln>
          </p:spPr>
        </p:pic>
        <p:sp>
          <p:nvSpPr>
            <p:cNvPr id="96262" name="Rectangle 11"/>
            <p:cNvSpPr/>
            <p:nvPr/>
          </p:nvSpPr>
          <p:spPr>
            <a:xfrm>
              <a:off x="0" y="1500"/>
              <a:ext cx="1956" cy="446"/>
            </a:xfrm>
            <a:prstGeom prst="rect">
              <a:avLst/>
            </a:prstGeom>
            <a:solidFill>
              <a:schemeClr val="accent1"/>
            </a:solidFill>
            <a:ln w="9525">
              <a:noFill/>
            </a:ln>
          </p:spPr>
          <p:txBody>
            <a:bodyPr wrap="none" anchor="ctr" anchorCtr="0"/>
            <a:lstStyle/>
            <a:p>
              <a:pPr eaLnBrk="0" hangingPunct="0"/>
              <a:endParaRPr lang="en-US" altLang="en-US" dirty="0">
                <a:latin typeface="Helvetica" charset="0"/>
              </a:endParaRPr>
            </a:p>
          </p:txBody>
        </p:sp>
        <p:sp>
          <p:nvSpPr>
            <p:cNvPr id="96263" name="Rectangle 12"/>
            <p:cNvSpPr/>
            <p:nvPr/>
          </p:nvSpPr>
          <p:spPr>
            <a:xfrm>
              <a:off x="1920" y="1690"/>
              <a:ext cx="374" cy="115"/>
            </a:xfrm>
            <a:prstGeom prst="rect">
              <a:avLst/>
            </a:prstGeom>
            <a:solidFill>
              <a:schemeClr val="accent1"/>
            </a:solidFill>
            <a:ln w="9525">
              <a:noFill/>
            </a:ln>
          </p:spPr>
          <p:txBody>
            <a:bodyPr wrap="none" anchor="ctr" anchorCtr="0"/>
            <a:lstStyle/>
            <a:p>
              <a:pPr eaLnBrk="0" hangingPunct="0"/>
              <a:endParaRPr lang="en-US" altLang="en-US" dirty="0">
                <a:latin typeface="Helvetica" charset="0"/>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Redundancy of Schemas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98306" name="Rectangle 3"/>
          <p:cNvSpPr>
            <a:spLocks noGrp="1"/>
          </p:cNvSpPr>
          <p:nvPr>
            <p:ph type="body"/>
          </p:nvPr>
        </p:nvSpPr>
        <p:spPr>
          <a:xfrm>
            <a:off x="279400" y="1289050"/>
            <a:ext cx="8439150" cy="3811588"/>
          </a:xfrm>
        </p:spPr>
        <p:txBody>
          <a:bodyPr vert="horz" wrap="square" lIns="91440" tIns="45720" rIns="91440" bIns="45720" anchor="t" anchorCtr="0"/>
          <a:lstStyle/>
          <a:p>
            <a:pPr>
              <a:lnSpc>
                <a:spcPct val="90000"/>
              </a:lnSpc>
            </a:pPr>
            <a:r>
              <a:rPr lang="en-US" altLang="zh-CN" sz="2400" dirty="0"/>
              <a:t>For one-to-one relationship sets, either side can be chosen to act as the </a:t>
            </a:r>
            <a:r>
              <a:rPr lang="en-US" altLang="en-US" sz="2400" dirty="0"/>
              <a:t>“</a:t>
            </a:r>
            <a:r>
              <a:rPr lang="en-US" altLang="zh-CN" sz="2400" dirty="0"/>
              <a:t>many</a:t>
            </a:r>
            <a:r>
              <a:rPr lang="en-US" altLang="en-US" sz="2400" dirty="0"/>
              <a:t>”</a:t>
            </a:r>
            <a:r>
              <a:rPr lang="en-US" altLang="zh-CN" sz="2400" dirty="0"/>
              <a:t> side</a:t>
            </a:r>
            <a:endParaRPr lang="en-US" altLang="zh-CN" sz="2400" dirty="0"/>
          </a:p>
          <a:p>
            <a:pPr lvl="1">
              <a:lnSpc>
                <a:spcPct val="90000"/>
              </a:lnSpc>
            </a:pPr>
            <a:r>
              <a:rPr lang="en-US" altLang="zh-CN" sz="2400" dirty="0"/>
              <a:t>That is, an extra attribute can be added to either of the tables corresponding to the two entity sets </a:t>
            </a:r>
            <a:endParaRPr lang="en-US" altLang="zh-CN" sz="2400" dirty="0"/>
          </a:p>
          <a:p>
            <a:pPr>
              <a:lnSpc>
                <a:spcPct val="90000"/>
              </a:lnSpc>
            </a:pPr>
            <a:r>
              <a:rPr lang="en-US" altLang="zh-CN" sz="2400" dirty="0"/>
              <a:t>If participation is </a:t>
            </a:r>
            <a:r>
              <a:rPr lang="en-US" altLang="zh-CN" sz="2400" i="1" dirty="0"/>
              <a:t>partial</a:t>
            </a:r>
            <a:r>
              <a:rPr lang="en-US" altLang="zh-CN" sz="2400" dirty="0"/>
              <a:t> on the </a:t>
            </a:r>
            <a:r>
              <a:rPr lang="en-US" altLang="en-US" sz="2400" dirty="0"/>
              <a:t>“</a:t>
            </a:r>
            <a:r>
              <a:rPr lang="en-US" altLang="zh-CN" sz="2400" dirty="0"/>
              <a:t>many</a:t>
            </a:r>
            <a:r>
              <a:rPr lang="en-US" altLang="en-US" sz="2400" dirty="0"/>
              <a:t>”</a:t>
            </a:r>
            <a:r>
              <a:rPr lang="en-US" altLang="zh-CN" sz="2400" dirty="0"/>
              <a:t> side, replacing a schema by an extra attribute in the schema corresponding to the </a:t>
            </a:r>
            <a:r>
              <a:rPr lang="en-US" altLang="en-US" sz="2400" dirty="0"/>
              <a:t>“</a:t>
            </a:r>
            <a:r>
              <a:rPr lang="en-US" altLang="zh-CN" sz="2400" dirty="0"/>
              <a:t>many</a:t>
            </a:r>
            <a:r>
              <a:rPr lang="en-US" altLang="en-US" sz="2400" dirty="0"/>
              <a:t>”</a:t>
            </a:r>
            <a:r>
              <a:rPr lang="en-US" altLang="zh-CN" sz="2400" dirty="0"/>
              <a:t> side could result in null values</a:t>
            </a:r>
            <a:endParaRPr lang="en-US" altLang="zh-CN" sz="2400" dirty="0"/>
          </a:p>
          <a:p>
            <a:endParaRPr lang="en-US" altLang="zh-CN"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Redundancy of Schemas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00354" name="Rectangle 3"/>
          <p:cNvSpPr>
            <a:spLocks noGrp="1"/>
          </p:cNvSpPr>
          <p:nvPr>
            <p:ph type="body"/>
          </p:nvPr>
        </p:nvSpPr>
        <p:spPr>
          <a:xfrm>
            <a:off x="193675" y="1222375"/>
            <a:ext cx="8632825" cy="2092325"/>
          </a:xfrm>
        </p:spPr>
        <p:txBody>
          <a:bodyPr vert="horz" wrap="square" lIns="91440" tIns="45720" rIns="91440" bIns="45720" anchor="t" anchorCtr="0"/>
          <a:lstStyle/>
          <a:p>
            <a:pPr>
              <a:lnSpc>
                <a:spcPct val="90000"/>
              </a:lnSpc>
            </a:pPr>
            <a:r>
              <a:rPr lang="en-US" altLang="zh-CN" sz="2400" dirty="0"/>
              <a:t>The schema corresponding to a relationship set linking a weak entity set to its identifying strong entity set is redundant.</a:t>
            </a:r>
            <a:endParaRPr lang="en-US" altLang="zh-CN" sz="2400" dirty="0"/>
          </a:p>
          <a:p>
            <a:pPr>
              <a:lnSpc>
                <a:spcPct val="90000"/>
              </a:lnSpc>
            </a:pPr>
            <a:r>
              <a:rPr lang="en-US" altLang="zh-CN" sz="2400" dirty="0"/>
              <a:t>Example: The </a:t>
            </a:r>
            <a:r>
              <a:rPr lang="en-US" altLang="zh-CN" sz="2400" i="1" dirty="0"/>
              <a:t>section </a:t>
            </a:r>
            <a:r>
              <a:rPr lang="en-US" altLang="zh-CN" sz="2400" dirty="0"/>
              <a:t>schema already contains the attributes that would appear in the </a:t>
            </a:r>
            <a:r>
              <a:rPr lang="en-US" altLang="zh-CN" sz="2400" i="1" dirty="0"/>
              <a:t>sec_course</a:t>
            </a:r>
            <a:r>
              <a:rPr lang="en-US" altLang="zh-CN" sz="2400" dirty="0"/>
              <a:t> schema</a:t>
            </a:r>
            <a:endParaRPr lang="en-US" altLang="zh-CN" sz="2400" dirty="0"/>
          </a:p>
          <a:p>
            <a:endParaRPr lang="en-US" altLang="zh-CN" sz="2400" dirty="0"/>
          </a:p>
        </p:txBody>
      </p:sp>
      <p:pic>
        <p:nvPicPr>
          <p:cNvPr id="100355" name="Picture 3"/>
          <p:cNvPicPr>
            <a:picLocks noChangeAspect="1"/>
          </p:cNvPicPr>
          <p:nvPr/>
        </p:nvPicPr>
        <p:blipFill>
          <a:blip r:embed="rId1"/>
          <a:stretch>
            <a:fillRect/>
          </a:stretch>
        </p:blipFill>
        <p:spPr>
          <a:xfrm>
            <a:off x="642938" y="3546475"/>
            <a:ext cx="7729537" cy="164147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2573338"/>
            <a:ext cx="8267700" cy="77311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Advanced Topics</a:t>
            </a:r>
            <a:endPar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02402" name="Rectangle 3"/>
          <p:cNvSpPr/>
          <p:nvPr/>
        </p:nvSpPr>
        <p:spPr>
          <a:xfrm>
            <a:off x="1422400" y="2851150"/>
            <a:ext cx="6845300" cy="2816225"/>
          </a:xfrm>
          <a:prstGeom prst="rect">
            <a:avLst/>
          </a:prstGeom>
          <a:noFill/>
          <a:ln w="9525">
            <a:noFill/>
          </a:ln>
        </p:spPr>
        <p:txBody>
          <a:bodyPr anchor="t" anchorCtr="0"/>
          <a:lstStyle/>
          <a:p>
            <a:pPr marL="342900" indent="-342900" eaLnBrk="0" hangingPunct="0">
              <a:spcBef>
                <a:spcPct val="35000"/>
              </a:spcBef>
              <a:buClr>
                <a:schemeClr val="tx2"/>
              </a:buClr>
              <a:buSzPct val="90000"/>
            </a:pPr>
            <a:endParaRPr lang="en-US" altLang="en-US" sz="1800" dirty="0">
              <a:latin typeface="Helvetica"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a:xfrm>
            <a:off x="647700" y="53975"/>
            <a:ext cx="84963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Non-binary Relationship Sets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04450" name="Rectangle 3"/>
          <p:cNvSpPr>
            <a:spLocks noGrp="1"/>
          </p:cNvSpPr>
          <p:nvPr>
            <p:ph idx="1"/>
          </p:nvPr>
        </p:nvSpPr>
        <p:spPr>
          <a:xfrm>
            <a:off x="150813" y="925513"/>
            <a:ext cx="8993187" cy="1441450"/>
          </a:xfrm>
        </p:spPr>
        <p:txBody>
          <a:bodyPr vert="horz" wrap="square" lIns="91440" tIns="45720" rIns="91440" bIns="45720" anchor="t" anchorCtr="0"/>
          <a:lstStyle/>
          <a:p>
            <a:r>
              <a:rPr lang="en-US" altLang="zh-CN" dirty="0"/>
              <a:t>Most relationship sets are binary</a:t>
            </a:r>
            <a:endParaRPr lang="en-US" altLang="zh-CN" dirty="0"/>
          </a:p>
          <a:p>
            <a:r>
              <a:rPr lang="en-US" altLang="zh-CN" dirty="0"/>
              <a:t>There are  occasions when it is more convenient to   represent relationships as non-binary.</a:t>
            </a:r>
            <a:endParaRPr lang="en-US" altLang="zh-CN" dirty="0"/>
          </a:p>
          <a:p>
            <a:r>
              <a:rPr lang="en-US" altLang="zh-CN" dirty="0"/>
              <a:t>E-R Diagram with a Ternary Relationship</a:t>
            </a:r>
            <a:endParaRPr lang="en-US" altLang="zh-CN" dirty="0"/>
          </a:p>
          <a:p>
            <a:endParaRPr lang="en-US" altLang="zh-CN" dirty="0"/>
          </a:p>
          <a:p>
            <a:endParaRPr lang="en-US" altLang="en-US" dirty="0"/>
          </a:p>
        </p:txBody>
      </p:sp>
      <p:pic>
        <p:nvPicPr>
          <p:cNvPr id="104451" name="Picture 20"/>
          <p:cNvPicPr>
            <a:picLocks noChangeAspect="1"/>
          </p:cNvPicPr>
          <p:nvPr/>
        </p:nvPicPr>
        <p:blipFill>
          <a:blip r:embed="rId1"/>
          <a:stretch>
            <a:fillRect/>
          </a:stretch>
        </p:blipFill>
        <p:spPr>
          <a:xfrm>
            <a:off x="3476625" y="1711325"/>
            <a:ext cx="5316538" cy="2033588"/>
          </a:xfrm>
          <a:prstGeom prst="rect">
            <a:avLst/>
          </a:prstGeom>
          <a:noFill/>
          <a:ln w="9525">
            <a:noFill/>
          </a:ln>
        </p:spPr>
      </p:pic>
      <p:pic>
        <p:nvPicPr>
          <p:cNvPr id="104452" name="Picture 4"/>
          <p:cNvPicPr>
            <a:picLocks noChangeAspect="1"/>
          </p:cNvPicPr>
          <p:nvPr/>
        </p:nvPicPr>
        <p:blipFill>
          <a:blip r:embed="rId2"/>
          <a:srcRect l="755" t="25693" r="378" b="25441"/>
          <a:stretch>
            <a:fillRect/>
          </a:stretch>
        </p:blipFill>
        <p:spPr>
          <a:xfrm>
            <a:off x="319088" y="3929063"/>
            <a:ext cx="7477125" cy="2771775"/>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a:xfrm>
            <a:off x="647700" y="53975"/>
            <a:ext cx="84963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Cardinality Constraints on Ternary Relationship</a:t>
            </a:r>
            <a:endPar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4339" name="Rectangle 3"/>
          <p:cNvSpPr>
            <a:spLocks noGrp="1" noChangeArrowheads="1"/>
          </p:cNvSpPr>
          <p:nvPr>
            <p:ph idx="1"/>
          </p:nvPr>
        </p:nvSpPr>
        <p:spPr>
          <a:xfrm>
            <a:off x="6350" y="876300"/>
            <a:ext cx="9112250" cy="5613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We allow </a:t>
            </a:r>
            <a:r>
              <a:rPr kumimoji="1" lang="en-US" altLang="en-US" sz="2400" b="0" i="0" u="none" strike="noStrike" kern="0" cap="none" spc="0" normalizeH="0" baseline="0" noProof="0" dirty="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at most one arrow out of a ternary (or greater degree) relationship to indicate a cardinality constraint</a:t>
            </a:r>
            <a:endPar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For </a:t>
            </a:r>
            <a:r>
              <a:rPr kumimoji="1" lang="en-US" altLang="en-US" sz="2400" b="0" i="0"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exampe</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an arrow from </a:t>
            </a:r>
            <a:r>
              <a:rPr kumimoji="1" lang="en-US" altLang="en-US" sz="2400" b="0" i="1"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proj_guide</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to </a:t>
            </a:r>
            <a:r>
              <a:rPr kumimoji="1" lang="en-US" altLang="en-US" sz="24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instructor</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indicates each student has at most one guide for a project</a:t>
            </a:r>
            <a:endPar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If there is more than one arrow, there are two ways of defining the meaning.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sym typeface="+mn-ea"/>
              </a:rPr>
              <a:t>For example,</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endPar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ternary relationship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R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between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B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and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with arrows to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and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could mean</a:t>
            </a:r>
            <a:endPar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80010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2"/>
              <a:buNone/>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1.Each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entity is associated with a unique entity 	from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and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or </a:t>
            </a:r>
            <a:endPar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078230" marR="0" lvl="2" indent="-27813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2"/>
              <a:buNone/>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2.Each pair of entities from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B</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is associated with a unique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entity, and each pair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C</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is associated with a unique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a:t>
            </a:r>
            <a:endPar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Each alternative has been used in different formalisms</a:t>
            </a:r>
            <a:endPar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To avoid confusion we outlaw more than one arrow</a:t>
            </a:r>
            <a:endPar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Specialization</a:t>
            </a:r>
            <a:endPar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08546" name="Rectangle 3"/>
          <p:cNvSpPr>
            <a:spLocks noGrp="1"/>
          </p:cNvSpPr>
          <p:nvPr>
            <p:ph idx="1"/>
          </p:nvPr>
        </p:nvSpPr>
        <p:spPr>
          <a:xfrm>
            <a:off x="107950" y="1208088"/>
            <a:ext cx="8878888" cy="4848225"/>
          </a:xfrm>
        </p:spPr>
        <p:txBody>
          <a:bodyPr vert="horz" wrap="square" lIns="91440" tIns="45720" rIns="91440" bIns="45720" anchor="t" anchorCtr="0"/>
          <a:lstStyle/>
          <a:p>
            <a:r>
              <a:rPr lang="en-US" altLang="zh-CN" sz="2400" dirty="0"/>
              <a:t>Top-down design process; we designate sub-groupings within an entity set that are distinctive from other entities in the set.</a:t>
            </a:r>
            <a:endParaRPr lang="en-US" altLang="zh-CN" sz="2400" dirty="0"/>
          </a:p>
          <a:p>
            <a:r>
              <a:rPr lang="en-US" altLang="zh-CN" sz="2400" dirty="0"/>
              <a:t>These sub-groupings become lower-level entity sets that have attributes or participate in relationships that do not apply to the higher-level entity set.</a:t>
            </a:r>
            <a:endParaRPr lang="en-US" altLang="zh-CN" sz="2400" dirty="0"/>
          </a:p>
          <a:p>
            <a:r>
              <a:rPr lang="en-US" altLang="zh-CN" sz="2400" dirty="0"/>
              <a:t>Depicted by a </a:t>
            </a:r>
            <a:r>
              <a:rPr lang="en-US" altLang="zh-CN" sz="2400" i="1" dirty="0"/>
              <a:t>triangle</a:t>
            </a:r>
            <a:r>
              <a:rPr lang="en-US" altLang="zh-CN" sz="2400" dirty="0"/>
              <a:t> component labeled ISA (e.g., </a:t>
            </a:r>
            <a:r>
              <a:rPr lang="en-US" altLang="zh-CN" sz="2400" i="1" dirty="0"/>
              <a:t>instructor</a:t>
            </a:r>
            <a:r>
              <a:rPr lang="en-US" altLang="zh-CN" sz="2400" dirty="0"/>
              <a:t> </a:t>
            </a:r>
            <a:r>
              <a:rPr lang="en-US" altLang="en-US" sz="2400" dirty="0"/>
              <a:t>“</a:t>
            </a:r>
            <a:r>
              <a:rPr lang="en-US" altLang="zh-CN" sz="2400" dirty="0"/>
              <a:t>is a</a:t>
            </a:r>
            <a:r>
              <a:rPr lang="en-US" altLang="en-US" sz="2400" dirty="0"/>
              <a:t>”</a:t>
            </a:r>
            <a:r>
              <a:rPr lang="en-US" altLang="zh-CN" sz="2400" dirty="0"/>
              <a:t> </a:t>
            </a:r>
            <a:r>
              <a:rPr lang="en-US" altLang="zh-CN" sz="2400" i="1" dirty="0"/>
              <a:t>person</a:t>
            </a:r>
            <a:r>
              <a:rPr lang="en-US" altLang="zh-CN" sz="2400" dirty="0"/>
              <a:t>).</a:t>
            </a:r>
            <a:endParaRPr lang="en-US" altLang="zh-CN" sz="2400" dirty="0"/>
          </a:p>
          <a:p>
            <a:r>
              <a:rPr lang="en-US" altLang="zh-CN" sz="2400" b="1" dirty="0">
                <a:solidFill>
                  <a:srgbClr val="000099"/>
                </a:solidFill>
              </a:rPr>
              <a:t>Attribute inheritance</a:t>
            </a:r>
            <a:r>
              <a:rPr lang="en-US" altLang="zh-CN" sz="2400" dirty="0"/>
              <a:t> – a lower-level entity set inherits all the attributes and relationship participation of the higher-level entity set to which it is linked.</a:t>
            </a:r>
            <a:endParaRPr lang="en-US" altLang="zh-CN" sz="2400" dirty="0"/>
          </a:p>
          <a:p>
            <a:endParaRPr lang="en-US" altLang="zh-CN" sz="2400"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0722" name="Rectangle 2"/>
          <p:cNvSpPr>
            <a:spLocks noGrp="1" noChangeArrowheads="1"/>
          </p:cNvSpPr>
          <p:nvPr>
            <p:ph type="title" idx="4294967295"/>
          </p:nvPr>
        </p:nvSpPr>
        <p:spPr>
          <a:xfrm>
            <a:off x="711200" y="88900"/>
            <a:ext cx="8255000"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Representing Specialization via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endParaRPr>
          </a:p>
        </p:txBody>
      </p:sp>
      <p:sp>
        <p:nvSpPr>
          <p:cNvPr id="110594" name="Rectangle 3"/>
          <p:cNvSpPr>
            <a:spLocks noGrp="1"/>
          </p:cNvSpPr>
          <p:nvPr>
            <p:ph type="body"/>
          </p:nvPr>
        </p:nvSpPr>
        <p:spPr>
          <a:xfrm>
            <a:off x="901700" y="1157288"/>
            <a:ext cx="7389813" cy="4503737"/>
          </a:xfrm>
        </p:spPr>
        <p:txBody>
          <a:bodyPr vert="horz" wrap="square" lIns="91440" tIns="45720" rIns="91440" bIns="45720" anchor="t" anchorCtr="0"/>
          <a:lstStyle/>
          <a:p>
            <a:pPr defTabSz="0">
              <a:tabLst>
                <a:tab pos="346075" algn="l"/>
                <a:tab pos="1256030" algn="ctr"/>
                <a:tab pos="2453005" algn="l"/>
                <a:tab pos="3824605" algn="ctr"/>
              </a:tabLst>
            </a:pPr>
            <a:r>
              <a:rPr lang="en-US" altLang="zh-CN" dirty="0"/>
              <a:t>Method 1: </a:t>
            </a:r>
            <a:endParaRPr lang="en-US" altLang="zh-CN" dirty="0"/>
          </a:p>
          <a:p>
            <a:pPr lvl="1" defTabSz="0">
              <a:tabLst>
                <a:tab pos="346075" algn="l"/>
                <a:tab pos="1256030" algn="ctr"/>
                <a:tab pos="2453005" algn="l"/>
                <a:tab pos="3824605" algn="ctr"/>
              </a:tabLst>
            </a:pPr>
            <a:r>
              <a:rPr lang="en-US" altLang="zh-CN" dirty="0"/>
              <a:t>Form a schema for the higher-level entity </a:t>
            </a:r>
            <a:endParaRPr lang="en-US" altLang="zh-CN" dirty="0"/>
          </a:p>
          <a:p>
            <a:pPr lvl="1" defTabSz="0">
              <a:tabLst>
                <a:tab pos="346075" algn="l"/>
                <a:tab pos="1256030" algn="ctr"/>
                <a:tab pos="2453005" algn="l"/>
                <a:tab pos="3824605" algn="ctr"/>
              </a:tabLst>
            </a:pPr>
            <a:r>
              <a:rPr lang="en-US" altLang="zh-CN" dirty="0"/>
              <a:t>Form a schema for each lower-level entity set, include primary key of higher-level entity set and local attributes</a:t>
            </a:r>
            <a:br>
              <a:rPr lang="en-US" altLang="zh-CN" dirty="0"/>
            </a:br>
            <a:br>
              <a:rPr lang="en-US" altLang="zh-CN" dirty="0"/>
            </a:br>
            <a:endParaRPr lang="en-US" altLang="zh-CN" dirty="0"/>
          </a:p>
          <a:p>
            <a:pPr lvl="1" defTabSz="0">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r>
              <a:rPr lang="en-US" altLang="zh-CN" dirty="0"/>
              <a:t>Drawback:  getting information about, an </a:t>
            </a:r>
            <a:r>
              <a:rPr lang="en-US" altLang="zh-CN" i="1" dirty="0"/>
              <a:t>employee</a:t>
            </a:r>
            <a:r>
              <a:rPr lang="en-US" altLang="zh-CN" dirty="0"/>
              <a:t> requires accessing two relations, the one corresponding to the low-level schema and the one corresponding to the high-level schema</a:t>
            </a:r>
            <a:endParaRPr lang="en-US" altLang="zh-CN" dirty="0"/>
          </a:p>
        </p:txBody>
      </p:sp>
      <p:grpSp>
        <p:nvGrpSpPr>
          <p:cNvPr id="110595" name="Group 2"/>
          <p:cNvGrpSpPr/>
          <p:nvPr/>
        </p:nvGrpSpPr>
        <p:grpSpPr>
          <a:xfrm>
            <a:off x="2044700" y="2743200"/>
            <a:ext cx="5622925" cy="1200150"/>
            <a:chOff x="1931353" y="2917825"/>
            <a:chExt cx="5623133" cy="1200150"/>
          </a:xfrm>
        </p:grpSpPr>
        <p:sp>
          <p:nvSpPr>
            <p:cNvPr id="110596" name="Line 4"/>
            <p:cNvSpPr/>
            <p:nvPr/>
          </p:nvSpPr>
          <p:spPr>
            <a:xfrm>
              <a:off x="1978025" y="3257550"/>
              <a:ext cx="3797300" cy="0"/>
            </a:xfrm>
            <a:prstGeom prst="line">
              <a:avLst/>
            </a:prstGeom>
            <a:ln w="9525" cap="flat" cmpd="sng">
              <a:solidFill>
                <a:schemeClr val="tx1"/>
              </a:solidFill>
              <a:prstDash val="solid"/>
              <a:round/>
              <a:headEnd type="none" w="med" len="med"/>
              <a:tailEnd type="none" w="med" len="med"/>
            </a:ln>
          </p:spPr>
        </p:sp>
        <p:sp>
          <p:nvSpPr>
            <p:cNvPr id="110597" name="Line 5"/>
            <p:cNvSpPr/>
            <p:nvPr/>
          </p:nvSpPr>
          <p:spPr>
            <a:xfrm>
              <a:off x="3402013" y="2917825"/>
              <a:ext cx="0" cy="1200150"/>
            </a:xfrm>
            <a:prstGeom prst="line">
              <a:avLst/>
            </a:prstGeom>
            <a:ln w="9525" cap="flat" cmpd="sng">
              <a:solidFill>
                <a:schemeClr val="tx1"/>
              </a:solidFill>
              <a:prstDash val="solid"/>
              <a:round/>
              <a:headEnd type="none" w="med" len="med"/>
              <a:tailEnd type="none" w="med" len="med"/>
            </a:ln>
          </p:spPr>
        </p:sp>
        <p:sp>
          <p:nvSpPr>
            <p:cNvPr id="110598" name="TextBox 1"/>
            <p:cNvSpPr txBox="1"/>
            <p:nvPr/>
          </p:nvSpPr>
          <p:spPr>
            <a:xfrm>
              <a:off x="1931353" y="2965338"/>
              <a:ext cx="5623133" cy="1077218"/>
            </a:xfrm>
            <a:prstGeom prst="rect">
              <a:avLst/>
            </a:prstGeom>
            <a:noFill/>
            <a:ln w="9525">
              <a:noFill/>
            </a:ln>
          </p:spPr>
          <p:txBody>
            <a:bodyPr anchor="t" anchorCtr="0">
              <a:spAutoFit/>
            </a:bodyPr>
            <a:lstStyle/>
            <a:p>
              <a:pPr eaLnBrk="0" hangingPunct="0"/>
              <a:r>
                <a:rPr lang="en-US" altLang="zh-CN" dirty="0">
                  <a:solidFill>
                    <a:srgbClr val="000099"/>
                  </a:solidFill>
                  <a:latin typeface="Helvetica" charset="0"/>
                </a:rPr>
                <a:t>schema              attributes</a:t>
              </a:r>
              <a:endParaRPr lang="en-US" altLang="zh-CN" dirty="0">
                <a:solidFill>
                  <a:srgbClr val="000099"/>
                </a:solidFill>
                <a:latin typeface="Helvetica" charset="0"/>
              </a:endParaRPr>
            </a:p>
            <a:p>
              <a:pPr eaLnBrk="0" hangingPunct="0"/>
              <a:r>
                <a:rPr lang="en-US" altLang="zh-CN" dirty="0">
                  <a:latin typeface="Helvetica" charset="0"/>
                </a:rPr>
                <a:t>person	           ID, name, street, city</a:t>
              </a:r>
              <a:endParaRPr lang="en-US" altLang="zh-CN" dirty="0">
                <a:latin typeface="Helvetica" charset="0"/>
              </a:endParaRPr>
            </a:p>
            <a:p>
              <a:pPr eaLnBrk="0" hangingPunct="0"/>
              <a:r>
                <a:rPr lang="en-US" altLang="zh-CN" dirty="0">
                  <a:latin typeface="Helvetica" charset="0"/>
                </a:rPr>
                <a:t>student	           ID, tot_cred</a:t>
              </a:r>
              <a:endParaRPr lang="en-US" altLang="zh-CN" dirty="0">
                <a:latin typeface="Helvetica" charset="0"/>
              </a:endParaRPr>
            </a:p>
            <a:p>
              <a:pPr eaLnBrk="0" hangingPunct="0"/>
              <a:r>
                <a:rPr lang="en-US" altLang="zh-CN" dirty="0">
                  <a:latin typeface="Helvetica" charset="0"/>
                </a:rPr>
                <a:t>employee	           ID, salary</a:t>
              </a:r>
              <a:endParaRPr lang="en-US" altLang="zh-CN" dirty="0">
                <a:latin typeface="Helvetica" charset="0"/>
              </a:endParaRP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2770" name="Rectangle 2"/>
          <p:cNvSpPr>
            <a:spLocks noGrp="1" noChangeArrowheads="1"/>
          </p:cNvSpPr>
          <p:nvPr>
            <p:ph type="title" idx="4294967295"/>
          </p:nvPr>
        </p:nvSpPr>
        <p:spPr>
          <a:xfrm>
            <a:off x="514350" y="60325"/>
            <a:ext cx="8786813"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Representing Specialization as Schemas (Cont.)</a:t>
            </a:r>
            <a:endPar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12642" name="Rectangle 3"/>
          <p:cNvSpPr>
            <a:spLocks noGrp="1"/>
          </p:cNvSpPr>
          <p:nvPr>
            <p:ph type="body"/>
          </p:nvPr>
        </p:nvSpPr>
        <p:spPr>
          <a:xfrm>
            <a:off x="900113" y="1184275"/>
            <a:ext cx="7229475" cy="5156200"/>
          </a:xfrm>
        </p:spPr>
        <p:txBody>
          <a:bodyPr vert="horz" wrap="square" lIns="91440" tIns="45720" rIns="91440" bIns="45720" anchor="t" anchorCtr="0"/>
          <a:lstStyle/>
          <a:p>
            <a:pPr defTabSz="0">
              <a:tabLst>
                <a:tab pos="346075" algn="l"/>
                <a:tab pos="1256030" algn="ctr"/>
                <a:tab pos="2453005" algn="l"/>
                <a:tab pos="3824605" algn="ctr"/>
              </a:tabLst>
            </a:pPr>
            <a:r>
              <a:rPr lang="en-US" altLang="zh-CN" dirty="0"/>
              <a:t>Method 2:  </a:t>
            </a:r>
            <a:endParaRPr lang="en-US" altLang="zh-CN" dirty="0"/>
          </a:p>
          <a:p>
            <a:pPr lvl="1" defTabSz="0">
              <a:tabLst>
                <a:tab pos="346075" algn="l"/>
                <a:tab pos="1256030" algn="ctr"/>
                <a:tab pos="2453005" algn="l"/>
                <a:tab pos="3824605" algn="ctr"/>
              </a:tabLst>
            </a:pPr>
            <a:r>
              <a:rPr lang="en-US" altLang="zh-CN" dirty="0"/>
              <a:t>Form a schema for each entity set with all local and inherited attributes</a:t>
            </a:r>
            <a:endParaRPr lang="en-US" altLang="zh-CN" dirty="0"/>
          </a:p>
          <a:p>
            <a:pPr lvl="1" defTabSz="0">
              <a:buNone/>
              <a:tabLst>
                <a:tab pos="346075" algn="l"/>
                <a:tab pos="1256030" algn="ctr"/>
                <a:tab pos="2453005" algn="l"/>
                <a:tab pos="3824605" algn="ctr"/>
              </a:tabLst>
            </a:pPr>
            <a:endParaRPr lang="en-US" altLang="zh-CN" dirty="0"/>
          </a:p>
          <a:p>
            <a:pPr lvl="1" defTabSz="0">
              <a:buNone/>
              <a:tabLst>
                <a:tab pos="346075" algn="l"/>
                <a:tab pos="1256030" algn="ctr"/>
                <a:tab pos="2453005" algn="l"/>
                <a:tab pos="3824605" algn="ctr"/>
              </a:tabLst>
            </a:pPr>
            <a:endParaRPr lang="en-US" altLang="zh-CN" dirty="0"/>
          </a:p>
          <a:p>
            <a:pPr lvl="1" defTabSz="0">
              <a:buNone/>
              <a:tabLst>
                <a:tab pos="346075" algn="l"/>
                <a:tab pos="1256030" algn="ctr"/>
                <a:tab pos="2453005" algn="l"/>
                <a:tab pos="3824605" algn="ctr"/>
              </a:tabLst>
            </a:pPr>
            <a:endParaRPr lang="en-US" altLang="zh-CN" dirty="0"/>
          </a:p>
          <a:p>
            <a:pPr lvl="1" defTabSz="0">
              <a:buNone/>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r>
              <a:rPr lang="en-US" altLang="zh-CN" dirty="0"/>
              <a:t>Drawback:  </a:t>
            </a:r>
            <a:r>
              <a:rPr lang="en-US" altLang="zh-CN" i="1" dirty="0"/>
              <a:t>name, street</a:t>
            </a:r>
            <a:r>
              <a:rPr lang="en-US" altLang="zh-CN" dirty="0"/>
              <a:t> and </a:t>
            </a:r>
            <a:r>
              <a:rPr lang="en-US" altLang="zh-CN" i="1" dirty="0"/>
              <a:t>city</a:t>
            </a:r>
            <a:r>
              <a:rPr lang="en-US" altLang="zh-CN" dirty="0"/>
              <a:t> may be stored redundantly for people who are both students and employees</a:t>
            </a:r>
            <a:endParaRPr lang="en-US" altLang="zh-CN" dirty="0"/>
          </a:p>
        </p:txBody>
      </p:sp>
      <p:grpSp>
        <p:nvGrpSpPr>
          <p:cNvPr id="112643" name="Group 1"/>
          <p:cNvGrpSpPr/>
          <p:nvPr/>
        </p:nvGrpSpPr>
        <p:grpSpPr>
          <a:xfrm>
            <a:off x="2033588" y="2376488"/>
            <a:ext cx="5622925" cy="1200150"/>
            <a:chOff x="1820258" y="2430715"/>
            <a:chExt cx="5623133" cy="1200150"/>
          </a:xfrm>
        </p:grpSpPr>
        <p:sp>
          <p:nvSpPr>
            <p:cNvPr id="112644" name="Line 4"/>
            <p:cNvSpPr/>
            <p:nvPr/>
          </p:nvSpPr>
          <p:spPr>
            <a:xfrm>
              <a:off x="1866930" y="2770440"/>
              <a:ext cx="4362954" cy="0"/>
            </a:xfrm>
            <a:prstGeom prst="line">
              <a:avLst/>
            </a:prstGeom>
            <a:ln w="9525" cap="flat" cmpd="sng">
              <a:solidFill>
                <a:schemeClr val="tx1"/>
              </a:solidFill>
              <a:prstDash val="solid"/>
              <a:round/>
              <a:headEnd type="none" w="med" len="med"/>
              <a:tailEnd type="none" w="med" len="med"/>
            </a:ln>
          </p:spPr>
        </p:sp>
        <p:sp>
          <p:nvSpPr>
            <p:cNvPr id="112645" name="Line 5"/>
            <p:cNvSpPr/>
            <p:nvPr/>
          </p:nvSpPr>
          <p:spPr>
            <a:xfrm>
              <a:off x="3290918" y="2430715"/>
              <a:ext cx="0" cy="1200150"/>
            </a:xfrm>
            <a:prstGeom prst="line">
              <a:avLst/>
            </a:prstGeom>
            <a:ln w="9525" cap="flat" cmpd="sng">
              <a:solidFill>
                <a:schemeClr val="tx1"/>
              </a:solidFill>
              <a:prstDash val="solid"/>
              <a:round/>
              <a:headEnd type="none" w="med" len="med"/>
              <a:tailEnd type="none" w="med" len="med"/>
            </a:ln>
          </p:spPr>
        </p:sp>
        <p:sp>
          <p:nvSpPr>
            <p:cNvPr id="112646" name="TextBox 8"/>
            <p:cNvSpPr txBox="1"/>
            <p:nvPr/>
          </p:nvSpPr>
          <p:spPr>
            <a:xfrm>
              <a:off x="1820258" y="2478228"/>
              <a:ext cx="5623133" cy="1077218"/>
            </a:xfrm>
            <a:prstGeom prst="rect">
              <a:avLst/>
            </a:prstGeom>
            <a:noFill/>
            <a:ln w="9525">
              <a:noFill/>
            </a:ln>
          </p:spPr>
          <p:txBody>
            <a:bodyPr anchor="t" anchorCtr="0">
              <a:spAutoFit/>
            </a:bodyPr>
            <a:lstStyle/>
            <a:p>
              <a:pPr eaLnBrk="0" hangingPunct="0"/>
              <a:r>
                <a:rPr lang="en-US" altLang="zh-CN" dirty="0">
                  <a:solidFill>
                    <a:srgbClr val="000099"/>
                  </a:solidFill>
                  <a:latin typeface="Helvetica" charset="0"/>
                </a:rPr>
                <a:t>schema              attributes</a:t>
              </a:r>
              <a:endParaRPr lang="en-US" altLang="zh-CN" dirty="0">
                <a:solidFill>
                  <a:srgbClr val="000099"/>
                </a:solidFill>
                <a:latin typeface="Helvetica" charset="0"/>
              </a:endParaRPr>
            </a:p>
            <a:p>
              <a:pPr eaLnBrk="0" hangingPunct="0"/>
              <a:r>
                <a:rPr lang="en-US" altLang="zh-CN" dirty="0">
                  <a:latin typeface="Helvetica" charset="0"/>
                </a:rPr>
                <a:t>person	           ID, name, street, city</a:t>
              </a:r>
              <a:endParaRPr lang="en-US" altLang="zh-CN" dirty="0">
                <a:latin typeface="Helvetica" charset="0"/>
              </a:endParaRPr>
            </a:p>
            <a:p>
              <a:pPr eaLnBrk="0" hangingPunct="0"/>
              <a:r>
                <a:rPr lang="en-US" altLang="zh-CN" dirty="0">
                  <a:latin typeface="Helvetica" charset="0"/>
                </a:rPr>
                <a:t>student	           ID, name, street, city, tot_cred</a:t>
              </a:r>
              <a:endParaRPr lang="en-US" altLang="zh-CN" dirty="0">
                <a:latin typeface="Helvetica" charset="0"/>
              </a:endParaRPr>
            </a:p>
            <a:p>
              <a:pPr eaLnBrk="0" hangingPunct="0"/>
              <a:r>
                <a:rPr lang="en-US" altLang="zh-CN" dirty="0">
                  <a:latin typeface="Helvetica" charset="0"/>
                </a:rPr>
                <a:t>employee	           ID, name, street, city, salary</a:t>
              </a:r>
              <a:endParaRPr lang="en-US" altLang="zh-CN" dirty="0">
                <a:latin typeface="Helvetica" charset="0"/>
              </a:endParaRP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Generalization</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14690" name="Rectangle 3"/>
          <p:cNvSpPr>
            <a:spLocks noGrp="1"/>
          </p:cNvSpPr>
          <p:nvPr>
            <p:ph idx="1"/>
          </p:nvPr>
        </p:nvSpPr>
        <p:spPr>
          <a:xfrm>
            <a:off x="144463" y="1206500"/>
            <a:ext cx="8809037" cy="4756150"/>
          </a:xfrm>
        </p:spPr>
        <p:txBody>
          <a:bodyPr vert="horz" wrap="square" lIns="91440" tIns="45720" rIns="91440" bIns="45720" anchor="t" anchorCtr="0"/>
          <a:lstStyle/>
          <a:p>
            <a:r>
              <a:rPr lang="en-US" altLang="zh-CN" sz="2800" b="1" dirty="0">
                <a:solidFill>
                  <a:srgbClr val="000099"/>
                </a:solidFill>
              </a:rPr>
              <a:t>A bottom-up design process</a:t>
            </a:r>
            <a:r>
              <a:rPr lang="en-US" altLang="zh-CN" sz="2800" dirty="0"/>
              <a:t> – combine a number of entity sets that share the same features into a higher-level entity set.</a:t>
            </a:r>
            <a:endParaRPr lang="en-US" altLang="zh-CN" sz="2800" dirty="0"/>
          </a:p>
          <a:p>
            <a:r>
              <a:rPr lang="en-US" altLang="zh-CN" sz="2800" dirty="0"/>
              <a:t>Specialization and generalization are simple inversions of each other; they are represented in an E-R diagram in the same way.</a:t>
            </a:r>
            <a:endParaRPr lang="en-US" altLang="zh-CN" sz="2800" dirty="0"/>
          </a:p>
          <a:p>
            <a:r>
              <a:rPr lang="en-US" altLang="zh-CN" sz="2800" dirty="0"/>
              <a:t>The terms specialization and generalization are used interchangeably.</a:t>
            </a:r>
            <a:endParaRPr lang="en-US" altLang="zh-CN" sz="2800"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855663" y="114300"/>
            <a:ext cx="8077200" cy="5619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Design Constraints on a Specialization/Generalization</a:t>
            </a:r>
            <a:endPar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sp>
        <p:nvSpPr>
          <p:cNvPr id="116738" name="Rectangle 3"/>
          <p:cNvSpPr>
            <a:spLocks noGrp="1"/>
          </p:cNvSpPr>
          <p:nvPr>
            <p:ph idx="1"/>
          </p:nvPr>
        </p:nvSpPr>
        <p:spPr>
          <a:xfrm>
            <a:off x="207963" y="1187450"/>
            <a:ext cx="8724900" cy="5091113"/>
          </a:xfrm>
        </p:spPr>
        <p:txBody>
          <a:bodyPr vert="horz" wrap="square" lIns="91440" tIns="45720" rIns="91440" bIns="45720" anchor="t" anchorCtr="0"/>
          <a:lstStyle/>
          <a:p>
            <a:r>
              <a:rPr lang="en-US" altLang="zh-CN" b="1" dirty="0">
                <a:solidFill>
                  <a:srgbClr val="000099"/>
                </a:solidFill>
              </a:rPr>
              <a:t>Completeness constraint</a:t>
            </a:r>
            <a:r>
              <a:rPr lang="en-US" altLang="zh-CN" dirty="0"/>
              <a:t> -- specifies whether or not an entity in the higher-level entity set must belong to at least one of the lower-level entity sets within a generalization.</a:t>
            </a:r>
            <a:endParaRPr lang="en-US" altLang="zh-CN" dirty="0"/>
          </a:p>
          <a:p>
            <a:pPr lvl="1"/>
            <a:r>
              <a:rPr lang="en-US" altLang="zh-CN" b="1" dirty="0">
                <a:solidFill>
                  <a:srgbClr val="000099"/>
                </a:solidFill>
              </a:rPr>
              <a:t>total</a:t>
            </a:r>
            <a:r>
              <a:rPr lang="en-US" altLang="zh-CN" dirty="0"/>
              <a:t>: an entity must belong to one of the lower-level entity sets</a:t>
            </a:r>
            <a:endParaRPr lang="en-US" altLang="zh-CN" dirty="0"/>
          </a:p>
          <a:p>
            <a:pPr lvl="1"/>
            <a:r>
              <a:rPr lang="en-US" altLang="zh-CN" b="1" dirty="0">
                <a:solidFill>
                  <a:srgbClr val="000099"/>
                </a:solidFill>
              </a:rPr>
              <a:t>partial</a:t>
            </a:r>
            <a:r>
              <a:rPr lang="en-US" altLang="zh-CN" dirty="0"/>
              <a:t>: an entity need not belong to one of the lower-level entity sets</a:t>
            </a:r>
            <a:endParaRPr lang="en-US" altLang="zh-CN" dirty="0"/>
          </a:p>
          <a:p>
            <a:r>
              <a:rPr lang="en-US" altLang="zh-CN" sz="1600" dirty="0"/>
              <a:t>Partial generalization is the default.  We can specify total generalization in an ER diagram by adding the keyword </a:t>
            </a:r>
            <a:r>
              <a:rPr lang="en-US" altLang="zh-CN" sz="1600" b="1" dirty="0"/>
              <a:t>total</a:t>
            </a:r>
            <a:r>
              <a:rPr lang="en-US" altLang="zh-CN" sz="1600" dirty="0"/>
              <a:t> in the diagram and drawing a dashed line from the keyword to the corresponding hollow arrow-head to which it applies (for a total generalization), or to the set of hollow arrow-heads to which it applies (for an overlapping generalization).</a:t>
            </a:r>
            <a:endParaRPr lang="en-US" altLang="zh-CN" sz="1600" dirty="0"/>
          </a:p>
          <a:p>
            <a:r>
              <a:rPr lang="en-US" altLang="zh-CN" sz="1600" dirty="0"/>
              <a:t>The </a:t>
            </a:r>
            <a:r>
              <a:rPr lang="en-US" altLang="zh-CN" sz="1600" i="1" dirty="0"/>
              <a:t>student</a:t>
            </a:r>
            <a:r>
              <a:rPr lang="en-US" altLang="zh-CN" sz="1600" dirty="0"/>
              <a:t> generalization is total: All student entities must be either graduate or undergraduate. Because the higher-level entity set arrived at through generalization is generally composed of only those entities in the lower-level entity sets, the completeness constraint for a generalized higher-level entity set is usually total</a:t>
            </a:r>
            <a:endParaRPr lang="en-US" altLang="zh-CN" sz="1600" dirty="0"/>
          </a:p>
          <a:p>
            <a:endParaRPr lang="en-US" altLang="zh-CN" sz="1600" dirty="0"/>
          </a:p>
          <a:p>
            <a:endParaRPr lang="en-US" altLang="zh-CN" dirty="0"/>
          </a:p>
          <a:p>
            <a:endParaRPr lang="en-US" altLang="zh-CN" dirty="0"/>
          </a:p>
          <a:p>
            <a:pPr lvl="1"/>
            <a:endParaRPr lang="en-US" altLang="zh-CN"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a:xfrm>
            <a:off x="1209675" y="52388"/>
            <a:ext cx="6726238" cy="6223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Aggregation</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endParaRPr>
          </a:p>
        </p:txBody>
      </p:sp>
      <p:sp>
        <p:nvSpPr>
          <p:cNvPr id="118786" name="Rectangle 3"/>
          <p:cNvSpPr/>
          <p:nvPr/>
        </p:nvSpPr>
        <p:spPr>
          <a:xfrm>
            <a:off x="0" y="1071563"/>
            <a:ext cx="9144000" cy="860425"/>
          </a:xfrm>
          <a:prstGeom prst="rect">
            <a:avLst/>
          </a:prstGeom>
          <a:noFill/>
          <a:ln w="9525">
            <a:noFill/>
          </a:ln>
        </p:spPr>
        <p:txBody>
          <a:bodyPr anchor="t" anchorCtr="0">
            <a:spAutoFit/>
          </a:bodyPr>
          <a:lstStyle/>
          <a:p>
            <a:pPr marL="285750" indent="-285750" eaLnBrk="0" hangingPunct="0">
              <a:spcBef>
                <a:spcPct val="50000"/>
              </a:spcBef>
              <a:buClr>
                <a:schemeClr val="tx2"/>
              </a:buClr>
              <a:buSzPct val="90000"/>
              <a:buFont typeface="Monotype Sorts" charset="2"/>
              <a:buChar char="n"/>
            </a:pPr>
            <a:r>
              <a:rPr lang="en-US" altLang="zh-CN" sz="2000" dirty="0">
                <a:latin typeface="Arial" panose="020B0604020202020204" pitchFamily="34" charset="0"/>
              </a:rPr>
              <a:t>Consider the ternary relationship </a:t>
            </a:r>
            <a:r>
              <a:rPr lang="en-US" altLang="zh-CN" sz="2000" i="1" dirty="0">
                <a:latin typeface="Arial" panose="020B0604020202020204" pitchFamily="34" charset="0"/>
              </a:rPr>
              <a:t>proj_guide</a:t>
            </a:r>
            <a:r>
              <a:rPr lang="en-US" altLang="zh-CN" sz="2000" dirty="0">
                <a:latin typeface="Arial" panose="020B0604020202020204" pitchFamily="34" charset="0"/>
              </a:rPr>
              <a:t>, which we saw earlier</a:t>
            </a:r>
            <a:endParaRPr lang="en-US" altLang="zh-CN" sz="2000" dirty="0">
              <a:latin typeface="Arial" panose="020B0604020202020204" pitchFamily="34" charset="0"/>
            </a:endParaRPr>
          </a:p>
          <a:p>
            <a:pPr marL="285750" indent="-285750" eaLnBrk="0" hangingPunct="0">
              <a:spcBef>
                <a:spcPct val="50000"/>
              </a:spcBef>
              <a:buClr>
                <a:schemeClr val="tx2"/>
              </a:buClr>
              <a:buSzPct val="90000"/>
              <a:buFont typeface="Monotype Sorts" charset="2"/>
              <a:buChar char="n"/>
            </a:pPr>
            <a:r>
              <a:rPr lang="en-US" altLang="zh-CN" sz="2000" dirty="0">
                <a:latin typeface="Arial" panose="020B0604020202020204" pitchFamily="34" charset="0"/>
              </a:rPr>
              <a:t>Suppose we want to record evaluations of a student by a guide  on a project</a:t>
            </a:r>
            <a:endParaRPr lang="en-US" altLang="zh-CN" sz="2000" dirty="0">
              <a:latin typeface="Arial" panose="020B0604020202020204" pitchFamily="34" charset="0"/>
            </a:endParaRPr>
          </a:p>
        </p:txBody>
      </p:sp>
      <p:pic>
        <p:nvPicPr>
          <p:cNvPr id="118787" name="Picture 40"/>
          <p:cNvPicPr>
            <a:picLocks noChangeAspect="1"/>
          </p:cNvPicPr>
          <p:nvPr/>
        </p:nvPicPr>
        <p:blipFill>
          <a:blip r:embed="rId1"/>
          <a:stretch>
            <a:fillRect/>
          </a:stretch>
        </p:blipFill>
        <p:spPr>
          <a:xfrm>
            <a:off x="107950" y="1978025"/>
            <a:ext cx="4105275" cy="3252788"/>
          </a:xfrm>
          <a:prstGeom prst="rect">
            <a:avLst/>
          </a:prstGeom>
          <a:noFill/>
          <a:ln w="9525">
            <a:noFill/>
          </a:ln>
        </p:spPr>
      </p:pic>
      <p:pic>
        <p:nvPicPr>
          <p:cNvPr id="118788" name="Picture 5"/>
          <p:cNvPicPr>
            <a:picLocks noChangeAspect="1"/>
          </p:cNvPicPr>
          <p:nvPr/>
        </p:nvPicPr>
        <p:blipFill>
          <a:blip r:embed="rId2"/>
          <a:srcRect l="417" t="2777" r="626" b="2777"/>
          <a:stretch>
            <a:fillRect/>
          </a:stretch>
        </p:blipFill>
        <p:spPr>
          <a:xfrm>
            <a:off x="4270375" y="3121025"/>
            <a:ext cx="4830763" cy="3457575"/>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Aggregation (Cont.)</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20834" name="Rectangle 3"/>
          <p:cNvSpPr>
            <a:spLocks noGrp="1"/>
          </p:cNvSpPr>
          <p:nvPr>
            <p:ph idx="1"/>
          </p:nvPr>
        </p:nvSpPr>
        <p:spPr>
          <a:xfrm>
            <a:off x="50510" y="898525"/>
            <a:ext cx="9051925" cy="3611130"/>
          </a:xfrm>
        </p:spPr>
        <p:txBody>
          <a:bodyPr vert="horz" wrap="square" lIns="91440" tIns="45720" rIns="91440" bIns="45720" anchor="t" anchorCtr="0"/>
          <a:lstStyle/>
          <a:p>
            <a:r>
              <a:rPr lang="en-US" altLang="zh-CN" sz="2000" dirty="0"/>
              <a:t>Relationship sets </a:t>
            </a:r>
            <a:r>
              <a:rPr lang="en-US" altLang="zh-CN" sz="2000" i="1" dirty="0">
                <a:solidFill>
                  <a:srgbClr val="006600"/>
                </a:solidFill>
              </a:rPr>
              <a:t>eval_for </a:t>
            </a:r>
            <a:r>
              <a:rPr lang="en-US" altLang="zh-CN" sz="2000" dirty="0"/>
              <a:t>and </a:t>
            </a:r>
            <a:r>
              <a:rPr lang="en-US" altLang="zh-CN" sz="2000" i="1" dirty="0">
                <a:solidFill>
                  <a:srgbClr val="0070C0"/>
                </a:solidFill>
              </a:rPr>
              <a:t>proj_guide</a:t>
            </a:r>
            <a:r>
              <a:rPr lang="en-US" altLang="zh-CN" sz="2000" dirty="0">
                <a:solidFill>
                  <a:srgbClr val="0070C0"/>
                </a:solidFill>
              </a:rPr>
              <a:t> </a:t>
            </a:r>
            <a:r>
              <a:rPr lang="en-US" altLang="zh-CN" sz="2000" dirty="0"/>
              <a:t>represent overlapping information</a:t>
            </a:r>
            <a:endParaRPr lang="en-US" altLang="zh-CN" sz="2000" dirty="0"/>
          </a:p>
          <a:p>
            <a:pPr lvl="1"/>
            <a:r>
              <a:rPr lang="en-US" altLang="zh-CN" sz="2000" dirty="0"/>
              <a:t>Every </a:t>
            </a:r>
            <a:r>
              <a:rPr lang="en-US" altLang="zh-CN" sz="2000" i="1" dirty="0">
                <a:solidFill>
                  <a:srgbClr val="006600"/>
                </a:solidFill>
              </a:rPr>
              <a:t>eval_for</a:t>
            </a:r>
            <a:r>
              <a:rPr lang="en-US" altLang="zh-CN" sz="2000" dirty="0">
                <a:solidFill>
                  <a:srgbClr val="006600"/>
                </a:solidFill>
              </a:rPr>
              <a:t> </a:t>
            </a:r>
            <a:r>
              <a:rPr lang="en-US" altLang="zh-CN" sz="2000" dirty="0"/>
              <a:t>relationship corresponds to a </a:t>
            </a:r>
            <a:r>
              <a:rPr lang="en-US" altLang="zh-CN" sz="2000" i="1" dirty="0">
                <a:solidFill>
                  <a:srgbClr val="0070C0"/>
                </a:solidFill>
              </a:rPr>
              <a:t>proj_guide</a:t>
            </a:r>
            <a:r>
              <a:rPr lang="en-US" altLang="zh-CN" sz="2000" dirty="0">
                <a:solidFill>
                  <a:srgbClr val="0070C0"/>
                </a:solidFill>
              </a:rPr>
              <a:t> </a:t>
            </a:r>
            <a:r>
              <a:rPr lang="en-US" altLang="zh-CN" sz="2000" dirty="0"/>
              <a:t>relationship</a:t>
            </a:r>
            <a:endParaRPr lang="en-US" altLang="zh-CN" sz="2000" dirty="0"/>
          </a:p>
          <a:p>
            <a:pPr lvl="1"/>
            <a:r>
              <a:rPr lang="en-US" altLang="zh-CN" sz="2000" dirty="0"/>
              <a:t>However, some </a:t>
            </a:r>
            <a:r>
              <a:rPr lang="en-US" altLang="zh-CN" sz="2000" i="1" dirty="0">
                <a:solidFill>
                  <a:srgbClr val="0070C0"/>
                </a:solidFill>
              </a:rPr>
              <a:t>proj_guide</a:t>
            </a:r>
            <a:r>
              <a:rPr lang="en-US" altLang="zh-CN" sz="2000" dirty="0">
                <a:solidFill>
                  <a:srgbClr val="0070C0"/>
                </a:solidFill>
              </a:rPr>
              <a:t> </a:t>
            </a:r>
            <a:r>
              <a:rPr lang="en-US" altLang="zh-CN" sz="2000" dirty="0"/>
              <a:t>relationships may not correspond to any </a:t>
            </a:r>
            <a:r>
              <a:rPr lang="en-US" altLang="zh-CN" sz="2000" i="1" dirty="0">
                <a:solidFill>
                  <a:srgbClr val="006600"/>
                </a:solidFill>
              </a:rPr>
              <a:t>eval_for</a:t>
            </a:r>
            <a:r>
              <a:rPr lang="en-US" altLang="zh-CN" sz="2000" dirty="0">
                <a:solidFill>
                  <a:srgbClr val="006600"/>
                </a:solidFill>
              </a:rPr>
              <a:t> </a:t>
            </a:r>
            <a:r>
              <a:rPr lang="en-US" altLang="zh-CN" sz="2000" dirty="0"/>
              <a:t>relationships </a:t>
            </a:r>
            <a:endParaRPr lang="en-US" altLang="zh-CN" sz="2000" dirty="0"/>
          </a:p>
          <a:p>
            <a:pPr lvl="2"/>
            <a:r>
              <a:rPr lang="en-US" altLang="zh-CN" sz="2000" dirty="0"/>
              <a:t>So we can</a:t>
            </a:r>
            <a:r>
              <a:rPr lang="en-US" altLang="en-US" sz="2000" dirty="0"/>
              <a:t>’</a:t>
            </a:r>
            <a:r>
              <a:rPr lang="en-US" altLang="zh-CN" sz="2000" dirty="0"/>
              <a:t>t discard the </a:t>
            </a:r>
            <a:r>
              <a:rPr lang="en-US" altLang="zh-CN" sz="2000" i="1" dirty="0"/>
              <a:t>proj_guide</a:t>
            </a:r>
            <a:r>
              <a:rPr lang="en-US" altLang="zh-CN" sz="2000" dirty="0"/>
              <a:t> relationship</a:t>
            </a:r>
            <a:endParaRPr lang="en-US" altLang="zh-CN" sz="2000" dirty="0"/>
          </a:p>
          <a:p>
            <a:r>
              <a:rPr lang="en-US" altLang="zh-CN" sz="2000" dirty="0"/>
              <a:t>Eliminate this redundancy via </a:t>
            </a:r>
            <a:r>
              <a:rPr lang="en-US" altLang="zh-CN" sz="2000" i="1" dirty="0"/>
              <a:t>aggregation</a:t>
            </a:r>
            <a:endParaRPr lang="en-US" altLang="zh-CN" sz="2000" dirty="0"/>
          </a:p>
          <a:p>
            <a:pPr lvl="1"/>
            <a:r>
              <a:rPr lang="en-US" altLang="zh-CN" sz="2000" b="1" i="1" u="sng" dirty="0">
                <a:gradFill>
                  <a:gsLst>
                    <a:gs pos="0">
                      <a:srgbClr val="012D86"/>
                    </a:gs>
                    <a:gs pos="100000">
                      <a:srgbClr val="0E2557"/>
                    </a:gs>
                  </a:gsLst>
                  <a:lin scaled="0"/>
                </a:gradFill>
              </a:rPr>
              <a:t>Treat relationship as an abstract entity</a:t>
            </a:r>
            <a:endParaRPr lang="en-US" altLang="zh-CN" sz="2000" b="1" i="1" u="sng" dirty="0"/>
          </a:p>
          <a:p>
            <a:pPr lvl="1"/>
            <a:r>
              <a:rPr lang="en-US" altLang="zh-CN" sz="2000" b="1" i="1" u="sng" dirty="0">
                <a:gradFill>
                  <a:gsLst>
                    <a:gs pos="0">
                      <a:srgbClr val="012D86"/>
                    </a:gs>
                    <a:gs pos="100000">
                      <a:srgbClr val="0E2557"/>
                    </a:gs>
                  </a:gsLst>
                  <a:lin scaled="0"/>
                </a:gradFill>
              </a:rPr>
              <a:t>Allows relationships between relationships</a:t>
            </a:r>
            <a:r>
              <a:rPr lang="en-US" altLang="zh-CN" sz="2000" dirty="0"/>
              <a:t> </a:t>
            </a:r>
            <a:endParaRPr lang="en-US" altLang="zh-CN" sz="2000" dirty="0"/>
          </a:p>
          <a:p>
            <a:pPr lvl="1" algn="l"/>
            <a:r>
              <a:rPr lang="en-US" altLang="zh-CN" sz="2000" b="1" i="1" u="sng" dirty="0">
                <a:gradFill>
                  <a:gsLst>
                    <a:gs pos="0">
                      <a:srgbClr val="012D86"/>
                    </a:gs>
                    <a:gs pos="100000">
                      <a:srgbClr val="0E2557"/>
                    </a:gs>
                  </a:gsLst>
                  <a:lin scaled="0"/>
                </a:gradFill>
              </a:rPr>
              <a:t>Abstraction of relationship into new entity</a:t>
            </a:r>
            <a:endParaRPr lang="en-US" altLang="zh-CN" sz="2000" b="1" i="1" u="sng" dirty="0">
              <a:gradFill>
                <a:gsLst>
                  <a:gs pos="0">
                    <a:srgbClr val="012D86"/>
                  </a:gs>
                  <a:gs pos="100000">
                    <a:srgbClr val="0E2557"/>
                  </a:gs>
                </a:gsLst>
                <a:lin scaled="0"/>
              </a:gradFill>
            </a:endParaRPr>
          </a:p>
        </p:txBody>
      </p:sp>
      <p:pic>
        <p:nvPicPr>
          <p:cNvPr id="4" name="Picture 40"/>
          <p:cNvPicPr>
            <a:picLocks noChangeAspect="1"/>
          </p:cNvPicPr>
          <p:nvPr/>
        </p:nvPicPr>
        <p:blipFill>
          <a:blip r:embed="rId1"/>
          <a:stretch>
            <a:fillRect/>
          </a:stretch>
        </p:blipFill>
        <p:spPr>
          <a:xfrm>
            <a:off x="5768009" y="4096536"/>
            <a:ext cx="3144216" cy="2491299"/>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Aggregation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22882" name="Rectangle 3"/>
          <p:cNvSpPr>
            <a:spLocks noGrp="1"/>
          </p:cNvSpPr>
          <p:nvPr>
            <p:ph type="body"/>
          </p:nvPr>
        </p:nvSpPr>
        <p:spPr>
          <a:xfrm>
            <a:off x="85725" y="890588"/>
            <a:ext cx="8972550" cy="1773237"/>
          </a:xfrm>
        </p:spPr>
        <p:txBody>
          <a:bodyPr vert="horz" wrap="square" lIns="91440" tIns="45720" rIns="91440" bIns="45720" anchor="t" anchorCtr="0"/>
          <a:lstStyle/>
          <a:p>
            <a:r>
              <a:rPr lang="en-US" altLang="zh-CN" dirty="0"/>
              <a:t>Eliminate this redundancy via </a:t>
            </a:r>
            <a:r>
              <a:rPr lang="en-US" altLang="zh-CN" i="1" dirty="0">
                <a:solidFill>
                  <a:srgbClr val="C00000"/>
                </a:solidFill>
              </a:rPr>
              <a:t>aggregation</a:t>
            </a:r>
            <a:r>
              <a:rPr lang="en-US" altLang="zh-CN" dirty="0"/>
              <a:t> without introducing redundancy, the following diagram represents:</a:t>
            </a:r>
            <a:endParaRPr lang="en-US" altLang="zh-CN" dirty="0"/>
          </a:p>
          <a:p>
            <a:pPr lvl="1"/>
            <a:r>
              <a:rPr lang="en-US" altLang="zh-CN" dirty="0"/>
              <a:t>A student is guided by a particular instructor on a particular project </a:t>
            </a:r>
            <a:endParaRPr lang="en-US" altLang="zh-CN" dirty="0"/>
          </a:p>
          <a:p>
            <a:pPr lvl="1"/>
            <a:r>
              <a:rPr lang="en-US" altLang="zh-CN" dirty="0"/>
              <a:t>A student, instructor, project combination may have an associated evaluation</a:t>
            </a:r>
            <a:endParaRPr lang="en-US" altLang="zh-CN" dirty="0"/>
          </a:p>
        </p:txBody>
      </p:sp>
      <p:pic>
        <p:nvPicPr>
          <p:cNvPr id="122883" name="Picture 38"/>
          <p:cNvPicPr>
            <a:picLocks noChangeAspect="1"/>
          </p:cNvPicPr>
          <p:nvPr/>
        </p:nvPicPr>
        <p:blipFill>
          <a:blip r:embed="rId1"/>
          <a:stretch>
            <a:fillRect/>
          </a:stretch>
        </p:blipFill>
        <p:spPr>
          <a:xfrm>
            <a:off x="234950" y="2476500"/>
            <a:ext cx="3832225" cy="3076575"/>
          </a:xfrm>
          <a:prstGeom prst="rect">
            <a:avLst/>
          </a:prstGeom>
          <a:noFill/>
          <a:ln w="9525">
            <a:noFill/>
          </a:ln>
        </p:spPr>
      </p:pic>
      <p:pic>
        <p:nvPicPr>
          <p:cNvPr id="122884" name="Picture 4"/>
          <p:cNvPicPr>
            <a:picLocks noChangeAspect="1"/>
          </p:cNvPicPr>
          <p:nvPr/>
        </p:nvPicPr>
        <p:blipFill>
          <a:blip r:embed="rId2"/>
          <a:srcRect l="1233" t="1918" r="1643" b="548"/>
          <a:stretch>
            <a:fillRect/>
          </a:stretch>
        </p:blipFill>
        <p:spPr>
          <a:xfrm>
            <a:off x="4305300" y="2941638"/>
            <a:ext cx="4678363" cy="3562350"/>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a:xfrm>
            <a:off x="755650" y="187325"/>
            <a:ext cx="8131175" cy="5238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Representing Aggregation via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endParaRPr>
          </a:p>
        </p:txBody>
      </p:sp>
      <p:sp>
        <p:nvSpPr>
          <p:cNvPr id="17411" name="Rectangle 3"/>
          <p:cNvSpPr>
            <a:spLocks noChangeArrowheads="1"/>
          </p:cNvSpPr>
          <p:nvPr/>
        </p:nvSpPr>
        <p:spPr bwMode="auto">
          <a:xfrm>
            <a:off x="184150" y="1222375"/>
            <a:ext cx="8704263" cy="4210050"/>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1" i="1" u="sng"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To represent aggregation, create a </a:t>
            </a:r>
            <a:r>
              <a:rPr kumimoji="1" lang="en-US" altLang="en-US" sz="2400" b="1" i="1" u="sng" strike="noStrike" kern="1200" cap="none" spc="0" normalizeH="0" baseline="0" noProof="0" dirty="0">
                <a:ln>
                  <a:noFill/>
                </a:ln>
                <a:solidFill>
                  <a:schemeClr val="tx2"/>
                </a:solidFill>
                <a:effectLst/>
                <a:uLnTx/>
                <a:uFillTx/>
                <a:latin typeface="Helvetica" charset="0"/>
                <a:ea typeface="MS PGothic" panose="020B0600070205080204" pitchFamily="34" charset="-128"/>
                <a:cs typeface="Arial" panose="020B0604020202020204" pitchFamily="34" charset="0"/>
              </a:rPr>
              <a:t>schema</a:t>
            </a:r>
            <a:r>
              <a:rPr kumimoji="1" lang="en-US" altLang="en-US" sz="2400" b="1" i="1" u="sng"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 containing</a:t>
            </a:r>
            <a:endParaRPr kumimoji="1" lang="en-US" altLang="en-US" sz="2400" b="1" u="sng" strike="noStrike" kern="1200" cap="none" spc="0" normalizeH="0" baseline="0" noProof="0" dirty="0">
              <a:ln>
                <a:noFill/>
              </a:ln>
              <a:solidFill>
                <a:srgbClr val="002060"/>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rgbClr val="C00000"/>
                </a:solidFill>
                <a:effectLst/>
                <a:uLnTx/>
                <a:uFillTx/>
                <a:latin typeface="Helvetica" charset="0"/>
                <a:ea typeface="MS PGothic" panose="020B0600070205080204" pitchFamily="34" charset="-128"/>
                <a:cs typeface="Arial" panose="020B0604020202020204" pitchFamily="34" charset="0"/>
              </a:rPr>
              <a:t>Primary key of </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the aggregated relationship,</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The primary key of the associated entity set</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Any descriptive attributes</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In our example:</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The schema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eval_for</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is:</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800100" marR="0" lvl="1" indent="-342900" algn="l" defTabSz="914400" rtl="0" eaLnBrk="0" fontAlgn="base" latinLnBrk="0" hangingPunct="0">
              <a:lnSpc>
                <a:spcPct val="100000"/>
              </a:lnSpc>
              <a:spcBef>
                <a:spcPct val="35000"/>
              </a:spcBef>
              <a:spcAft>
                <a:spcPct val="0"/>
              </a:spcAft>
              <a:buClr>
                <a:schemeClr val="tx2"/>
              </a:buClr>
              <a:buSzPct val="90000"/>
              <a:buFont typeface="Monotype Sorts" charset="2"/>
              <a:buNone/>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eval_for</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s_ID</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project_id</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i_ID</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evaluation_id</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The schema </a:t>
            </a:r>
            <a:r>
              <a:rPr kumimoji="1" lang="en-US" altLang="en-US" sz="2400" b="0" i="1" u="none" strike="noStrike" kern="1200" cap="none" spc="0" normalizeH="0" baseline="0" noProof="0" dirty="0" err="1">
                <a:ln>
                  <a:noFill/>
                </a:ln>
                <a:solidFill>
                  <a:srgbClr val="002060"/>
                </a:solidFill>
                <a:effectLst/>
                <a:uLnTx/>
                <a:uFillTx/>
                <a:latin typeface="Helvetica" charset="0"/>
                <a:ea typeface="MS PGothic" panose="020B0600070205080204" pitchFamily="34" charset="-128"/>
                <a:cs typeface="Arial" panose="020B0604020202020204" pitchFamily="34" charset="0"/>
              </a:rPr>
              <a:t>proj_guide</a:t>
            </a:r>
            <a:r>
              <a:rPr kumimoji="1" lang="en-US" altLang="en-US" sz="2400" b="0" i="0" u="none"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 is redundant</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p:txBody>
      </p:sp>
      <p:pic>
        <p:nvPicPr>
          <p:cNvPr id="122883" name="Picture 38"/>
          <p:cNvPicPr>
            <a:picLocks noChangeAspect="1"/>
          </p:cNvPicPr>
          <p:nvPr/>
        </p:nvPicPr>
        <p:blipFill>
          <a:blip r:embed="rId1"/>
          <a:stretch>
            <a:fillRect/>
          </a:stretch>
        </p:blipFill>
        <p:spPr>
          <a:xfrm>
            <a:off x="6495415" y="4731385"/>
            <a:ext cx="2327275" cy="1868805"/>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4"/>
          <p:cNvSpPr>
            <a:spLocks noGrp="1"/>
          </p:cNvSpPr>
          <p:nvPr>
            <p:ph type="ctrTitle"/>
          </p:nvPr>
        </p:nvSpPr>
        <p:spPr/>
        <p:txBody>
          <a:bodyPr vert="horz" wrap="square" lIns="91440" tIns="45720" rIns="91440" bIns="45720" anchor="b" anchorCtr="0"/>
          <a:lstStyle/>
          <a:p>
            <a:pPr>
              <a:buClrTx/>
              <a:buSzTx/>
              <a:buFontTx/>
            </a:pPr>
            <a:r>
              <a:rPr lang="en-US" altLang="zh-CN" sz="4800" dirty="0">
                <a:effectLst/>
              </a:rPr>
              <a:t>Design Issues</a:t>
            </a:r>
            <a:endParaRPr lang="en-US" altLang="zh-CN" sz="4800" dirty="0">
              <a:effectLs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idx="4294967295"/>
          </p:nvPr>
        </p:nvSpPr>
        <p:spPr>
          <a:xfrm>
            <a:off x="852488" y="42863"/>
            <a:ext cx="8077200"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Entities vs. Attributes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33122" name="Rectangle 3"/>
          <p:cNvSpPr>
            <a:spLocks noGrp="1"/>
          </p:cNvSpPr>
          <p:nvPr>
            <p:ph type="body"/>
          </p:nvPr>
        </p:nvSpPr>
        <p:spPr>
          <a:xfrm>
            <a:off x="247650" y="1093788"/>
            <a:ext cx="8383588" cy="5384800"/>
          </a:xfrm>
        </p:spPr>
        <p:txBody>
          <a:bodyPr vert="horz" wrap="square" lIns="91440" tIns="45720" rIns="91440" bIns="45720" anchor="t" anchorCtr="0"/>
          <a:lstStyle/>
          <a:p>
            <a:r>
              <a:rPr lang="en-US" altLang="zh-CN" sz="2400" dirty="0"/>
              <a:t>Use of </a:t>
            </a:r>
            <a:r>
              <a:rPr lang="en-US" altLang="zh-CN" sz="2400" b="1" i="1" u="sng" dirty="0">
                <a:solidFill>
                  <a:schemeClr val="tx2"/>
                </a:solidFill>
              </a:rPr>
              <a:t>entity sets</a:t>
            </a:r>
            <a:r>
              <a:rPr lang="en-US" altLang="zh-CN" sz="2400" dirty="0"/>
              <a:t> vs. </a:t>
            </a:r>
            <a:r>
              <a:rPr lang="en-US" altLang="zh-CN" sz="2400" b="1" i="1" u="sng" dirty="0">
                <a:solidFill>
                  <a:schemeClr val="tx2"/>
                </a:solidFill>
              </a:rPr>
              <a:t>attributes</a:t>
            </a:r>
            <a:br>
              <a:rPr lang="en-US" altLang="zh-CN" sz="2400" dirty="0"/>
            </a:br>
            <a:br>
              <a:rPr lang="en-US" altLang="zh-CN" sz="2400" b="1" dirty="0">
                <a:solidFill>
                  <a:schemeClr val="tx2"/>
                </a:solidFill>
              </a:rPr>
            </a:br>
            <a:br>
              <a:rPr lang="en-US" altLang="zh-CN" sz="2400" dirty="0"/>
            </a:br>
            <a:br>
              <a:rPr lang="en-US" altLang="zh-CN" sz="2400" dirty="0"/>
            </a:br>
            <a:br>
              <a:rPr lang="en-US" altLang="zh-CN" sz="2400" dirty="0"/>
            </a:br>
            <a:endParaRPr lang="en-US" altLang="zh-CN" sz="2400" dirty="0"/>
          </a:p>
          <a:p>
            <a:endParaRPr lang="en-US" altLang="zh-CN" sz="2400" dirty="0"/>
          </a:p>
          <a:p>
            <a:endParaRPr lang="en-US" altLang="zh-CN" sz="2400" dirty="0"/>
          </a:p>
          <a:p>
            <a:r>
              <a:rPr lang="en-US" altLang="zh-CN" sz="2400" dirty="0"/>
              <a:t>Use of phone as an entity allows extra information about phone numbers (plus multiple phone numbers)</a:t>
            </a:r>
            <a:endParaRPr lang="en-US" altLang="zh-CN" sz="2400" dirty="0"/>
          </a:p>
        </p:txBody>
      </p:sp>
      <p:pic>
        <p:nvPicPr>
          <p:cNvPr id="133123" name="Picture 5"/>
          <p:cNvPicPr>
            <a:picLocks noChangeAspect="1"/>
          </p:cNvPicPr>
          <p:nvPr/>
        </p:nvPicPr>
        <p:blipFill>
          <a:blip r:embed="rId1"/>
          <a:srcRect b="18642"/>
          <a:stretch>
            <a:fillRect/>
          </a:stretch>
        </p:blipFill>
        <p:spPr>
          <a:xfrm>
            <a:off x="339725" y="1873250"/>
            <a:ext cx="8535988" cy="1858963"/>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Entities vs. Relationship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35170" name="Rectangle 3"/>
          <p:cNvSpPr>
            <a:spLocks noGrp="1"/>
          </p:cNvSpPr>
          <p:nvPr>
            <p:ph type="body"/>
          </p:nvPr>
        </p:nvSpPr>
        <p:spPr>
          <a:xfrm>
            <a:off x="401638" y="1093788"/>
            <a:ext cx="8443912" cy="5138737"/>
          </a:xfrm>
        </p:spPr>
        <p:txBody>
          <a:bodyPr vert="horz" wrap="square" lIns="91440" tIns="45720" rIns="91440" bIns="45720" anchor="t" anchorCtr="0"/>
          <a:lstStyle/>
          <a:p>
            <a:pPr defTabSz="914400" latinLnBrk="0">
              <a:lnSpc>
                <a:spcPct val="100000"/>
              </a:lnSpc>
            </a:pPr>
            <a:r>
              <a:rPr lang="en-US" altLang="zh-CN" sz="2400" baseline="0" dirty="0"/>
              <a:t>Use of </a:t>
            </a:r>
            <a:r>
              <a:rPr lang="en-US" altLang="zh-CN" sz="2400" b="1" i="1" u="sng" baseline="0" dirty="0">
                <a:solidFill>
                  <a:schemeClr val="tx2"/>
                </a:solidFill>
              </a:rPr>
              <a:t>entity sets</a:t>
            </a:r>
            <a:r>
              <a:rPr lang="en-US" altLang="zh-CN" sz="2400" baseline="0" dirty="0"/>
              <a:t> vs. </a:t>
            </a:r>
            <a:r>
              <a:rPr lang="en-US" altLang="zh-CN" sz="2400" b="1" i="1" u="sng" baseline="0" dirty="0">
                <a:solidFill>
                  <a:schemeClr val="tx2"/>
                </a:solidFill>
              </a:rPr>
              <a:t>relationship sets</a:t>
            </a:r>
            <a:endParaRPr lang="en-US" altLang="zh-CN" sz="2400" baseline="0" dirty="0"/>
          </a:p>
          <a:p>
            <a:pPr lvl="1" defTabSz="914400" latinLnBrk="0">
              <a:lnSpc>
                <a:spcPct val="100000"/>
              </a:lnSpc>
            </a:pPr>
            <a:r>
              <a:rPr lang="en-US" altLang="zh-CN" sz="2400" baseline="0" dirty="0"/>
              <a:t>Possible guideline is to designate a relationship set to describe an action that occurs between entities</a:t>
            </a: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r>
              <a:rPr lang="en-US" altLang="zh-CN" sz="2400" baseline="0" dirty="0"/>
              <a:t>Placement of relationship attributes</a:t>
            </a:r>
            <a:endParaRPr lang="en-US" altLang="zh-CN" sz="2400" baseline="0" dirty="0"/>
          </a:p>
          <a:p>
            <a:pPr lvl="1" defTabSz="914400" latinLnBrk="0">
              <a:lnSpc>
                <a:spcPct val="100000"/>
              </a:lnSpc>
            </a:pPr>
            <a:endParaRPr lang="zh-CN" sz="1800" baseline="0"/>
          </a:p>
        </p:txBody>
      </p:sp>
      <p:pic>
        <p:nvPicPr>
          <p:cNvPr id="135171" name="Picture 5"/>
          <p:cNvPicPr>
            <a:picLocks noChangeAspect="1"/>
          </p:cNvPicPr>
          <p:nvPr/>
        </p:nvPicPr>
        <p:blipFill>
          <a:blip r:embed="rId1"/>
          <a:stretch>
            <a:fillRect/>
          </a:stretch>
        </p:blipFill>
        <p:spPr>
          <a:xfrm>
            <a:off x="1951038" y="2571750"/>
            <a:ext cx="5694362" cy="2093913"/>
          </a:xfrm>
          <a:prstGeom prst="rect">
            <a:avLst/>
          </a:prstGeom>
          <a:noFill/>
          <a:ln w="9525">
            <a:noFill/>
          </a:ln>
        </p:spPr>
      </p:pic>
      <p:sp>
        <p:nvSpPr>
          <p:cNvPr id="5" name="Rectangle 4"/>
          <p:cNvSpPr/>
          <p:nvPr/>
        </p:nvSpPr>
        <p:spPr>
          <a:xfrm>
            <a:off x="1238250" y="5507038"/>
            <a:ext cx="7607300" cy="64611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For example, attribute date as attribute of advisor or as attribute of student</a:t>
            </a:r>
            <a:endParaRPr kumimoji="1" 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idx="4294967295"/>
          </p:nvPr>
        </p:nvSpPr>
        <p:spPr>
          <a:xfrm>
            <a:off x="838200" y="95250"/>
            <a:ext cx="8077200"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Binary Vs. Non-Binary Relationships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37218" name="Rectangle 3"/>
          <p:cNvSpPr>
            <a:spLocks noGrp="1"/>
          </p:cNvSpPr>
          <p:nvPr>
            <p:ph type="body"/>
          </p:nvPr>
        </p:nvSpPr>
        <p:spPr>
          <a:xfrm>
            <a:off x="63500" y="989013"/>
            <a:ext cx="8955088" cy="5160962"/>
          </a:xfrm>
        </p:spPr>
        <p:txBody>
          <a:bodyPr vert="horz" wrap="square" lIns="91440" tIns="45720" rIns="91440" bIns="45720" anchor="t" anchorCtr="0"/>
          <a:lstStyle/>
          <a:p>
            <a:r>
              <a:rPr lang="en-US" altLang="zh-CN" sz="2000" dirty="0"/>
              <a:t>Although it is possible to replace any non-binary (</a:t>
            </a:r>
            <a:r>
              <a:rPr lang="en-US" altLang="zh-CN" sz="2000" i="1" dirty="0"/>
              <a:t>n</a:t>
            </a:r>
            <a:r>
              <a:rPr lang="en-US" altLang="zh-CN" sz="2000" dirty="0"/>
              <a:t>-ary, for </a:t>
            </a:r>
            <a:r>
              <a:rPr lang="en-US" altLang="zh-CN" sz="2000" i="1" dirty="0"/>
              <a:t>n</a:t>
            </a:r>
            <a:r>
              <a:rPr lang="en-US" altLang="zh-CN" sz="2000" dirty="0"/>
              <a:t> &gt; 2) relationship set by a number of distinct binary relationship sets, a </a:t>
            </a:r>
            <a:r>
              <a:rPr lang="en-US" altLang="zh-CN" sz="2000" i="1" dirty="0"/>
              <a:t>n</a:t>
            </a:r>
            <a:r>
              <a:rPr lang="en-US" altLang="zh-CN" sz="2000" dirty="0"/>
              <a:t>-ary relationship set shows more clearly that several entities participate in a single relationship.</a:t>
            </a:r>
            <a:endParaRPr lang="en-US" altLang="zh-CN" sz="2000" dirty="0"/>
          </a:p>
          <a:p>
            <a:r>
              <a:rPr lang="en-US" altLang="zh-CN" sz="2000" dirty="0"/>
              <a:t>Some relationships that appear to be non-binary may be better represented using binary relationships</a:t>
            </a:r>
            <a:endParaRPr lang="en-US" altLang="zh-CN" sz="2000" dirty="0"/>
          </a:p>
          <a:p>
            <a:pPr lvl="1"/>
            <a:r>
              <a:rPr lang="en-US" altLang="zh-CN" sz="2000" dirty="0"/>
              <a:t>For example,  a ternary relationship </a:t>
            </a:r>
            <a:r>
              <a:rPr lang="en-US" altLang="zh-CN" sz="2000" i="1" dirty="0"/>
              <a:t>parents</a:t>
            </a:r>
            <a:r>
              <a:rPr lang="en-US" altLang="zh-CN" sz="2000" dirty="0"/>
              <a:t>, relating a child to his/her father and mother, is best replaced by two binary relationships,  </a:t>
            </a:r>
            <a:r>
              <a:rPr lang="en-US" altLang="zh-CN" sz="2000" i="1" dirty="0"/>
              <a:t>father</a:t>
            </a:r>
            <a:r>
              <a:rPr lang="en-US" altLang="zh-CN" sz="2000" dirty="0"/>
              <a:t> and </a:t>
            </a:r>
            <a:r>
              <a:rPr lang="en-US" altLang="zh-CN" sz="2000" i="1" dirty="0"/>
              <a:t>mother</a:t>
            </a:r>
            <a:endParaRPr lang="en-US" altLang="zh-CN" sz="2000" i="1" dirty="0"/>
          </a:p>
          <a:p>
            <a:pPr lvl="2"/>
            <a:r>
              <a:rPr lang="en-US" altLang="zh-CN" sz="2000" dirty="0"/>
              <a:t>Using two binary relationships allows partial information (e.g., only mother being known)</a:t>
            </a:r>
            <a:endParaRPr lang="en-US" altLang="zh-CN" sz="2000" dirty="0"/>
          </a:p>
          <a:p>
            <a:pPr lvl="1"/>
            <a:r>
              <a:rPr lang="en-US" altLang="zh-CN" sz="2000" dirty="0"/>
              <a:t>But there are some relationships that are naturally non-binary</a:t>
            </a:r>
            <a:endParaRPr lang="en-US" altLang="zh-CN" sz="2000" dirty="0"/>
          </a:p>
          <a:p>
            <a:pPr lvl="2"/>
            <a:r>
              <a:rPr lang="en-US" altLang="zh-CN" sz="2000" dirty="0"/>
              <a:t>Example: </a:t>
            </a:r>
            <a:r>
              <a:rPr lang="en-US" altLang="zh-CN" sz="2000" i="1" dirty="0"/>
              <a:t>proj_guide</a:t>
            </a:r>
            <a:endParaRPr lang="en-US" altLang="zh-CN" sz="2000" i="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idx="4294967295"/>
          </p:nvPr>
        </p:nvSpPr>
        <p:spPr>
          <a:xfrm>
            <a:off x="506413" y="69850"/>
            <a:ext cx="8637588"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Converting Non-Binary Relationships to Binary Form</a:t>
            </a:r>
            <a:endParaRPr kumimoji="1" lang="en-US" altLang="zh-CN" sz="2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39266" name="Rectangle 3"/>
          <p:cNvSpPr>
            <a:spLocks noGrp="1"/>
          </p:cNvSpPr>
          <p:nvPr>
            <p:ph type="body"/>
          </p:nvPr>
        </p:nvSpPr>
        <p:spPr>
          <a:xfrm>
            <a:off x="85725" y="1050925"/>
            <a:ext cx="8891588" cy="3932238"/>
          </a:xfrm>
        </p:spPr>
        <p:txBody>
          <a:bodyPr vert="horz" wrap="square" lIns="91440" tIns="45720" rIns="91440" bIns="45720" anchor="t" anchorCtr="0"/>
          <a:lstStyle/>
          <a:p>
            <a:pPr>
              <a:lnSpc>
                <a:spcPct val="90000"/>
              </a:lnSpc>
            </a:pPr>
            <a:r>
              <a:rPr lang="en-US" altLang="zh-CN" sz="2400" dirty="0"/>
              <a:t>In general, any non-binary relationship can be represented using binary relationships by </a:t>
            </a:r>
            <a:r>
              <a:rPr lang="en-US" altLang="zh-CN" sz="2400" dirty="0">
                <a:solidFill>
                  <a:srgbClr val="C00000"/>
                </a:solidFill>
              </a:rPr>
              <a:t>creating an artificial entity set</a:t>
            </a:r>
            <a:r>
              <a:rPr lang="en-US" altLang="zh-CN" sz="2400" dirty="0"/>
              <a:t>.</a:t>
            </a:r>
            <a:endParaRPr lang="en-US" altLang="zh-CN" sz="2400" dirty="0"/>
          </a:p>
          <a:p>
            <a:pPr lvl="1">
              <a:lnSpc>
                <a:spcPct val="90000"/>
              </a:lnSpc>
            </a:pPr>
            <a:r>
              <a:rPr lang="en-US" altLang="zh-CN" sz="2000" dirty="0"/>
              <a:t>Replace </a:t>
            </a:r>
            <a:r>
              <a:rPr lang="en-US" altLang="zh-CN" sz="2000" i="1" dirty="0"/>
              <a:t>R </a:t>
            </a:r>
            <a:r>
              <a:rPr lang="en-US" altLang="zh-CN" sz="2000" dirty="0"/>
              <a:t>between entity sets A, B and C</a:t>
            </a:r>
            <a:r>
              <a:rPr lang="en-US" altLang="zh-CN" sz="2000" i="1" dirty="0"/>
              <a:t> </a:t>
            </a:r>
            <a:r>
              <a:rPr lang="en-US" altLang="zh-CN" sz="2000" dirty="0"/>
              <a:t>by </a:t>
            </a:r>
            <a:r>
              <a:rPr lang="en-US" altLang="zh-CN" sz="2000" b="1" dirty="0">
                <a:solidFill>
                  <a:srgbClr val="002060"/>
                </a:solidFill>
              </a:rPr>
              <a:t>an entity set </a:t>
            </a:r>
            <a:r>
              <a:rPr lang="en-US" altLang="zh-CN" sz="2000" b="1" i="1" dirty="0">
                <a:solidFill>
                  <a:srgbClr val="002060"/>
                </a:solidFill>
              </a:rPr>
              <a:t>E</a:t>
            </a:r>
            <a:r>
              <a:rPr lang="en-US" altLang="zh-CN" sz="2000" dirty="0"/>
              <a:t>, and three relationship sets: </a:t>
            </a:r>
            <a:endParaRPr lang="en-US" altLang="zh-CN" sz="2000" dirty="0"/>
          </a:p>
          <a:p>
            <a:pPr>
              <a:lnSpc>
                <a:spcPct val="90000"/>
              </a:lnSpc>
              <a:buNone/>
            </a:pPr>
            <a:r>
              <a:rPr lang="en-US" altLang="zh-CN" sz="2000" dirty="0"/>
              <a:t>		1. </a:t>
            </a:r>
            <a:r>
              <a:rPr lang="en-US" altLang="zh-CN" sz="2000" i="1" dirty="0"/>
              <a:t>R</a:t>
            </a:r>
            <a:r>
              <a:rPr lang="en-US" altLang="zh-CN" sz="2000" i="1" baseline="-25000" dirty="0"/>
              <a:t>A</a:t>
            </a:r>
            <a:r>
              <a:rPr lang="en-US" altLang="zh-CN" sz="2000" dirty="0"/>
              <a:t>, relating </a:t>
            </a:r>
            <a:r>
              <a:rPr lang="en-US" altLang="zh-CN" sz="2000" i="1" dirty="0"/>
              <a:t>E </a:t>
            </a:r>
            <a:r>
              <a:rPr lang="en-US" altLang="zh-CN" sz="2000" dirty="0"/>
              <a:t>and </a:t>
            </a:r>
            <a:r>
              <a:rPr lang="en-US" altLang="zh-CN" sz="2000" i="1" dirty="0"/>
              <a:t>A        </a:t>
            </a:r>
            <a:r>
              <a:rPr lang="en-US" altLang="zh-CN" sz="2000" dirty="0"/>
              <a:t>2.  </a:t>
            </a:r>
            <a:r>
              <a:rPr lang="en-US" altLang="zh-CN" sz="2000" i="1" dirty="0"/>
              <a:t>R</a:t>
            </a:r>
            <a:r>
              <a:rPr lang="en-US" altLang="zh-CN" sz="2000" i="1" baseline="-25000" dirty="0"/>
              <a:t>B</a:t>
            </a:r>
            <a:r>
              <a:rPr lang="en-US" altLang="zh-CN" sz="2000" dirty="0"/>
              <a:t>, relating </a:t>
            </a:r>
            <a:r>
              <a:rPr lang="en-US" altLang="zh-CN" sz="2000" i="1" dirty="0"/>
              <a:t>E </a:t>
            </a:r>
            <a:r>
              <a:rPr lang="en-US" altLang="zh-CN" sz="2000" dirty="0"/>
              <a:t>and </a:t>
            </a:r>
            <a:r>
              <a:rPr lang="en-US" altLang="zh-CN" sz="2000" i="1" dirty="0"/>
              <a:t>B      </a:t>
            </a:r>
            <a:br>
              <a:rPr lang="en-US" altLang="zh-CN" sz="2000" i="1" dirty="0"/>
            </a:br>
            <a:r>
              <a:rPr lang="en-US" altLang="zh-CN" sz="2000" i="1" dirty="0"/>
              <a:t>        </a:t>
            </a:r>
            <a:r>
              <a:rPr lang="en-US" altLang="zh-CN" sz="2000" dirty="0"/>
              <a:t>3. </a:t>
            </a:r>
            <a:r>
              <a:rPr lang="en-US" altLang="zh-CN" sz="2000" i="1" dirty="0"/>
              <a:t>R</a:t>
            </a:r>
            <a:r>
              <a:rPr lang="en-US" altLang="zh-CN" sz="2000" i="1" baseline="-25000" dirty="0"/>
              <a:t>C</a:t>
            </a:r>
            <a:r>
              <a:rPr lang="en-US" altLang="zh-CN" sz="2000" dirty="0"/>
              <a:t>, relating </a:t>
            </a:r>
            <a:r>
              <a:rPr lang="en-US" altLang="zh-CN" sz="2000" i="1" dirty="0"/>
              <a:t>E </a:t>
            </a:r>
            <a:r>
              <a:rPr lang="en-US" altLang="zh-CN" sz="2000" dirty="0"/>
              <a:t>and </a:t>
            </a:r>
            <a:r>
              <a:rPr lang="en-US" altLang="zh-CN" sz="2000" i="1" dirty="0"/>
              <a:t>C</a:t>
            </a:r>
            <a:endParaRPr lang="en-US" altLang="zh-CN" sz="2000" i="1" dirty="0"/>
          </a:p>
          <a:p>
            <a:pPr lvl="1">
              <a:lnSpc>
                <a:spcPct val="90000"/>
              </a:lnSpc>
            </a:pPr>
            <a:r>
              <a:rPr lang="en-US" altLang="zh-CN" sz="2000" dirty="0">
                <a:solidFill>
                  <a:srgbClr val="006600"/>
                </a:solidFill>
              </a:rPr>
              <a:t>Create an identifying attribute for </a:t>
            </a:r>
            <a:r>
              <a:rPr lang="en-US" altLang="zh-CN" sz="2000" i="1" dirty="0">
                <a:solidFill>
                  <a:srgbClr val="006600"/>
                </a:solidFill>
              </a:rPr>
              <a:t>E</a:t>
            </a:r>
            <a:r>
              <a:rPr lang="en-US" altLang="zh-CN" sz="2000" i="1" dirty="0"/>
              <a:t> and </a:t>
            </a:r>
            <a:r>
              <a:rPr lang="en-US" altLang="zh-CN" sz="2000" dirty="0">
                <a:solidFill>
                  <a:srgbClr val="006600"/>
                </a:solidFill>
              </a:rPr>
              <a:t>add any attributes of </a:t>
            </a:r>
            <a:r>
              <a:rPr lang="en-US" altLang="zh-CN" sz="2000" i="1" dirty="0">
                <a:solidFill>
                  <a:srgbClr val="006600"/>
                </a:solidFill>
              </a:rPr>
              <a:t>R </a:t>
            </a:r>
            <a:r>
              <a:rPr lang="en-US" altLang="zh-CN" sz="2000" dirty="0">
                <a:solidFill>
                  <a:srgbClr val="006600"/>
                </a:solidFill>
              </a:rPr>
              <a:t>to </a:t>
            </a:r>
            <a:r>
              <a:rPr lang="en-US" altLang="zh-CN" sz="2000" i="1" dirty="0">
                <a:solidFill>
                  <a:srgbClr val="006600"/>
                </a:solidFill>
              </a:rPr>
              <a:t>E</a:t>
            </a:r>
            <a:r>
              <a:rPr lang="en-US" altLang="zh-CN" sz="2000" i="1" dirty="0"/>
              <a:t> </a:t>
            </a:r>
            <a:endParaRPr lang="en-US" altLang="zh-CN" sz="2000" i="1" dirty="0"/>
          </a:p>
          <a:p>
            <a:pPr lvl="1">
              <a:lnSpc>
                <a:spcPct val="90000"/>
              </a:lnSpc>
            </a:pPr>
            <a:r>
              <a:rPr lang="en-US" altLang="zh-CN" sz="2000" dirty="0"/>
              <a:t>For each relationship (</a:t>
            </a:r>
            <a:r>
              <a:rPr lang="en-US" altLang="zh-CN" sz="2000" i="1" dirty="0"/>
              <a:t>a</a:t>
            </a:r>
            <a:r>
              <a:rPr lang="en-US" altLang="zh-CN" sz="2000" i="1" baseline="-25000" dirty="0"/>
              <a:t>i</a:t>
            </a:r>
            <a:r>
              <a:rPr lang="en-US" altLang="zh-CN" sz="2000" i="1" dirty="0"/>
              <a:t> , b</a:t>
            </a:r>
            <a:r>
              <a:rPr lang="en-US" altLang="zh-CN" sz="2000" i="1" baseline="-25000" dirty="0"/>
              <a:t>i</a:t>
            </a:r>
            <a:r>
              <a:rPr lang="en-US" altLang="zh-CN" sz="2000" i="1" dirty="0"/>
              <a:t> , c</a:t>
            </a:r>
            <a:r>
              <a:rPr lang="en-US" altLang="zh-CN" sz="2000" i="1" baseline="-25000" dirty="0"/>
              <a:t>i</a:t>
            </a:r>
            <a:r>
              <a:rPr lang="en-US" altLang="zh-CN" sz="2000" dirty="0"/>
              <a:t>) in </a:t>
            </a:r>
            <a:r>
              <a:rPr lang="en-US" altLang="zh-CN" sz="2000" i="1" dirty="0"/>
              <a:t>R,</a:t>
            </a:r>
            <a:r>
              <a:rPr lang="en-US" altLang="zh-CN" sz="2000" dirty="0"/>
              <a:t> create </a:t>
            </a:r>
            <a:endParaRPr lang="en-US" altLang="zh-CN" sz="2000" dirty="0"/>
          </a:p>
          <a:p>
            <a:pPr>
              <a:lnSpc>
                <a:spcPct val="90000"/>
              </a:lnSpc>
              <a:buNone/>
            </a:pPr>
            <a:r>
              <a:rPr lang="en-US" altLang="zh-CN" sz="2000" dirty="0"/>
              <a:t>	      1. a new entity </a:t>
            </a:r>
            <a:r>
              <a:rPr lang="en-US" altLang="zh-CN" sz="2000" i="1" dirty="0"/>
              <a:t>e</a:t>
            </a:r>
            <a:r>
              <a:rPr lang="en-US" altLang="zh-CN" sz="2000" i="1" baseline="-25000" dirty="0"/>
              <a:t>i</a:t>
            </a:r>
            <a:r>
              <a:rPr lang="en-US" altLang="zh-CN" sz="2000" i="1" dirty="0"/>
              <a:t> </a:t>
            </a:r>
            <a:r>
              <a:rPr lang="en-US" altLang="zh-CN" sz="2000" dirty="0"/>
              <a:t>in the entity set </a:t>
            </a:r>
            <a:r>
              <a:rPr lang="en-US" altLang="zh-CN" sz="2000" i="1" dirty="0"/>
              <a:t>E       </a:t>
            </a:r>
            <a:r>
              <a:rPr lang="en-US" altLang="zh-CN" sz="2000" dirty="0"/>
              <a:t>2. add (</a:t>
            </a:r>
            <a:r>
              <a:rPr lang="en-US" altLang="zh-CN" sz="2000" i="1" dirty="0"/>
              <a:t>e</a:t>
            </a:r>
            <a:r>
              <a:rPr lang="en-US" altLang="zh-CN" sz="2000" i="1" baseline="-25000" dirty="0"/>
              <a:t>i</a:t>
            </a:r>
            <a:r>
              <a:rPr lang="en-US" altLang="zh-CN" sz="2000" i="1" dirty="0"/>
              <a:t> , a</a:t>
            </a:r>
            <a:r>
              <a:rPr lang="en-US" altLang="zh-CN" sz="2000" i="1" baseline="-25000" dirty="0"/>
              <a:t>i </a:t>
            </a:r>
            <a:r>
              <a:rPr lang="en-US" altLang="zh-CN" sz="2000" dirty="0"/>
              <a:t>) to </a:t>
            </a:r>
            <a:r>
              <a:rPr lang="en-US" altLang="zh-CN" sz="2000" i="1" dirty="0"/>
              <a:t>R</a:t>
            </a:r>
            <a:r>
              <a:rPr lang="en-US" altLang="zh-CN" sz="2000" i="1" baseline="-25000" dirty="0"/>
              <a:t>A</a:t>
            </a:r>
            <a:endParaRPr lang="en-US" altLang="zh-CN" sz="2000" i="1" baseline="-25000" dirty="0"/>
          </a:p>
          <a:p>
            <a:pPr>
              <a:lnSpc>
                <a:spcPct val="90000"/>
              </a:lnSpc>
              <a:buNone/>
            </a:pPr>
            <a:r>
              <a:rPr lang="en-US" altLang="zh-CN" sz="2000" dirty="0"/>
              <a:t>	      3. add (</a:t>
            </a:r>
            <a:r>
              <a:rPr lang="en-US" altLang="zh-CN" sz="2000" i="1" dirty="0"/>
              <a:t>e</a:t>
            </a:r>
            <a:r>
              <a:rPr lang="en-US" altLang="zh-CN" sz="2000" i="1" baseline="-25000" dirty="0"/>
              <a:t>i</a:t>
            </a:r>
            <a:r>
              <a:rPr lang="en-US" altLang="zh-CN" sz="2000" i="1" dirty="0"/>
              <a:t> , b</a:t>
            </a:r>
            <a:r>
              <a:rPr lang="en-US" altLang="zh-CN" sz="2000" i="1" baseline="-25000" dirty="0"/>
              <a:t>i</a:t>
            </a:r>
            <a:r>
              <a:rPr lang="en-US" altLang="zh-CN" sz="2000" i="1" dirty="0"/>
              <a:t> </a:t>
            </a:r>
            <a:r>
              <a:rPr lang="en-US" altLang="zh-CN" sz="2000" dirty="0"/>
              <a:t>) to </a:t>
            </a:r>
            <a:r>
              <a:rPr lang="en-US" altLang="zh-CN" sz="2000" i="1" dirty="0"/>
              <a:t>R</a:t>
            </a:r>
            <a:r>
              <a:rPr lang="en-US" altLang="zh-CN" sz="2000" i="1" baseline="-25000" dirty="0"/>
              <a:t>B</a:t>
            </a:r>
            <a:r>
              <a:rPr lang="en-US" altLang="zh-CN" sz="2000" i="1" dirty="0"/>
              <a:t>      </a:t>
            </a:r>
            <a:r>
              <a:rPr lang="en-US" altLang="zh-CN" sz="2000" dirty="0"/>
              <a:t>	                     4. add (</a:t>
            </a:r>
            <a:r>
              <a:rPr lang="en-US" altLang="zh-CN" sz="2000" i="1" dirty="0"/>
              <a:t>e</a:t>
            </a:r>
            <a:r>
              <a:rPr lang="en-US" altLang="zh-CN" sz="2000" i="1" baseline="-25000" dirty="0"/>
              <a:t>i</a:t>
            </a:r>
            <a:r>
              <a:rPr lang="en-US" altLang="zh-CN" sz="2000" i="1" dirty="0"/>
              <a:t> , c</a:t>
            </a:r>
            <a:r>
              <a:rPr lang="en-US" altLang="zh-CN" sz="2000" i="1" baseline="-25000" dirty="0"/>
              <a:t>i </a:t>
            </a:r>
            <a:r>
              <a:rPr lang="en-US" altLang="zh-CN" sz="2000" dirty="0"/>
              <a:t>) to </a:t>
            </a:r>
            <a:r>
              <a:rPr lang="en-US" altLang="zh-CN" sz="2000" i="1" dirty="0"/>
              <a:t>R</a:t>
            </a:r>
            <a:r>
              <a:rPr lang="en-US" altLang="zh-CN" sz="2000" i="1" baseline="-25000" dirty="0"/>
              <a:t>C</a:t>
            </a:r>
            <a:endParaRPr lang="en-US" altLang="zh-CN" sz="2000" i="1" baseline="-25000" dirty="0"/>
          </a:p>
        </p:txBody>
      </p:sp>
      <p:pic>
        <p:nvPicPr>
          <p:cNvPr id="139267" name="Picture 6"/>
          <p:cNvPicPr>
            <a:picLocks noChangeAspect="1"/>
          </p:cNvPicPr>
          <p:nvPr/>
        </p:nvPicPr>
        <p:blipFill>
          <a:blip r:embed="rId1"/>
          <a:stretch>
            <a:fillRect/>
          </a:stretch>
        </p:blipFill>
        <p:spPr>
          <a:xfrm>
            <a:off x="1779588" y="4803775"/>
            <a:ext cx="5608637" cy="1903413"/>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custDataLst>
              <p:tags r:id="rId1"/>
            </p:custDataLst>
          </p:nvPr>
        </p:nvPicPr>
        <p:blipFill>
          <a:blip r:embed="rId2"/>
          <a:stretch>
            <a:fillRect/>
          </a:stretch>
        </p:blipFill>
        <p:spPr>
          <a:xfrm>
            <a:off x="1348733" y="4172204"/>
            <a:ext cx="6516802" cy="2211451"/>
          </a:xfrm>
          <a:prstGeom prst="rect">
            <a:avLst/>
          </a:prstGeom>
        </p:spPr>
      </p:pic>
      <p:sp>
        <p:nvSpPr>
          <p:cNvPr id="141314" name="Rectangle 3"/>
          <p:cNvSpPr>
            <a:spLocks noGrp="1"/>
          </p:cNvSpPr>
          <p:nvPr/>
        </p:nvSpPr>
        <p:spPr>
          <a:xfrm>
            <a:off x="171450" y="1009650"/>
            <a:ext cx="8632825" cy="48228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35000"/>
              </a:spcBef>
              <a:spcAft>
                <a:spcPct val="0"/>
              </a:spcAft>
              <a:buClr>
                <a:schemeClr val="tx2"/>
              </a:buClr>
              <a:buSzPct val="90000"/>
              <a:buFont typeface="Monotype Sorts" charset="0"/>
              <a:buChar char="n"/>
              <a:defRPr kumimoji="1">
                <a:solidFill>
                  <a:schemeClr val="tx1"/>
                </a:solidFill>
                <a:latin typeface="Arial" panose="020B0604020202020204"/>
                <a:ea typeface="宋体" panose="02010600030101010101" pitchFamily="2" charset="-122"/>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a:solidFill>
                  <a:schemeClr val="tx1"/>
                </a:solidFill>
                <a:latin typeface="Arial" panose="020B0604020202020204"/>
                <a:ea typeface="Arial" panose="020B0604020202020204" pitchFamily="34" charset="0"/>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a:solidFill>
                  <a:schemeClr val="tx1"/>
                </a:solidFill>
                <a:latin typeface="Arial" panose="020B0604020202020204"/>
                <a:ea typeface="Arial" panose="020B0604020202020204" pitchFamily="34" charset="0"/>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a:solidFill>
                  <a:schemeClr val="tx1"/>
                </a:solidFill>
                <a:latin typeface="Arial" panose="020B0604020202020204"/>
                <a:ea typeface="Arial" panose="020B0604020202020204" pitchFamily="34" charset="0"/>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Arial" panose="020B0604020202020204"/>
                <a:ea typeface="Arial" panose="020B0604020202020204" pitchFamily="34" charset="0"/>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r>
              <a:rPr lang="en-US" altLang="zh-CN" sz="2400" dirty="0"/>
              <a:t>R</a:t>
            </a:r>
            <a:r>
              <a:rPr lang="en-US" altLang="zh-CN" sz="2400" baseline="-25000" dirty="0"/>
              <a:t>A</a:t>
            </a:r>
            <a:r>
              <a:rPr lang="zh-CN" altLang="en-US" sz="2400" dirty="0"/>
              <a:t>，</a:t>
            </a:r>
            <a:r>
              <a:rPr lang="zh-CN" altLang="zh-CN" sz="2400" dirty="0"/>
              <a:t>从</a:t>
            </a:r>
            <a:r>
              <a:rPr lang="en-US" altLang="zh-CN" sz="2400" dirty="0"/>
              <a:t>E</a:t>
            </a:r>
            <a:r>
              <a:rPr lang="zh-CN" altLang="en-US" sz="2400" dirty="0"/>
              <a:t>到</a:t>
            </a:r>
            <a:r>
              <a:rPr lang="en-US" altLang="zh-CN" sz="2400" dirty="0"/>
              <a:t>A</a:t>
            </a:r>
            <a:r>
              <a:rPr lang="zh-CN" altLang="en-US" sz="2400" dirty="0"/>
              <a:t>的多对一联系集</a:t>
            </a:r>
            <a:endParaRPr lang="zh-CN" altLang="en-US" sz="2400" dirty="0"/>
          </a:p>
          <a:p>
            <a:r>
              <a:rPr lang="en-US" altLang="zh-CN" sz="2400" dirty="0">
                <a:sym typeface="+mn-ea"/>
              </a:rPr>
              <a:t>R</a:t>
            </a:r>
            <a:r>
              <a:rPr lang="en-US" altLang="zh-CN" sz="2400" baseline="-25000" dirty="0">
                <a:sym typeface="+mn-ea"/>
              </a:rPr>
              <a:t>B</a:t>
            </a:r>
            <a:r>
              <a:rPr lang="zh-CN" altLang="en-US" sz="2400" dirty="0">
                <a:sym typeface="+mn-ea"/>
              </a:rPr>
              <a:t>，</a:t>
            </a:r>
            <a:r>
              <a:rPr lang="zh-CN" altLang="zh-CN" sz="2400" dirty="0">
                <a:sym typeface="+mn-ea"/>
              </a:rPr>
              <a:t>从</a:t>
            </a:r>
            <a:r>
              <a:rPr lang="en-US" altLang="zh-CN" sz="2400" dirty="0">
                <a:sym typeface="+mn-ea"/>
              </a:rPr>
              <a:t>E</a:t>
            </a:r>
            <a:r>
              <a:rPr lang="zh-CN" altLang="en-US" sz="2400" dirty="0">
                <a:sym typeface="+mn-ea"/>
              </a:rPr>
              <a:t>到</a:t>
            </a:r>
            <a:r>
              <a:rPr lang="en-US" altLang="zh-CN" sz="2400" dirty="0">
                <a:sym typeface="+mn-ea"/>
              </a:rPr>
              <a:t>B</a:t>
            </a:r>
            <a:r>
              <a:rPr lang="zh-CN" altLang="en-US" sz="2400" dirty="0">
                <a:sym typeface="+mn-ea"/>
              </a:rPr>
              <a:t>的多对一联系集</a:t>
            </a:r>
            <a:endParaRPr lang="zh-CN" altLang="en-US" sz="2400" dirty="0"/>
          </a:p>
          <a:p>
            <a:r>
              <a:rPr lang="en-US" altLang="zh-CN" sz="2400" dirty="0">
                <a:sym typeface="+mn-ea"/>
              </a:rPr>
              <a:t>R</a:t>
            </a:r>
            <a:r>
              <a:rPr lang="en-US" altLang="zh-CN" sz="2400" baseline="-25000" dirty="0">
                <a:sym typeface="+mn-ea"/>
              </a:rPr>
              <a:t>C</a:t>
            </a:r>
            <a:r>
              <a:rPr lang="zh-CN" altLang="en-US" sz="2400" dirty="0">
                <a:sym typeface="+mn-ea"/>
              </a:rPr>
              <a:t>，</a:t>
            </a:r>
            <a:r>
              <a:rPr lang="zh-CN" altLang="zh-CN" sz="2400" dirty="0">
                <a:sym typeface="+mn-ea"/>
              </a:rPr>
              <a:t>从</a:t>
            </a:r>
            <a:r>
              <a:rPr lang="en-US" altLang="zh-CN" sz="2400" dirty="0">
                <a:sym typeface="+mn-ea"/>
              </a:rPr>
              <a:t>E</a:t>
            </a:r>
            <a:r>
              <a:rPr lang="zh-CN" altLang="en-US" sz="2400" dirty="0">
                <a:sym typeface="+mn-ea"/>
              </a:rPr>
              <a:t>到</a:t>
            </a:r>
            <a:r>
              <a:rPr lang="en-US" altLang="zh-CN" sz="2400" dirty="0">
                <a:sym typeface="+mn-ea"/>
              </a:rPr>
              <a:t>C</a:t>
            </a:r>
            <a:r>
              <a:rPr lang="zh-CN" altLang="en-US" sz="2400" dirty="0">
                <a:sym typeface="+mn-ea"/>
              </a:rPr>
              <a:t>的多对一联系集</a:t>
            </a:r>
            <a:endParaRPr lang="zh-CN" altLang="en-US" sz="2400" dirty="0"/>
          </a:p>
          <a:p>
            <a:pPr lvl="1"/>
            <a:r>
              <a:rPr lang="zh-CN" altLang="en-US" sz="2400" dirty="0">
                <a:ea typeface="宋体" panose="02010600030101010101" pitchFamily="2" charset="-122"/>
              </a:rPr>
              <a:t>额外的联系集增加了设计的复杂性、总的存储空间需求</a:t>
            </a:r>
            <a:endParaRPr lang="zh-CN" altLang="en-US" sz="2400" dirty="0">
              <a:ea typeface="宋体" panose="02010600030101010101" pitchFamily="2" charset="-122"/>
            </a:endParaRPr>
          </a:p>
          <a:p>
            <a:pPr lvl="1"/>
            <a:r>
              <a:rPr lang="zh-CN" altLang="en-US" sz="2400" dirty="0">
                <a:ea typeface="宋体" panose="02010600030101010101" pitchFamily="2" charset="-122"/>
              </a:rPr>
              <a:t>有可能无法将三元联系上的约束转换为多个二元联系上的约束</a:t>
            </a:r>
            <a:r>
              <a:rPr lang="en-US" altLang="zh-CN" sz="2400" dirty="0"/>
              <a:t> </a:t>
            </a:r>
            <a:endParaRPr lang="en-US" altLang="zh-CN" sz="2400" dirty="0"/>
          </a:p>
        </p:txBody>
      </p:sp>
      <p:sp>
        <p:nvSpPr>
          <p:cNvPr id="650242" name="Rectangle 2"/>
          <p:cNvSpPr>
            <a:spLocks noGrp="1" noChangeArrowheads="1"/>
          </p:cNvSpPr>
          <p:nvPr/>
        </p:nvSpPr>
        <p:spPr>
          <a:xfrm>
            <a:off x="506413" y="69850"/>
            <a:ext cx="8637588" cy="609600"/>
          </a:xfrm>
          <a:prstGeom prst="rect">
            <a:avLst/>
          </a:prstGeom>
          <a:noFill/>
          <a:ln w="9525">
            <a:noFill/>
            <a:miter lim="800000"/>
          </a:ln>
        </p:spPr>
        <p:txBody>
          <a:bodyPr vert="horz" wrap="square" lIns="91440" tIns="45720" rIns="91440" bIns="45720" numCol="1" anchor="b" anchorCtr="0" compatLnSpc="1"/>
          <a:lst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a:ea typeface="宋体" panose="02010600030101010101" pitchFamily="2" charset="-122"/>
                <a:cs typeface="Arial" panose="020B0604020202020204"/>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Converting Non-Binary Relationships to Binary Form</a:t>
            </a:r>
            <a:endParaRPr kumimoji="1" lang="en-US" altLang="zh-CN" sz="2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idx="4294967295"/>
          </p:nvPr>
        </p:nvSpPr>
        <p:spPr>
          <a:xfrm>
            <a:off x="781050" y="-15875"/>
            <a:ext cx="8096250" cy="696913"/>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Converting Non-Binary Relationships (Cont.)</a:t>
            </a:r>
            <a:endPar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41314" name="Rectangle 3"/>
          <p:cNvSpPr>
            <a:spLocks noGrp="1"/>
          </p:cNvSpPr>
          <p:nvPr>
            <p:ph type="body"/>
          </p:nvPr>
        </p:nvSpPr>
        <p:spPr>
          <a:xfrm>
            <a:off x="171450" y="1009650"/>
            <a:ext cx="8632825" cy="4822825"/>
          </a:xfrm>
        </p:spPr>
        <p:txBody>
          <a:bodyPr vert="horz" wrap="square" lIns="91440" tIns="45720" rIns="91440" bIns="45720" anchor="t" anchorCtr="0"/>
          <a:lstStyle/>
          <a:p>
            <a:r>
              <a:rPr lang="en-US" altLang="zh-CN" sz="2800" dirty="0"/>
              <a:t>Also need to translate constraints</a:t>
            </a:r>
            <a:endParaRPr lang="en-US" altLang="zh-CN" sz="2800" dirty="0"/>
          </a:p>
          <a:p>
            <a:pPr lvl="1"/>
            <a:r>
              <a:rPr lang="en-US" altLang="zh-CN" sz="2400" dirty="0"/>
              <a:t>Translating all constraints may not be possible</a:t>
            </a:r>
            <a:endParaRPr lang="en-US" altLang="zh-CN" sz="2400" dirty="0"/>
          </a:p>
          <a:p>
            <a:pPr lvl="1"/>
            <a:r>
              <a:rPr lang="en-US" altLang="zh-CN" sz="2400" dirty="0"/>
              <a:t>There may be instances in the translated schema that cannot correspond to any instance of </a:t>
            </a:r>
            <a:r>
              <a:rPr lang="en-US" altLang="zh-CN" sz="2400" i="1" dirty="0"/>
              <a:t>R</a:t>
            </a:r>
            <a:endParaRPr lang="en-US" altLang="zh-CN" sz="2400" i="1" dirty="0"/>
          </a:p>
          <a:p>
            <a:pPr lvl="2"/>
            <a:r>
              <a:rPr lang="en-US" altLang="zh-CN" sz="2400" dirty="0"/>
              <a:t>Exercise:</a:t>
            </a:r>
            <a:r>
              <a:rPr lang="en-US" altLang="zh-CN" sz="2400" i="1" dirty="0"/>
              <a:t>  add constraints to the relationships R</a:t>
            </a:r>
            <a:r>
              <a:rPr lang="en-US" altLang="zh-CN" sz="2400" i="1" baseline="-25000" dirty="0"/>
              <a:t>A</a:t>
            </a:r>
            <a:r>
              <a:rPr lang="en-US" altLang="zh-CN" sz="2400" i="1" dirty="0"/>
              <a:t>, R</a:t>
            </a:r>
            <a:r>
              <a:rPr lang="en-US" altLang="zh-CN" sz="2400" i="1" baseline="-25000" dirty="0"/>
              <a:t>B</a:t>
            </a:r>
            <a:r>
              <a:rPr lang="en-US" altLang="zh-CN" sz="2400" i="1" dirty="0"/>
              <a:t> and R</a:t>
            </a:r>
            <a:r>
              <a:rPr lang="en-US" altLang="zh-CN" sz="2400" i="1" baseline="-25000" dirty="0"/>
              <a:t>C </a:t>
            </a:r>
            <a:r>
              <a:rPr lang="en-US" altLang="zh-CN" sz="2400" dirty="0"/>
              <a:t>to ensure that a newly created entity corresponds to exactly one entity in each of entity sets </a:t>
            </a:r>
            <a:r>
              <a:rPr lang="en-US" altLang="zh-CN" sz="2400" i="1" dirty="0"/>
              <a:t>A, B</a:t>
            </a:r>
            <a:r>
              <a:rPr lang="en-US" altLang="zh-CN" sz="2400" dirty="0"/>
              <a:t> and </a:t>
            </a:r>
            <a:r>
              <a:rPr lang="en-US" altLang="zh-CN" sz="2400" i="1" dirty="0"/>
              <a:t>C</a:t>
            </a:r>
            <a:endParaRPr lang="en-US" altLang="zh-CN" sz="2400" i="1" dirty="0"/>
          </a:p>
          <a:p>
            <a:pPr lvl="3"/>
            <a:r>
              <a:rPr lang="zh-CN" altLang="en-US" sz="2400" dirty="0">
                <a:ea typeface="宋体" panose="02010600030101010101" pitchFamily="2" charset="-122"/>
              </a:rPr>
              <a:t>来自</a:t>
            </a:r>
            <a:r>
              <a:rPr lang="en-US" altLang="zh-CN" sz="2400" dirty="0">
                <a:ea typeface="宋体" panose="02010600030101010101" pitchFamily="2" charset="-122"/>
              </a:rPr>
              <a:t>A</a:t>
            </a:r>
            <a:r>
              <a:rPr lang="zh-CN" altLang="en-US" sz="2400" dirty="0">
                <a:ea typeface="宋体" panose="02010600030101010101" pitchFamily="2" charset="-122"/>
              </a:rPr>
              <a:t>和</a:t>
            </a:r>
            <a:r>
              <a:rPr lang="en-US" altLang="zh-CN" sz="2400" dirty="0">
                <a:ea typeface="宋体" panose="02010600030101010101" pitchFamily="2" charset="-122"/>
              </a:rPr>
              <a:t>B</a:t>
            </a:r>
            <a:r>
              <a:rPr lang="zh-CN" altLang="en-US" sz="2400" dirty="0">
                <a:ea typeface="宋体" panose="02010600030101010101" pitchFamily="2" charset="-122"/>
              </a:rPr>
              <a:t>的每一对实体最多与一个</a:t>
            </a:r>
            <a:r>
              <a:rPr lang="en-US" altLang="zh-CN" sz="2400" dirty="0">
                <a:ea typeface="宋体" panose="02010600030101010101" pitchFamily="2" charset="-122"/>
              </a:rPr>
              <a:t>C</a:t>
            </a:r>
            <a:r>
              <a:rPr lang="zh-CN" altLang="en-US" sz="2400" dirty="0">
                <a:ea typeface="宋体" panose="02010600030101010101" pitchFamily="2" charset="-122"/>
              </a:rPr>
              <a:t>实体相关联</a:t>
            </a:r>
            <a:endParaRPr lang="zh-CN" altLang="en-US" sz="2400" dirty="0">
              <a:ea typeface="宋体" panose="02010600030101010101" pitchFamily="2" charset="-122"/>
            </a:endParaRPr>
          </a:p>
          <a:p>
            <a:pPr lvl="4"/>
            <a:r>
              <a:rPr lang="zh-CN" altLang="en-US" sz="2400" dirty="0">
                <a:ea typeface="宋体" panose="02010600030101010101" pitchFamily="2" charset="-122"/>
              </a:rPr>
              <a:t>无法通过</a:t>
            </a:r>
            <a:r>
              <a:rPr lang="en-US" altLang="zh-CN" sz="2400" i="1" dirty="0">
                <a:sym typeface="+mn-ea"/>
              </a:rPr>
              <a:t>R</a:t>
            </a:r>
            <a:r>
              <a:rPr lang="en-US" altLang="zh-CN" sz="2400" i="1" baseline="-25000" dirty="0">
                <a:sym typeface="+mn-ea"/>
              </a:rPr>
              <a:t>A</a:t>
            </a:r>
            <a:r>
              <a:rPr lang="en-US" altLang="zh-CN" sz="2400" i="1" dirty="0">
                <a:sym typeface="+mn-ea"/>
              </a:rPr>
              <a:t>, R</a:t>
            </a:r>
            <a:r>
              <a:rPr lang="en-US" altLang="zh-CN" sz="2400" i="1" baseline="-25000" dirty="0">
                <a:sym typeface="+mn-ea"/>
              </a:rPr>
              <a:t>B</a:t>
            </a:r>
            <a:r>
              <a:rPr lang="en-US" altLang="zh-CN" sz="2400" i="1" dirty="0">
                <a:sym typeface="+mn-ea"/>
              </a:rPr>
              <a:t> </a:t>
            </a:r>
            <a:r>
              <a:rPr lang="zh-CN" altLang="en-US" sz="2400" dirty="0">
                <a:ea typeface="宋体" panose="02010600030101010101" pitchFamily="2" charset="-122"/>
                <a:sym typeface="+mn-ea"/>
              </a:rPr>
              <a:t>和</a:t>
            </a:r>
            <a:r>
              <a:rPr lang="en-US" altLang="zh-CN" sz="2400" i="1" dirty="0">
                <a:sym typeface="+mn-ea"/>
              </a:rPr>
              <a:t> R</a:t>
            </a:r>
            <a:r>
              <a:rPr lang="en-US" altLang="zh-CN" sz="2400" i="1" baseline="-25000" dirty="0">
                <a:sym typeface="+mn-ea"/>
              </a:rPr>
              <a:t>C</a:t>
            </a:r>
            <a:r>
              <a:rPr lang="zh-CN" altLang="en-US" sz="2400" dirty="0">
                <a:ea typeface="宋体" panose="02010600030101010101" pitchFamily="2" charset="-122"/>
                <a:sym typeface="+mn-ea"/>
              </a:rPr>
              <a:t>表达基数约束。</a:t>
            </a:r>
            <a:r>
              <a:rPr lang="en-US" altLang="zh-CN" sz="2400" i="1" baseline="-25000" dirty="0">
                <a:sym typeface="+mn-ea"/>
              </a:rPr>
              <a:t> </a:t>
            </a:r>
            <a:endParaRPr lang="zh-CN" altLang="en-US" sz="2400" dirty="0">
              <a:ea typeface="宋体" panose="02010600030101010101" pitchFamily="2" charset="-122"/>
            </a:endParaRPr>
          </a:p>
        </p:txBody>
      </p:sp>
      <p:pic>
        <p:nvPicPr>
          <p:cNvPr id="7" name="Picture 6"/>
          <p:cNvPicPr>
            <a:picLocks noChangeAspect="1"/>
          </p:cNvPicPr>
          <p:nvPr>
            <p:custDataLst>
              <p:tags r:id="rId1"/>
            </p:custDataLst>
          </p:nvPr>
        </p:nvPicPr>
        <p:blipFill>
          <a:blip r:embed="rId2"/>
          <a:stretch>
            <a:fillRect/>
          </a:stretch>
        </p:blipFill>
        <p:spPr>
          <a:xfrm>
            <a:off x="2918460" y="5462905"/>
            <a:ext cx="3551555" cy="120523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61" name="Group 2"/>
          <p:cNvGrpSpPr/>
          <p:nvPr/>
        </p:nvGrpSpPr>
        <p:grpSpPr>
          <a:xfrm>
            <a:off x="304800" y="1143000"/>
            <a:ext cx="8564563" cy="2019300"/>
            <a:chOff x="192" y="912"/>
            <a:chExt cx="5395" cy="1272"/>
          </a:xfrm>
        </p:grpSpPr>
        <p:sp>
          <p:nvSpPr>
            <p:cNvPr id="160771" name="Text Box 3"/>
            <p:cNvSpPr txBox="1">
              <a:spLocks noChangeArrowheads="1"/>
            </p:cNvSpPr>
            <p:nvPr/>
          </p:nvSpPr>
          <p:spPr bwMode="auto">
            <a:xfrm>
              <a:off x="2860" y="1792"/>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B</a:t>
              </a:r>
              <a:endParaRPr lang="en-US" altLang="zh-CN" sz="2400" noProof="1">
                <a:effectLst>
                  <a:outerShdw blurRad="38100" dist="38100" dir="2700000">
                    <a:srgbClr val="C0C0C0"/>
                  </a:outerShdw>
                </a:effectLst>
                <a:latin typeface="Arial" panose="020B0604020202020204" pitchFamily="34" charset="0"/>
              </a:endParaRPr>
            </a:p>
          </p:txBody>
        </p:sp>
        <p:sp>
          <p:nvSpPr>
            <p:cNvPr id="160772" name="Text Box 4"/>
            <p:cNvSpPr txBox="1">
              <a:spLocks noChangeArrowheads="1"/>
            </p:cNvSpPr>
            <p:nvPr/>
          </p:nvSpPr>
          <p:spPr bwMode="auto">
            <a:xfrm>
              <a:off x="5136" y="1790"/>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C</a:t>
              </a:r>
              <a:endParaRPr lang="en-US" altLang="zh-CN" sz="2400" noProof="1">
                <a:effectLst>
                  <a:outerShdw blurRad="38100" dist="38100" dir="2700000">
                    <a:srgbClr val="C0C0C0"/>
                  </a:outerShdw>
                </a:effectLst>
                <a:latin typeface="Arial" panose="020B0604020202020204" pitchFamily="34" charset="0"/>
              </a:endParaRPr>
            </a:p>
          </p:txBody>
        </p:sp>
        <p:sp>
          <p:nvSpPr>
            <p:cNvPr id="160773" name="Text Box 5"/>
            <p:cNvSpPr txBox="1">
              <a:spLocks noChangeArrowheads="1"/>
            </p:cNvSpPr>
            <p:nvPr/>
          </p:nvSpPr>
          <p:spPr bwMode="auto">
            <a:xfrm>
              <a:off x="4032" y="999"/>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A</a:t>
              </a:r>
              <a:endParaRPr lang="en-US" altLang="zh-CN" sz="2400" noProof="1">
                <a:effectLst>
                  <a:outerShdw blurRad="38100" dist="38100" dir="2700000">
                    <a:srgbClr val="C0C0C0"/>
                  </a:outerShdw>
                </a:effectLst>
                <a:latin typeface="Arial" panose="020B0604020202020204" pitchFamily="34" charset="0"/>
              </a:endParaRPr>
            </a:p>
          </p:txBody>
        </p:sp>
        <p:sp>
          <p:nvSpPr>
            <p:cNvPr id="160774" name="AutoShape 6"/>
            <p:cNvSpPr>
              <a:spLocks noChangeArrowheads="1"/>
            </p:cNvSpPr>
            <p:nvPr/>
          </p:nvSpPr>
          <p:spPr bwMode="auto">
            <a:xfrm>
              <a:off x="2694" y="912"/>
              <a:ext cx="618" cy="480"/>
            </a:xfrm>
            <a:prstGeom prst="diamond">
              <a:avLst/>
            </a:prstGeom>
            <a:noFill/>
            <a:ln w="28575">
              <a:solidFill>
                <a:schemeClr val="tx1"/>
              </a:solidFill>
              <a:miter lim="800000"/>
            </a:ln>
            <a:effectLst/>
          </p:spPr>
          <p:txBody>
            <a:bodyPr wrap="none" anchor="ctr"/>
            <a:lstStyle/>
            <a:p>
              <a:pPr algn="ctr" fontAlgn="base">
                <a:spcBef>
                  <a:spcPct val="50000"/>
                </a:spcBef>
              </a:pPr>
              <a:r>
                <a:rPr lang="en-US" altLang="zh-CN" sz="2400" strike="noStrike"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R</a:t>
              </a:r>
              <a:r>
                <a:rPr lang="en-US" altLang="zh-CN"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1</a:t>
              </a:r>
              <a:endParaRPr lang="zh-CN" altLang="en-US" sz="2400" strike="noStrike" noProof="1">
                <a:solidFill>
                  <a:srgbClr val="FF3300"/>
                </a:solidFill>
                <a:effectLst>
                  <a:outerShdw blurRad="38100" dist="38100" dir="2700000">
                    <a:srgbClr val="C0C0C0"/>
                  </a:outerShdw>
                </a:effectLst>
                <a:latin typeface="Arial" panose="020B0604020202020204" pitchFamily="34" charset="0"/>
              </a:endParaRPr>
            </a:p>
          </p:txBody>
        </p:sp>
        <p:sp>
          <p:nvSpPr>
            <p:cNvPr id="160775" name="AutoShape 7"/>
            <p:cNvSpPr>
              <a:spLocks noChangeArrowheads="1"/>
            </p:cNvSpPr>
            <p:nvPr/>
          </p:nvSpPr>
          <p:spPr bwMode="auto">
            <a:xfrm>
              <a:off x="4968" y="912"/>
              <a:ext cx="619" cy="480"/>
            </a:xfrm>
            <a:prstGeom prst="diamond">
              <a:avLst/>
            </a:prstGeom>
            <a:noFill/>
            <a:ln w="28575">
              <a:solidFill>
                <a:schemeClr val="tx1"/>
              </a:solidFill>
              <a:miter lim="800000"/>
            </a:ln>
            <a:effectLst/>
          </p:spPr>
          <p:txBody>
            <a:bodyPr wrap="none" anchor="ctr"/>
            <a:lstStyle/>
            <a:p>
              <a:pPr algn="ctr" fontAlgn="base">
                <a:spcBef>
                  <a:spcPct val="50000"/>
                </a:spcBef>
              </a:pPr>
              <a:r>
                <a:rPr lang="en-US" altLang="zh-CN" sz="2400" strike="noStrike"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R</a:t>
              </a:r>
              <a:r>
                <a:rPr lang="en-US" altLang="zh-CN"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2</a:t>
              </a:r>
              <a:endParaRPr lang="zh-CN" altLang="en-US" sz="2400" strike="noStrike" noProof="1">
                <a:solidFill>
                  <a:srgbClr val="FF3300"/>
                </a:solidFill>
                <a:effectLst>
                  <a:outerShdw blurRad="38100" dist="38100" dir="2700000">
                    <a:srgbClr val="C0C0C0"/>
                  </a:outerShdw>
                </a:effectLst>
                <a:latin typeface="Arial" panose="020B0604020202020204" pitchFamily="34" charset="0"/>
              </a:endParaRPr>
            </a:p>
          </p:txBody>
        </p:sp>
        <p:sp>
          <p:nvSpPr>
            <p:cNvPr id="160776" name="AutoShape 8"/>
            <p:cNvSpPr>
              <a:spLocks noChangeArrowheads="1"/>
            </p:cNvSpPr>
            <p:nvPr/>
          </p:nvSpPr>
          <p:spPr bwMode="auto">
            <a:xfrm>
              <a:off x="3914" y="1704"/>
              <a:ext cx="619" cy="480"/>
            </a:xfrm>
            <a:prstGeom prst="diamond">
              <a:avLst/>
            </a:prstGeom>
            <a:no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en-US" altLang="zh-CN" sz="2400" strike="noStrike"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R</a:t>
              </a:r>
              <a:r>
                <a:rPr lang="en-US" altLang="zh-CN"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3</a:t>
              </a:r>
              <a:endParaRPr lang="zh-CN" altLang="en-US"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777" name="AutoShape 9"/>
            <p:cNvSpPr>
              <a:spLocks noChangeArrowheads="1"/>
            </p:cNvSpPr>
            <p:nvPr/>
          </p:nvSpPr>
          <p:spPr bwMode="auto">
            <a:xfrm>
              <a:off x="1920" y="1344"/>
              <a:ext cx="720" cy="336"/>
            </a:xfrm>
            <a:prstGeom prst="rightArrow">
              <a:avLst>
                <a:gd name="adj1" fmla="val 41074"/>
                <a:gd name="adj2" fmla="val 71429"/>
              </a:avLst>
            </a:prstGeom>
            <a:gradFill rotWithShape="1">
              <a:gsLst>
                <a:gs pos="0">
                  <a:schemeClr val="accent1"/>
                </a:gs>
                <a:gs pos="100000">
                  <a:schemeClr val="accent1">
                    <a:gamma/>
                    <a:shade val="46275"/>
                    <a:invGamma/>
                  </a:schemeClr>
                </a:gs>
              </a:gsLst>
              <a:lin ang="0" scaled="1"/>
            </a:gradFill>
            <a:ln w="9525">
              <a:solidFill>
                <a:srgbClr val="000000"/>
              </a:solidFill>
              <a:miter lim="800000"/>
            </a:ln>
            <a:effectLst>
              <a:prstShdw prst="shdw17" dist="17961" dir="2700000">
                <a:srgbClr val="000000">
                  <a:gamma/>
                  <a:shade val="60000"/>
                  <a:invGamma/>
                  <a:alpha val="74998"/>
                </a:srgb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nvGrpSpPr>
            <p:cNvPr id="143369" name="Group 10"/>
            <p:cNvGrpSpPr/>
            <p:nvPr/>
          </p:nvGrpSpPr>
          <p:grpSpPr>
            <a:xfrm>
              <a:off x="192" y="1018"/>
              <a:ext cx="1592" cy="1089"/>
              <a:chOff x="192" y="1018"/>
              <a:chExt cx="1592" cy="1089"/>
            </a:xfrm>
          </p:grpSpPr>
          <p:sp>
            <p:nvSpPr>
              <p:cNvPr id="160779" name="Text Box 11"/>
              <p:cNvSpPr txBox="1">
                <a:spLocks noChangeArrowheads="1"/>
              </p:cNvSpPr>
              <p:nvPr/>
            </p:nvSpPr>
            <p:spPr bwMode="auto">
              <a:xfrm>
                <a:off x="192" y="1716"/>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B</a:t>
                </a:r>
                <a:endParaRPr lang="en-US" altLang="zh-CN" sz="2400" noProof="1">
                  <a:effectLst>
                    <a:outerShdw blurRad="38100" dist="38100" dir="2700000">
                      <a:srgbClr val="C0C0C0"/>
                    </a:outerShdw>
                  </a:effectLst>
                  <a:latin typeface="Arial" panose="020B0604020202020204" pitchFamily="34" charset="0"/>
                </a:endParaRPr>
              </a:p>
            </p:txBody>
          </p:sp>
          <p:sp>
            <p:nvSpPr>
              <p:cNvPr id="160780" name="Text Box 12"/>
              <p:cNvSpPr txBox="1">
                <a:spLocks noChangeArrowheads="1"/>
              </p:cNvSpPr>
              <p:nvPr/>
            </p:nvSpPr>
            <p:spPr bwMode="auto">
              <a:xfrm>
                <a:off x="1496" y="1716"/>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C</a:t>
                </a:r>
                <a:endParaRPr lang="en-US" altLang="zh-CN" sz="2400" noProof="1">
                  <a:effectLst>
                    <a:outerShdw blurRad="38100" dist="38100" dir="2700000">
                      <a:srgbClr val="C0C0C0"/>
                    </a:outerShdw>
                  </a:effectLst>
                  <a:latin typeface="Arial" panose="020B0604020202020204" pitchFamily="34" charset="0"/>
                </a:endParaRPr>
              </a:p>
            </p:txBody>
          </p:sp>
          <p:sp>
            <p:nvSpPr>
              <p:cNvPr id="160781" name="Text Box 13"/>
              <p:cNvSpPr txBox="1">
                <a:spLocks noChangeArrowheads="1"/>
              </p:cNvSpPr>
              <p:nvPr/>
            </p:nvSpPr>
            <p:spPr bwMode="auto">
              <a:xfrm>
                <a:off x="838" y="1018"/>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A</a:t>
                </a:r>
                <a:endParaRPr lang="en-US" altLang="zh-CN" sz="2400" noProof="1">
                  <a:effectLst>
                    <a:outerShdw blurRad="38100" dist="38100" dir="2700000">
                      <a:srgbClr val="C0C0C0"/>
                    </a:outerShdw>
                  </a:effectLst>
                  <a:latin typeface="Arial" panose="020B0604020202020204" pitchFamily="34" charset="0"/>
                </a:endParaRPr>
              </a:p>
            </p:txBody>
          </p:sp>
          <p:sp>
            <p:nvSpPr>
              <p:cNvPr id="160782" name="AutoShape 14"/>
              <p:cNvSpPr>
                <a:spLocks noChangeArrowheads="1"/>
              </p:cNvSpPr>
              <p:nvPr/>
            </p:nvSpPr>
            <p:spPr bwMode="auto">
              <a:xfrm>
                <a:off x="684" y="1627"/>
                <a:ext cx="600" cy="480"/>
              </a:xfrm>
              <a:prstGeom prst="diamond">
                <a:avLst/>
              </a:prstGeom>
              <a:no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en-US" altLang="zh-CN" sz="2400" strike="noStrike" noProof="1">
                    <a:solidFill>
                      <a:srgbClr val="000099"/>
                    </a:solidFill>
                    <a:effectLst>
                      <a:outerShdw blurRad="38100" dist="38100" dir="2700000">
                        <a:srgbClr val="C0C0C0"/>
                      </a:outerShdw>
                    </a:effectLst>
                    <a:latin typeface="Arial" panose="020B0604020202020204" pitchFamily="34" charset="0"/>
                    <a:ea typeface="楷体_GB2312" pitchFamily="49" charset="-122"/>
                    <a:cs typeface="+mn-cs"/>
                  </a:rPr>
                  <a:t>R</a:t>
                </a:r>
                <a:endParaRPr lang="zh-CN" altLang="en-US" sz="2400" strike="noStrike" noProof="1">
                  <a:solidFill>
                    <a:srgbClr val="000099"/>
                  </a:solidFill>
                  <a:effectLst>
                    <a:outerShdw blurRad="38100" dist="38100" dir="2700000">
                      <a:srgbClr val="C0C0C0"/>
                    </a:outerShdw>
                  </a:effectLst>
                  <a:latin typeface="Arial" panose="020B0604020202020204" pitchFamily="34" charset="0"/>
                  <a:ea typeface="楷体_GB2312" pitchFamily="49" charset="-122"/>
                </a:endParaRPr>
              </a:p>
            </p:txBody>
          </p:sp>
          <p:cxnSp>
            <p:nvCxnSpPr>
              <p:cNvPr id="143374" name="AutoShape 15"/>
              <p:cNvCxnSpPr>
                <a:stCxn id="160781" idx="2"/>
                <a:endCxn id="160782" idx="0"/>
              </p:cNvCxnSpPr>
              <p:nvPr/>
            </p:nvCxnSpPr>
            <p:spPr>
              <a:xfrm>
                <a:off x="982" y="1333"/>
                <a:ext cx="2" cy="285"/>
              </a:xfrm>
              <a:prstGeom prst="straightConnector1">
                <a:avLst/>
              </a:prstGeom>
              <a:ln w="19050" cap="flat" cmpd="sng">
                <a:solidFill>
                  <a:schemeClr val="tx1"/>
                </a:solidFill>
                <a:prstDash val="solid"/>
                <a:miter/>
                <a:headEnd type="none" w="med" len="med"/>
                <a:tailEnd type="none" w="med" len="med"/>
              </a:ln>
            </p:spPr>
          </p:cxnSp>
          <p:cxnSp>
            <p:nvCxnSpPr>
              <p:cNvPr id="143375" name="AutoShape 16"/>
              <p:cNvCxnSpPr>
                <a:stCxn id="160782" idx="1"/>
                <a:endCxn id="160779" idx="3"/>
              </p:cNvCxnSpPr>
              <p:nvPr/>
            </p:nvCxnSpPr>
            <p:spPr>
              <a:xfrm flipH="1">
                <a:off x="489" y="1867"/>
                <a:ext cx="186" cy="2"/>
              </a:xfrm>
              <a:prstGeom prst="straightConnector1">
                <a:avLst/>
              </a:prstGeom>
              <a:ln w="19050" cap="flat" cmpd="sng">
                <a:solidFill>
                  <a:schemeClr val="tx1"/>
                </a:solidFill>
                <a:prstDash val="solid"/>
                <a:miter/>
                <a:headEnd type="none" w="med" len="med"/>
                <a:tailEnd type="none" w="med" len="med"/>
              </a:ln>
            </p:spPr>
          </p:cxnSp>
          <p:cxnSp>
            <p:nvCxnSpPr>
              <p:cNvPr id="143376" name="AutoShape 17"/>
              <p:cNvCxnSpPr>
                <a:stCxn id="160782" idx="3"/>
                <a:endCxn id="160780" idx="1"/>
              </p:cNvCxnSpPr>
              <p:nvPr/>
            </p:nvCxnSpPr>
            <p:spPr>
              <a:xfrm>
                <a:off x="1293" y="1867"/>
                <a:ext cx="194" cy="2"/>
              </a:xfrm>
              <a:prstGeom prst="straightConnector1">
                <a:avLst/>
              </a:prstGeom>
              <a:ln w="19050" cap="flat" cmpd="sng">
                <a:solidFill>
                  <a:schemeClr val="tx1"/>
                </a:solidFill>
                <a:prstDash val="solid"/>
                <a:miter/>
                <a:headEnd type="none" w="med" len="med"/>
                <a:tailEnd type="none" w="med" len="med"/>
              </a:ln>
            </p:spPr>
          </p:cxnSp>
        </p:grpSp>
        <p:cxnSp>
          <p:nvCxnSpPr>
            <p:cNvPr id="143377" name="AutoShape 18"/>
            <p:cNvCxnSpPr>
              <a:stCxn id="160771" idx="0"/>
              <a:endCxn id="160774" idx="2"/>
            </p:cNvCxnSpPr>
            <p:nvPr/>
          </p:nvCxnSpPr>
          <p:spPr>
            <a:xfrm flipH="1" flipV="1">
              <a:off x="3003" y="1401"/>
              <a:ext cx="1" cy="382"/>
            </a:xfrm>
            <a:prstGeom prst="straightConnector1">
              <a:avLst/>
            </a:prstGeom>
            <a:ln w="19050" cap="flat" cmpd="sng">
              <a:solidFill>
                <a:schemeClr val="tx1"/>
              </a:solidFill>
              <a:prstDash val="solid"/>
              <a:miter/>
              <a:headEnd type="none" w="med" len="med"/>
              <a:tailEnd type="none" w="med" len="med"/>
            </a:ln>
          </p:spPr>
        </p:cxnSp>
        <p:cxnSp>
          <p:nvCxnSpPr>
            <p:cNvPr id="143378" name="AutoShape 19"/>
            <p:cNvCxnSpPr>
              <a:stCxn id="160771" idx="3"/>
              <a:endCxn id="160776" idx="1"/>
            </p:cNvCxnSpPr>
            <p:nvPr/>
          </p:nvCxnSpPr>
          <p:spPr>
            <a:xfrm flipV="1">
              <a:off x="3157" y="1944"/>
              <a:ext cx="748" cy="1"/>
            </a:xfrm>
            <a:prstGeom prst="straightConnector1">
              <a:avLst/>
            </a:prstGeom>
            <a:ln w="19050" cap="flat" cmpd="sng">
              <a:solidFill>
                <a:schemeClr val="tx1"/>
              </a:solidFill>
              <a:prstDash val="solid"/>
              <a:miter/>
              <a:headEnd type="none" w="med" len="med"/>
              <a:tailEnd type="none" w="med" len="med"/>
            </a:ln>
          </p:spPr>
        </p:cxnSp>
        <p:cxnSp>
          <p:nvCxnSpPr>
            <p:cNvPr id="143379" name="AutoShape 20"/>
            <p:cNvCxnSpPr>
              <a:stCxn id="160774" idx="3"/>
              <a:endCxn id="160773" idx="1"/>
            </p:cNvCxnSpPr>
            <p:nvPr/>
          </p:nvCxnSpPr>
          <p:spPr>
            <a:xfrm>
              <a:off x="3321" y="1152"/>
              <a:ext cx="702" cy="0"/>
            </a:xfrm>
            <a:prstGeom prst="straightConnector1">
              <a:avLst/>
            </a:prstGeom>
            <a:ln w="19050" cap="flat" cmpd="sng">
              <a:solidFill>
                <a:schemeClr val="tx1"/>
              </a:solidFill>
              <a:prstDash val="solid"/>
              <a:miter/>
              <a:headEnd type="none" w="med" len="med"/>
              <a:tailEnd type="none" w="med" len="med"/>
            </a:ln>
          </p:spPr>
        </p:cxnSp>
        <p:cxnSp>
          <p:nvCxnSpPr>
            <p:cNvPr id="143380" name="AutoShape 21"/>
            <p:cNvCxnSpPr>
              <a:stCxn id="160773" idx="3"/>
              <a:endCxn id="160775" idx="1"/>
            </p:cNvCxnSpPr>
            <p:nvPr/>
          </p:nvCxnSpPr>
          <p:spPr>
            <a:xfrm>
              <a:off x="4329" y="1152"/>
              <a:ext cx="630" cy="0"/>
            </a:xfrm>
            <a:prstGeom prst="straightConnector1">
              <a:avLst/>
            </a:prstGeom>
            <a:ln w="19050" cap="flat" cmpd="sng">
              <a:solidFill>
                <a:schemeClr val="tx1"/>
              </a:solidFill>
              <a:prstDash val="solid"/>
              <a:miter/>
              <a:headEnd type="none" w="med" len="med"/>
              <a:tailEnd type="none" w="med" len="med"/>
            </a:ln>
          </p:spPr>
        </p:cxnSp>
        <p:cxnSp>
          <p:nvCxnSpPr>
            <p:cNvPr id="143381" name="AutoShape 22"/>
            <p:cNvCxnSpPr>
              <a:stCxn id="160776" idx="3"/>
              <a:endCxn id="160772" idx="1"/>
            </p:cNvCxnSpPr>
            <p:nvPr/>
          </p:nvCxnSpPr>
          <p:spPr>
            <a:xfrm flipV="1">
              <a:off x="4542" y="1943"/>
              <a:ext cx="585" cy="1"/>
            </a:xfrm>
            <a:prstGeom prst="straightConnector1">
              <a:avLst/>
            </a:prstGeom>
            <a:ln w="19050" cap="flat" cmpd="sng">
              <a:solidFill>
                <a:schemeClr val="tx1"/>
              </a:solidFill>
              <a:prstDash val="solid"/>
              <a:miter/>
              <a:headEnd type="none" w="med" len="med"/>
              <a:tailEnd type="none" w="med" len="med"/>
            </a:ln>
          </p:spPr>
        </p:cxnSp>
        <p:cxnSp>
          <p:nvCxnSpPr>
            <p:cNvPr id="143382" name="AutoShape 23"/>
            <p:cNvCxnSpPr>
              <a:stCxn id="160775" idx="2"/>
              <a:endCxn id="160772" idx="0"/>
            </p:cNvCxnSpPr>
            <p:nvPr/>
          </p:nvCxnSpPr>
          <p:spPr>
            <a:xfrm>
              <a:off x="5278" y="1401"/>
              <a:ext cx="2" cy="380"/>
            </a:xfrm>
            <a:prstGeom prst="straightConnector1">
              <a:avLst/>
            </a:prstGeom>
            <a:ln w="19050" cap="flat" cmpd="sng">
              <a:solidFill>
                <a:schemeClr val="tx1"/>
              </a:solidFill>
              <a:prstDash val="solid"/>
              <a:miter/>
              <a:headEnd type="none" w="med" len="med"/>
              <a:tailEnd type="none" w="med" len="med"/>
            </a:ln>
          </p:spPr>
        </p:cxnSp>
      </p:grpSp>
      <p:graphicFrame>
        <p:nvGraphicFramePr>
          <p:cNvPr id="142338" name="表格 142337"/>
          <p:cNvGraphicFramePr/>
          <p:nvPr/>
        </p:nvGraphicFramePr>
        <p:xfrm>
          <a:off x="141288" y="3684588"/>
          <a:ext cx="2438400" cy="1581150"/>
        </p:xfrm>
        <a:graphic>
          <a:graphicData uri="http://schemas.openxmlformats.org/drawingml/2006/table">
            <a:tbl>
              <a:tblPr/>
              <a:tblGrid>
                <a:gridCol w="812800"/>
                <a:gridCol w="812800"/>
                <a:gridCol w="812800"/>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A</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B</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C</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1</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8</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7</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42350" name="表格 142349"/>
          <p:cNvGraphicFramePr/>
          <p:nvPr/>
        </p:nvGraphicFramePr>
        <p:xfrm>
          <a:off x="3544888" y="3684588"/>
          <a:ext cx="1625600" cy="1581150"/>
        </p:xfrm>
        <a:graphic>
          <a:graphicData uri="http://schemas.openxmlformats.org/drawingml/2006/table">
            <a:tbl>
              <a:tblPr/>
              <a:tblGrid>
                <a:gridCol w="812800"/>
                <a:gridCol w="812800"/>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A</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B</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1</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8</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42359" name="表格 142358"/>
          <p:cNvGraphicFramePr/>
          <p:nvPr/>
        </p:nvGraphicFramePr>
        <p:xfrm>
          <a:off x="5526088" y="3684588"/>
          <a:ext cx="1625600" cy="1581150"/>
        </p:xfrm>
        <a:graphic>
          <a:graphicData uri="http://schemas.openxmlformats.org/drawingml/2006/table">
            <a:tbl>
              <a:tblPr/>
              <a:tblGrid>
                <a:gridCol w="812800"/>
                <a:gridCol w="812800"/>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B</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C</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8</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7</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42368" name="表格 142367"/>
          <p:cNvGraphicFramePr/>
          <p:nvPr/>
        </p:nvGraphicFramePr>
        <p:xfrm>
          <a:off x="7431088" y="3684588"/>
          <a:ext cx="1625600" cy="1581150"/>
        </p:xfrm>
        <a:graphic>
          <a:graphicData uri="http://schemas.openxmlformats.org/drawingml/2006/table">
            <a:tbl>
              <a:tblPr/>
              <a:tblGrid>
                <a:gridCol w="812800"/>
                <a:gridCol w="812800"/>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A</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C</a:t>
                      </a:r>
                      <a:endPar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1</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7</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endPar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60843" name="AutoShape 75"/>
          <p:cNvSpPr>
            <a:spLocks noChangeArrowheads="1"/>
          </p:cNvSpPr>
          <p:nvPr/>
        </p:nvSpPr>
        <p:spPr bwMode="auto">
          <a:xfrm>
            <a:off x="2684463" y="4302125"/>
            <a:ext cx="762000" cy="354013"/>
          </a:xfrm>
          <a:prstGeom prst="rightArrow">
            <a:avLst>
              <a:gd name="adj1" fmla="val 48213"/>
              <a:gd name="adj2" fmla="val 102242"/>
            </a:avLst>
          </a:prstGeom>
          <a:gradFill rotWithShape="1">
            <a:gsLst>
              <a:gs pos="0">
                <a:schemeClr val="accent1"/>
              </a:gs>
              <a:gs pos="100000">
                <a:schemeClr val="accent1">
                  <a:gamma/>
                  <a:shade val="46275"/>
                  <a:invGamma/>
                </a:schemeClr>
              </a:gs>
            </a:gsLst>
            <a:lin ang="0" scaled="1"/>
          </a:gradFill>
          <a:ln w="9525">
            <a:solidFill>
              <a:srgbClr val="000000"/>
            </a:solidFill>
            <a:miter lim="800000"/>
          </a:ln>
          <a:effectLst>
            <a:prstShdw prst="shdw17" dist="17961" dir="2700000">
              <a:srgbClr val="000000">
                <a:gamma/>
                <a:shade val="60000"/>
                <a:invGamma/>
                <a:alpha val="74998"/>
              </a:srgb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60844" name="Rectangle 76"/>
          <p:cNvSpPr>
            <a:spLocks noChangeArrowheads="1"/>
          </p:cNvSpPr>
          <p:nvPr/>
        </p:nvSpPr>
        <p:spPr bwMode="auto">
          <a:xfrm>
            <a:off x="4360863" y="5600700"/>
            <a:ext cx="3248025" cy="420688"/>
          </a:xfrm>
          <a:prstGeom prst="rect">
            <a:avLst/>
          </a:prstGeom>
          <a:noFill/>
          <a:ln>
            <a:noFill/>
          </a:ln>
          <a:effectLst/>
        </p:spPr>
        <p:txBody>
          <a:bodyPr wrap="none">
            <a:spAutoFit/>
          </a:bodyPr>
          <a:lstStyle/>
          <a:p>
            <a:pPr algn="just" fontAlgn="base">
              <a:lnSpc>
                <a:spcPct val="90000"/>
              </a:lnSpc>
              <a:spcBef>
                <a:spcPct val="20000"/>
              </a:spcBef>
              <a:buClr>
                <a:schemeClr val="folHlink"/>
              </a:buClr>
              <a:buSzPct val="60000"/>
              <a:buFont typeface="Wingdings" panose="05000000000000000000" pitchFamily="2" charset="2"/>
            </a:pP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上述转换会有信息丢失</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60845" name="Rectangle 77"/>
          <p:cNvSpPr>
            <a:spLocks noChangeArrowheads="1"/>
          </p:cNvSpPr>
          <p:nvPr/>
        </p:nvSpPr>
        <p:spPr bwMode="auto">
          <a:xfrm>
            <a:off x="522288" y="5643563"/>
            <a:ext cx="2298700" cy="420688"/>
          </a:xfrm>
          <a:prstGeom prst="rect">
            <a:avLst/>
          </a:prstGeom>
          <a:noFill/>
          <a:ln>
            <a:noFill/>
          </a:ln>
          <a:effectLst/>
        </p:spPr>
        <p:txBody>
          <a:bodyPr wrap="none">
            <a:spAutoFit/>
          </a:bodyPr>
          <a:lstStyle/>
          <a:p>
            <a:pPr algn="just" fontAlgn="base">
              <a:lnSpc>
                <a:spcPct val="90000"/>
              </a:lnSpc>
              <a:spcBef>
                <a:spcPct val="20000"/>
              </a:spcBef>
              <a:buClr>
                <a:schemeClr val="folHlink"/>
              </a:buClr>
              <a:buSzPct val="60000"/>
              <a:buFont typeface="Wingdings" panose="05000000000000000000" pitchFamily="2" charset="2"/>
            </a:pP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(4,2,3) </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 </a:t>
            </a:r>
            <a:r>
              <a:rPr lang="en-US" altLang="zh-CN"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ABC?</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60847" name="Text Box 79"/>
          <p:cNvSpPr txBox="1">
            <a:spLocks noChangeArrowheads="1"/>
          </p:cNvSpPr>
          <p:nvPr/>
        </p:nvSpPr>
        <p:spPr bwMode="auto">
          <a:xfrm>
            <a:off x="365125" y="3203575"/>
            <a:ext cx="404813" cy="457200"/>
          </a:xfrm>
          <a:prstGeom prst="rect">
            <a:avLst/>
          </a:prstGeom>
          <a:noFill/>
          <a:ln>
            <a:noFill/>
          </a:ln>
          <a:effectLst/>
        </p:spPr>
        <p:txBody>
          <a:bodyPr wrap="none">
            <a:spAutoFit/>
          </a:bodyPr>
          <a:lstStyle/>
          <a:p>
            <a:r>
              <a:rPr lang="en-US" altLang="zh-CN" sz="2400" noProof="1">
                <a:solidFill>
                  <a:srgbClr val="000099"/>
                </a:solidFill>
                <a:effectLst>
                  <a:outerShdw blurRad="38100" dist="38100" dir="2700000">
                    <a:srgbClr val="C0C0C0"/>
                  </a:outerShdw>
                </a:effectLst>
                <a:latin typeface="Arial" panose="020B0604020202020204" pitchFamily="34" charset="0"/>
                <a:ea typeface="MS PGothic" panose="020B0600070205080204" charset="-122"/>
                <a:cs typeface="+mn-cs"/>
              </a:rPr>
              <a:t>R</a:t>
            </a:r>
            <a:endParaRPr lang="en-US" altLang="zh-CN" sz="2400" noProof="1">
              <a:solidFill>
                <a:srgbClr val="000099"/>
              </a:solidFill>
              <a:effectLst>
                <a:outerShdw blurRad="38100" dist="38100" dir="2700000">
                  <a:srgbClr val="C0C0C0"/>
                </a:outerShdw>
              </a:effectLst>
              <a:latin typeface="Arial" panose="020B0604020202020204" pitchFamily="34" charset="0"/>
            </a:endParaRPr>
          </a:p>
        </p:txBody>
      </p:sp>
      <p:sp>
        <p:nvSpPr>
          <p:cNvPr id="160848" name="Text Box 80"/>
          <p:cNvSpPr txBox="1">
            <a:spLocks noChangeArrowheads="1"/>
          </p:cNvSpPr>
          <p:nvPr/>
        </p:nvSpPr>
        <p:spPr bwMode="auto">
          <a:xfrm>
            <a:off x="3668713" y="3211513"/>
            <a:ext cx="517525" cy="457200"/>
          </a:xfrm>
          <a:prstGeom prst="rect">
            <a:avLst/>
          </a:prstGeom>
          <a:noFill/>
          <a:ln>
            <a:noFill/>
          </a:ln>
          <a:effectLst/>
        </p:spPr>
        <p:txBody>
          <a:bodyPr wrap="none">
            <a:spAutoFit/>
          </a:bodyPr>
          <a:lstStyle/>
          <a:p>
            <a:r>
              <a:rPr lang="en-US" altLang="zh-CN" sz="2400" noProof="1">
                <a:solidFill>
                  <a:srgbClr val="FF3300"/>
                </a:solidFill>
                <a:effectLst>
                  <a:outerShdw blurRad="38100" dist="38100" dir="2700000">
                    <a:srgbClr val="C0C0C0"/>
                  </a:outerShdw>
                </a:effectLst>
                <a:latin typeface="Arial" panose="020B0604020202020204" pitchFamily="34" charset="0"/>
                <a:ea typeface="MS PGothic" panose="020B0600070205080204" charset="-122"/>
                <a:cs typeface="+mn-cs"/>
              </a:rPr>
              <a:t>R</a:t>
            </a:r>
            <a:r>
              <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1</a:t>
            </a:r>
            <a:endPar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849" name="Text Box 81"/>
          <p:cNvSpPr txBox="1">
            <a:spLocks noChangeArrowheads="1"/>
          </p:cNvSpPr>
          <p:nvPr/>
        </p:nvSpPr>
        <p:spPr bwMode="auto">
          <a:xfrm>
            <a:off x="5657850" y="3200400"/>
            <a:ext cx="517525" cy="457200"/>
          </a:xfrm>
          <a:prstGeom prst="rect">
            <a:avLst/>
          </a:prstGeom>
          <a:noFill/>
          <a:ln>
            <a:noFill/>
          </a:ln>
          <a:effectLst/>
        </p:spPr>
        <p:txBody>
          <a:bodyPr wrap="none">
            <a:spAutoFit/>
          </a:bodyPr>
          <a:lstStyle/>
          <a:p>
            <a:r>
              <a:rPr lang="en-US" altLang="zh-CN" sz="2400" noProof="1">
                <a:solidFill>
                  <a:srgbClr val="FF3300"/>
                </a:solidFill>
                <a:effectLst>
                  <a:outerShdw blurRad="38100" dist="38100" dir="2700000">
                    <a:srgbClr val="C0C0C0"/>
                  </a:outerShdw>
                </a:effectLst>
                <a:latin typeface="Arial" panose="020B0604020202020204" pitchFamily="34" charset="0"/>
                <a:ea typeface="MS PGothic" panose="020B0600070205080204" charset="-122"/>
                <a:cs typeface="+mn-cs"/>
              </a:rPr>
              <a:t>R</a:t>
            </a:r>
            <a:r>
              <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3</a:t>
            </a:r>
            <a:endPar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850" name="Text Box 82"/>
          <p:cNvSpPr txBox="1">
            <a:spLocks noChangeArrowheads="1"/>
          </p:cNvSpPr>
          <p:nvPr/>
        </p:nvSpPr>
        <p:spPr bwMode="auto">
          <a:xfrm>
            <a:off x="7570788" y="3208338"/>
            <a:ext cx="517525" cy="457200"/>
          </a:xfrm>
          <a:prstGeom prst="rect">
            <a:avLst/>
          </a:prstGeom>
          <a:noFill/>
          <a:ln>
            <a:noFill/>
          </a:ln>
          <a:effectLst/>
        </p:spPr>
        <p:txBody>
          <a:bodyPr wrap="none">
            <a:spAutoFit/>
          </a:bodyPr>
          <a:lstStyle/>
          <a:p>
            <a:r>
              <a:rPr lang="en-US" altLang="zh-CN" sz="2400" noProof="1">
                <a:solidFill>
                  <a:srgbClr val="FF3300"/>
                </a:solidFill>
                <a:effectLst>
                  <a:outerShdw blurRad="38100" dist="38100" dir="2700000">
                    <a:srgbClr val="C0C0C0"/>
                  </a:outerShdw>
                </a:effectLst>
                <a:latin typeface="Arial" panose="020B0604020202020204" pitchFamily="34" charset="0"/>
                <a:ea typeface="MS PGothic" panose="020B0600070205080204" charset="-122"/>
                <a:cs typeface="+mn-cs"/>
              </a:rPr>
              <a:t>R</a:t>
            </a:r>
            <a:r>
              <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2</a:t>
            </a:r>
            <a:endPar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852" name="Rectangle 84"/>
          <p:cNvSpPr>
            <a:spLocks noGrp="1" noChangeArrowheads="1"/>
          </p:cNvSpPr>
          <p:nvPr>
            <p:ph type="title"/>
          </p:nvPr>
        </p:nvSpPr>
        <p:spPr>
          <a:xfrm>
            <a:off x="693738" y="0"/>
            <a:ext cx="8450263" cy="1030288"/>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S PGothic" panose="020B0600070205080204" charset="-122"/>
                <a:cs typeface="Arial" panose="020B0604020202020204"/>
              </a:rPr>
              <a:t>Converting Non-Binary Relationships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S PGothic" panose="020B0600070205080204" charset="-122"/>
              <a:cs typeface="Arial" panose="020B0604020202020204"/>
            </a:endParaRPr>
          </a:p>
        </p:txBody>
      </p:sp>
      <p:grpSp>
        <p:nvGrpSpPr>
          <p:cNvPr id="160856" name="Group 88"/>
          <p:cNvGrpSpPr/>
          <p:nvPr/>
        </p:nvGrpSpPr>
        <p:grpSpPr>
          <a:xfrm>
            <a:off x="1106488" y="1658938"/>
            <a:ext cx="7056437" cy="1512887"/>
            <a:chOff x="703" y="2069"/>
            <a:chExt cx="4445" cy="953"/>
          </a:xfrm>
        </p:grpSpPr>
        <p:sp>
          <p:nvSpPr>
            <p:cNvPr id="143439" name="Rectangle 86"/>
            <p:cNvSpPr/>
            <p:nvPr/>
          </p:nvSpPr>
          <p:spPr>
            <a:xfrm>
              <a:off x="703" y="2069"/>
              <a:ext cx="4445" cy="953"/>
            </a:xfrm>
            <a:prstGeom prst="rect">
              <a:avLst/>
            </a:prstGeom>
            <a:solidFill>
              <a:schemeClr val="accent1"/>
            </a:solidFill>
            <a:ln w="9525" cap="flat" cmpd="sng">
              <a:solidFill>
                <a:schemeClr val="tx1"/>
              </a:solidFill>
              <a:prstDash val="solid"/>
              <a:miter/>
              <a:headEnd type="none" w="med" len="med"/>
              <a:tailEnd type="none" w="med" len="med"/>
            </a:ln>
          </p:spPr>
          <p:txBody>
            <a:bodyPr wrap="none" lIns="90000" tIns="46800" rIns="90000" bIns="46800" anchor="ctr" anchorCtr="0"/>
            <a:lstStyle/>
            <a:p>
              <a:pPr marL="342900" indent="-342900" algn="ctr">
                <a:lnSpc>
                  <a:spcPct val="90000"/>
                </a:lnSpc>
                <a:spcBef>
                  <a:spcPct val="20000"/>
                </a:spcBef>
                <a:buClr>
                  <a:schemeClr val="folHlink"/>
                </a:buClr>
                <a:buSzPct val="60000"/>
                <a:buFont typeface="Wingdings" panose="05000000000000000000" pitchFamily="2" charset="2"/>
              </a:pPr>
              <a:r>
                <a:rPr lang="zh-CN" altLang="en-US" sz="2400" dirty="0">
                  <a:latin typeface="Arial" panose="020B0604020202020204" pitchFamily="34" charset="0"/>
                  <a:ea typeface="宋体" panose="02010600030101010101" pitchFamily="2" charset="-122"/>
                </a:rPr>
                <a:t>供应商</a:t>
              </a: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提供零件</a:t>
              </a:r>
              <a:r>
                <a:rPr lang="en-US" altLang="zh-CN" sz="2400" dirty="0">
                  <a:latin typeface="Arial" panose="020B0604020202020204" pitchFamily="34" charset="0"/>
                  <a:ea typeface="宋体" panose="02010600030101010101" pitchFamily="2" charset="-122"/>
                </a:rPr>
                <a:t>P</a:t>
              </a:r>
              <a:r>
                <a:rPr lang="zh-CN" altLang="en-US" sz="2400" dirty="0">
                  <a:latin typeface="Arial" panose="020B0604020202020204" pitchFamily="34" charset="0"/>
                  <a:ea typeface="宋体" panose="02010600030101010101" pitchFamily="2" charset="-122"/>
                </a:rPr>
                <a:t>，项目</a:t>
              </a:r>
              <a:r>
                <a:rPr lang="en-US" altLang="zh-CN" sz="2400" dirty="0">
                  <a:latin typeface="Arial" panose="020B0604020202020204" pitchFamily="34" charset="0"/>
                  <a:ea typeface="宋体" panose="02010600030101010101" pitchFamily="2" charset="-122"/>
                </a:rPr>
                <a:t>J</a:t>
              </a:r>
              <a:r>
                <a:rPr lang="zh-CN" altLang="en-US" sz="2400" dirty="0">
                  <a:latin typeface="Arial" panose="020B0604020202020204" pitchFamily="34" charset="0"/>
                  <a:ea typeface="宋体" panose="02010600030101010101" pitchFamily="2" charset="-122"/>
                </a:rPr>
                <a:t>需要零件</a:t>
              </a:r>
              <a:r>
                <a:rPr lang="en-US" altLang="zh-CN" sz="2400" dirty="0">
                  <a:latin typeface="Arial" panose="020B0604020202020204" pitchFamily="34" charset="0"/>
                  <a:ea typeface="宋体" panose="02010600030101010101" pitchFamily="2" charset="-122"/>
                </a:rPr>
                <a:t>P</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J</a:t>
              </a:r>
              <a:r>
                <a:rPr lang="zh-CN" altLang="en-US" sz="2400" dirty="0">
                  <a:latin typeface="Arial" panose="020B0604020202020204" pitchFamily="34" charset="0"/>
                  <a:ea typeface="宋体" panose="02010600030101010101" pitchFamily="2" charset="-122"/>
                </a:rPr>
                <a:t>从</a:t>
              </a: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购买零件</a:t>
              </a:r>
              <a:endParaRPr lang="zh-CN" altLang="en-US" sz="2400" dirty="0">
                <a:latin typeface="Arial" panose="020B0604020202020204" pitchFamily="34" charset="0"/>
                <a:ea typeface="宋体" panose="02010600030101010101" pitchFamily="2" charset="-122"/>
              </a:endParaRPr>
            </a:p>
            <a:p>
              <a:pPr marL="342900" indent="-342900" algn="ctr">
                <a:lnSpc>
                  <a:spcPct val="90000"/>
                </a:lnSpc>
                <a:spcBef>
                  <a:spcPct val="20000"/>
                </a:spcBef>
                <a:buClr>
                  <a:schemeClr val="folHlink"/>
                </a:buClr>
                <a:buSzPct val="60000"/>
                <a:buFont typeface="Wingdings" panose="05000000000000000000" pitchFamily="2" charset="2"/>
              </a:pPr>
              <a:r>
                <a:rPr lang="en-US" altLang="zh-CN" sz="2400" dirty="0">
                  <a:latin typeface="Arial" panose="020B0604020202020204" pitchFamily="34" charset="0"/>
                  <a:ea typeface="宋体" panose="02010600030101010101" pitchFamily="2" charset="-122"/>
                  <a:sym typeface="Symbol" panose="05050102010706020507" charset="2"/>
                </a:rPr>
                <a:t></a:t>
              </a:r>
              <a:endParaRPr lang="en-US" altLang="zh-CN" sz="2400" dirty="0">
                <a:latin typeface="Arial" panose="020B0604020202020204" pitchFamily="34" charset="0"/>
                <a:ea typeface="宋体" panose="02010600030101010101" pitchFamily="2" charset="-122"/>
                <a:sym typeface="Symbol" panose="05050102010706020507" charset="2"/>
              </a:endParaRPr>
            </a:p>
            <a:p>
              <a:pPr marL="342900" indent="-342900" algn="ctr">
                <a:lnSpc>
                  <a:spcPct val="90000"/>
                </a:lnSpc>
                <a:spcBef>
                  <a:spcPct val="20000"/>
                </a:spcBef>
                <a:buClr>
                  <a:schemeClr val="folHlink"/>
                </a:buClr>
                <a:buSzPct val="60000"/>
                <a:buFont typeface="Wingdings" panose="05000000000000000000" pitchFamily="2" charset="2"/>
              </a:pP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向</a:t>
              </a:r>
              <a:r>
                <a:rPr lang="en-US" altLang="zh-CN" sz="2400" dirty="0">
                  <a:latin typeface="Arial" panose="020B0604020202020204" pitchFamily="34" charset="0"/>
                  <a:ea typeface="宋体" panose="02010600030101010101" pitchFamily="2" charset="-122"/>
                </a:rPr>
                <a:t>J</a:t>
              </a:r>
              <a:r>
                <a:rPr lang="zh-CN" altLang="en-US" sz="2400" dirty="0">
                  <a:latin typeface="Arial" panose="020B0604020202020204" pitchFamily="34" charset="0"/>
                  <a:ea typeface="宋体" panose="02010600030101010101" pitchFamily="2" charset="-122"/>
                </a:rPr>
                <a:t>供应</a:t>
              </a:r>
              <a:r>
                <a:rPr lang="en-US" altLang="zh-CN" sz="2400" dirty="0">
                  <a:latin typeface="Arial" panose="020B0604020202020204" pitchFamily="34" charset="0"/>
                  <a:ea typeface="宋体" panose="02010600030101010101" pitchFamily="2" charset="-122"/>
                </a:rPr>
                <a:t>P</a:t>
              </a:r>
              <a:endParaRPr lang="en-US" altLang="zh-CN" sz="2400" dirty="0">
                <a:latin typeface="Arial" panose="020B0604020202020204" pitchFamily="34" charset="0"/>
                <a:ea typeface="宋体" panose="02010600030101010101" pitchFamily="2" charset="-122"/>
              </a:endParaRPr>
            </a:p>
            <a:p>
              <a:pPr marL="342900" indent="-342900" algn="ctr">
                <a:lnSpc>
                  <a:spcPct val="90000"/>
                </a:lnSpc>
                <a:spcBef>
                  <a:spcPct val="20000"/>
                </a:spcBef>
                <a:buClr>
                  <a:schemeClr val="folHlink"/>
                </a:buClr>
                <a:buSzPct val="60000"/>
                <a:buFont typeface="Wingdings" panose="05000000000000000000" pitchFamily="2" charset="2"/>
              </a:pPr>
              <a:r>
                <a:rPr lang="zh-CN" altLang="en-US" sz="2400" dirty="0">
                  <a:latin typeface="Arial" panose="020B0604020202020204" pitchFamily="34" charset="0"/>
                  <a:ea typeface="宋体" panose="02010600030101010101" pitchFamily="2" charset="-122"/>
                </a:rPr>
                <a:t>供货数量放在哪里？</a:t>
              </a:r>
              <a:endParaRPr lang="zh-CN" altLang="en-US" sz="2400" dirty="0">
                <a:latin typeface="Arial" panose="020B0604020202020204" pitchFamily="34" charset="0"/>
                <a:ea typeface="宋体" panose="02010600030101010101" pitchFamily="2" charset="-122"/>
              </a:endParaRPr>
            </a:p>
          </p:txBody>
        </p:sp>
        <p:sp>
          <p:nvSpPr>
            <p:cNvPr id="160855" name="Line 87"/>
            <p:cNvSpPr>
              <a:spLocks noChangeShapeType="1"/>
            </p:cNvSpPr>
            <p:nvPr/>
          </p:nvSpPr>
          <p:spPr bwMode="auto">
            <a:xfrm flipH="1">
              <a:off x="2899" y="2351"/>
              <a:ext cx="45" cy="18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up)">
                                      <p:cBhvr>
                                        <p:cTn id="7" dur="500"/>
                                        <p:tgtEl>
                                          <p:spTgt spid="14233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60847"/>
                                        </p:tgtEl>
                                        <p:attrNameLst>
                                          <p:attrName>style.visibility</p:attrName>
                                        </p:attrNameLst>
                                      </p:cBhvr>
                                      <p:to>
                                        <p:strVal val="visible"/>
                                      </p:to>
                                    </p:set>
                                    <p:animEffect transition="in" filter="wipe(up)">
                                      <p:cBhvr>
                                        <p:cTn id="10" dur="500"/>
                                        <p:tgtEl>
                                          <p:spTgt spid="16084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42350"/>
                                        </p:tgtEl>
                                        <p:attrNameLst>
                                          <p:attrName>style.visibility</p:attrName>
                                        </p:attrNameLst>
                                      </p:cBhvr>
                                      <p:to>
                                        <p:strVal val="visible"/>
                                      </p:to>
                                    </p:set>
                                    <p:animEffect transition="in" filter="wipe(left)">
                                      <p:cBhvr>
                                        <p:cTn id="15" dur="500"/>
                                        <p:tgtEl>
                                          <p:spTgt spid="142350"/>
                                        </p:tgtEl>
                                      </p:cBhvr>
                                    </p:animEffect>
                                  </p:childTnLst>
                                </p:cTn>
                              </p:par>
                              <p:par>
                                <p:cTn id="16" presetID="22" presetClass="entr" presetSubtype="8" fill="hold" nodeType="withEffect">
                                  <p:stCondLst>
                                    <p:cond delay="0"/>
                                  </p:stCondLst>
                                  <p:childTnLst>
                                    <p:set>
                                      <p:cBhvr>
                                        <p:cTn id="17" dur="1" fill="hold">
                                          <p:stCondLst>
                                            <p:cond delay="0"/>
                                          </p:stCondLst>
                                        </p:cTn>
                                        <p:tgtEl>
                                          <p:spTgt spid="142359"/>
                                        </p:tgtEl>
                                        <p:attrNameLst>
                                          <p:attrName>style.visibility</p:attrName>
                                        </p:attrNameLst>
                                      </p:cBhvr>
                                      <p:to>
                                        <p:strVal val="visible"/>
                                      </p:to>
                                    </p:set>
                                    <p:animEffect transition="in" filter="wipe(left)">
                                      <p:cBhvr>
                                        <p:cTn id="18" dur="500"/>
                                        <p:tgtEl>
                                          <p:spTgt spid="142359"/>
                                        </p:tgtEl>
                                      </p:cBhvr>
                                    </p:animEffect>
                                  </p:childTnLst>
                                </p:cTn>
                              </p:par>
                              <p:par>
                                <p:cTn id="19" presetID="22" presetClass="entr" presetSubtype="8" fill="hold" nodeType="withEffect">
                                  <p:stCondLst>
                                    <p:cond delay="0"/>
                                  </p:stCondLst>
                                  <p:childTnLst>
                                    <p:set>
                                      <p:cBhvr>
                                        <p:cTn id="20" dur="1" fill="hold">
                                          <p:stCondLst>
                                            <p:cond delay="0"/>
                                          </p:stCondLst>
                                        </p:cTn>
                                        <p:tgtEl>
                                          <p:spTgt spid="142368"/>
                                        </p:tgtEl>
                                        <p:attrNameLst>
                                          <p:attrName>style.visibility</p:attrName>
                                        </p:attrNameLst>
                                      </p:cBhvr>
                                      <p:to>
                                        <p:strVal val="visible"/>
                                      </p:to>
                                    </p:set>
                                    <p:animEffect transition="in" filter="wipe(left)">
                                      <p:cBhvr>
                                        <p:cTn id="21" dur="500"/>
                                        <p:tgtEl>
                                          <p:spTgt spid="14236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60843"/>
                                        </p:tgtEl>
                                        <p:attrNameLst>
                                          <p:attrName>style.visibility</p:attrName>
                                        </p:attrNameLst>
                                      </p:cBhvr>
                                      <p:to>
                                        <p:strVal val="visible"/>
                                      </p:to>
                                    </p:set>
                                    <p:animEffect transition="in" filter="wipe(left)">
                                      <p:cBhvr>
                                        <p:cTn id="24" dur="500"/>
                                        <p:tgtEl>
                                          <p:spTgt spid="16084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60848"/>
                                        </p:tgtEl>
                                        <p:attrNameLst>
                                          <p:attrName>style.visibility</p:attrName>
                                        </p:attrNameLst>
                                      </p:cBhvr>
                                      <p:to>
                                        <p:strVal val="visible"/>
                                      </p:to>
                                    </p:set>
                                    <p:animEffect transition="in" filter="wipe(left)">
                                      <p:cBhvr>
                                        <p:cTn id="27" dur="500"/>
                                        <p:tgtEl>
                                          <p:spTgt spid="16084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60849"/>
                                        </p:tgtEl>
                                        <p:attrNameLst>
                                          <p:attrName>style.visibility</p:attrName>
                                        </p:attrNameLst>
                                      </p:cBhvr>
                                      <p:to>
                                        <p:strVal val="visible"/>
                                      </p:to>
                                    </p:set>
                                    <p:animEffect transition="in" filter="wipe(left)">
                                      <p:cBhvr>
                                        <p:cTn id="30" dur="500"/>
                                        <p:tgtEl>
                                          <p:spTgt spid="16084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60850"/>
                                        </p:tgtEl>
                                        <p:attrNameLst>
                                          <p:attrName>style.visibility</p:attrName>
                                        </p:attrNameLst>
                                      </p:cBhvr>
                                      <p:to>
                                        <p:strVal val="visible"/>
                                      </p:to>
                                    </p:set>
                                    <p:animEffect transition="in" filter="wipe(left)">
                                      <p:cBhvr>
                                        <p:cTn id="33" dur="500"/>
                                        <p:tgtEl>
                                          <p:spTgt spid="16085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60845"/>
                                        </p:tgtEl>
                                        <p:attrNameLst>
                                          <p:attrName>style.visibility</p:attrName>
                                        </p:attrNameLst>
                                      </p:cBhvr>
                                      <p:to>
                                        <p:strVal val="visible"/>
                                      </p:to>
                                    </p:set>
                                    <p:animEffect transition="in" filter="wipe(up)">
                                      <p:cBhvr>
                                        <p:cTn id="38" dur="500"/>
                                        <p:tgtEl>
                                          <p:spTgt spid="160845"/>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60844"/>
                                        </p:tgtEl>
                                        <p:attrNameLst>
                                          <p:attrName>style.visibility</p:attrName>
                                        </p:attrNameLst>
                                      </p:cBhvr>
                                      <p:to>
                                        <p:strVal val="visible"/>
                                      </p:to>
                                    </p:set>
                                    <p:animEffect transition="in" filter="wipe(up)">
                                      <p:cBhvr>
                                        <p:cTn id="41" dur="500"/>
                                        <p:tgtEl>
                                          <p:spTgt spid="16084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60856"/>
                                        </p:tgtEl>
                                        <p:attrNameLst>
                                          <p:attrName>style.visibility</p:attrName>
                                        </p:attrNameLst>
                                      </p:cBhvr>
                                      <p:to>
                                        <p:strVal val="visible"/>
                                      </p:to>
                                    </p:set>
                                    <p:animEffect transition="in" filter="wipe(up)">
                                      <p:cBhvr>
                                        <p:cTn id="46" dur="500"/>
                                        <p:tgtEl>
                                          <p:spTgt spid="160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43" grpId="0" animBg="1"/>
      <p:bldP spid="160844" grpId="0"/>
      <p:bldP spid="160845" grpId="0"/>
      <p:bldP spid="160847" grpId="0"/>
      <p:bldP spid="160848" grpId="0"/>
      <p:bldP spid="160849" grpId="0"/>
      <p:bldP spid="16085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E-R Design Decisions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44386" name="Rectangle 3"/>
          <p:cNvSpPr>
            <a:spLocks noGrp="1"/>
          </p:cNvSpPr>
          <p:nvPr>
            <p:ph idx="1"/>
          </p:nvPr>
        </p:nvSpPr>
        <p:spPr>
          <a:xfrm>
            <a:off x="254000" y="1093788"/>
            <a:ext cx="8696325" cy="4687887"/>
          </a:xfrm>
        </p:spPr>
        <p:txBody>
          <a:bodyPr vert="horz" wrap="square" lIns="91440" tIns="45720" rIns="91440" bIns="45720" anchor="t" anchorCtr="0"/>
          <a:lstStyle/>
          <a:p>
            <a:r>
              <a:rPr lang="en-US" altLang="zh-CN" sz="2400" dirty="0"/>
              <a:t>The use of an </a:t>
            </a:r>
            <a:r>
              <a:rPr lang="en-US" altLang="zh-CN" sz="2400" dirty="0">
                <a:solidFill>
                  <a:srgbClr val="C00000"/>
                </a:solidFill>
              </a:rPr>
              <a:t>attribute</a:t>
            </a:r>
            <a:r>
              <a:rPr lang="en-US" altLang="zh-CN" sz="2400" dirty="0"/>
              <a:t> or </a:t>
            </a:r>
            <a:r>
              <a:rPr lang="en-US" altLang="zh-CN" sz="2400" dirty="0">
                <a:solidFill>
                  <a:srgbClr val="006600"/>
                </a:solidFill>
              </a:rPr>
              <a:t>entity set</a:t>
            </a:r>
            <a:r>
              <a:rPr lang="en-US" altLang="zh-CN" sz="2400" dirty="0"/>
              <a:t> to represent an object.</a:t>
            </a:r>
            <a:endParaRPr lang="en-US" altLang="zh-CN" sz="2400" dirty="0"/>
          </a:p>
          <a:p>
            <a:r>
              <a:rPr lang="en-US" altLang="zh-CN" sz="2400" dirty="0"/>
              <a:t>Whether a real-world concept is best expressed by an </a:t>
            </a:r>
            <a:r>
              <a:rPr lang="en-US" altLang="zh-CN" sz="2400" dirty="0">
                <a:solidFill>
                  <a:srgbClr val="006600"/>
                </a:solidFill>
              </a:rPr>
              <a:t>entity set</a:t>
            </a:r>
            <a:r>
              <a:rPr lang="en-US" altLang="zh-CN" sz="2400" dirty="0"/>
              <a:t> or a </a:t>
            </a:r>
            <a:r>
              <a:rPr lang="en-US" altLang="zh-CN" sz="2400" dirty="0">
                <a:solidFill>
                  <a:srgbClr val="000099"/>
                </a:solidFill>
              </a:rPr>
              <a:t>relationship set</a:t>
            </a:r>
            <a:r>
              <a:rPr lang="en-US" altLang="zh-CN" sz="2400" dirty="0"/>
              <a:t>.</a:t>
            </a:r>
            <a:endParaRPr lang="en-US" altLang="zh-CN" sz="2400" dirty="0"/>
          </a:p>
          <a:p>
            <a:r>
              <a:rPr lang="en-US" altLang="zh-CN" sz="2400" dirty="0"/>
              <a:t>The use of a </a:t>
            </a:r>
            <a:r>
              <a:rPr lang="en-US" altLang="zh-CN" sz="2400" i="1" u="sng" dirty="0">
                <a:solidFill>
                  <a:srgbClr val="000099"/>
                </a:solidFill>
              </a:rPr>
              <a:t>ternary</a:t>
            </a:r>
            <a:r>
              <a:rPr lang="en-US" altLang="zh-CN" sz="2400" dirty="0">
                <a:solidFill>
                  <a:srgbClr val="000099"/>
                </a:solidFill>
              </a:rPr>
              <a:t> relationship</a:t>
            </a:r>
            <a:r>
              <a:rPr lang="en-US" altLang="zh-CN" sz="2400" dirty="0"/>
              <a:t> versus a pair of </a:t>
            </a:r>
            <a:r>
              <a:rPr lang="en-US" altLang="zh-CN" sz="2400" i="1" u="sng" dirty="0">
                <a:solidFill>
                  <a:srgbClr val="000099"/>
                </a:solidFill>
              </a:rPr>
              <a:t>binary</a:t>
            </a:r>
            <a:r>
              <a:rPr lang="en-US" altLang="zh-CN" sz="2400" dirty="0">
                <a:solidFill>
                  <a:srgbClr val="000099"/>
                </a:solidFill>
              </a:rPr>
              <a:t> relationships</a:t>
            </a:r>
            <a:r>
              <a:rPr lang="en-US" altLang="zh-CN" sz="2400" dirty="0"/>
              <a:t>.</a:t>
            </a:r>
            <a:endParaRPr lang="en-US" altLang="zh-CN" sz="2400" dirty="0"/>
          </a:p>
          <a:p>
            <a:r>
              <a:rPr lang="en-US" altLang="zh-CN" sz="2400" dirty="0"/>
              <a:t>The use of a </a:t>
            </a:r>
            <a:r>
              <a:rPr lang="en-US" altLang="zh-CN" sz="2400" dirty="0">
                <a:solidFill>
                  <a:srgbClr val="006600"/>
                </a:solidFill>
              </a:rPr>
              <a:t>strong</a:t>
            </a:r>
            <a:r>
              <a:rPr lang="en-US" altLang="zh-CN" sz="2400" dirty="0"/>
              <a:t> or </a:t>
            </a:r>
            <a:r>
              <a:rPr lang="en-US" altLang="zh-CN" sz="2400" dirty="0">
                <a:solidFill>
                  <a:srgbClr val="006600"/>
                </a:solidFill>
              </a:rPr>
              <a:t>weak entity set</a:t>
            </a:r>
            <a:r>
              <a:rPr lang="en-US" altLang="zh-CN" sz="2400" dirty="0"/>
              <a:t>.</a:t>
            </a:r>
            <a:endParaRPr lang="en-US" altLang="zh-CN" sz="2400" dirty="0"/>
          </a:p>
          <a:p>
            <a:r>
              <a:rPr lang="en-US" altLang="zh-CN" sz="2400" dirty="0"/>
              <a:t>The use of </a:t>
            </a:r>
            <a:r>
              <a:rPr lang="en-US" altLang="zh-CN" sz="2400" dirty="0">
                <a:solidFill>
                  <a:srgbClr val="C00000"/>
                </a:solidFill>
              </a:rPr>
              <a:t>specialization/generalization</a:t>
            </a:r>
            <a:r>
              <a:rPr lang="en-US" altLang="zh-CN" sz="2400" dirty="0"/>
              <a:t> – contributes to modularity in the design.</a:t>
            </a:r>
            <a:endParaRPr lang="en-US" altLang="zh-CN" sz="2400" dirty="0"/>
          </a:p>
          <a:p>
            <a:r>
              <a:rPr lang="en-US" altLang="zh-CN" sz="2400" dirty="0"/>
              <a:t>The </a:t>
            </a:r>
            <a:r>
              <a:rPr lang="en-US" altLang="zh-CN" sz="2400" dirty="0">
                <a:solidFill>
                  <a:srgbClr val="006600"/>
                </a:solidFill>
              </a:rPr>
              <a:t>use of aggregation</a:t>
            </a:r>
            <a:r>
              <a:rPr lang="en-US" altLang="zh-CN" sz="2400" dirty="0"/>
              <a:t> – can treat the aggregate entity set as a single unit without concern for the details of its internal structure.</a:t>
            </a:r>
            <a:endParaRPr lang="en-US" altLang="zh-CN"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469900" y="155575"/>
            <a:ext cx="8867775" cy="477838"/>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Summary of Symbols Used in E-R Notation</a:t>
            </a:r>
            <a:endPar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pic>
        <p:nvPicPr>
          <p:cNvPr id="146434" name="Picture 5"/>
          <p:cNvPicPr>
            <a:picLocks noChangeAspect="1"/>
          </p:cNvPicPr>
          <p:nvPr/>
        </p:nvPicPr>
        <p:blipFill>
          <a:blip r:embed="rId1"/>
          <a:srcRect b="53856"/>
          <a:stretch>
            <a:fillRect/>
          </a:stretch>
        </p:blipFill>
        <p:spPr>
          <a:xfrm>
            <a:off x="596900" y="1128713"/>
            <a:ext cx="8012113" cy="4595812"/>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Symbols Used in E-R Notation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148482" name="Picture 5"/>
          <p:cNvPicPr>
            <a:picLocks noChangeAspect="1"/>
          </p:cNvPicPr>
          <p:nvPr/>
        </p:nvPicPr>
        <p:blipFill>
          <a:blip r:embed="rId1"/>
          <a:srcRect t="45372"/>
          <a:stretch>
            <a:fillRect/>
          </a:stretch>
        </p:blipFill>
        <p:spPr>
          <a:xfrm>
            <a:off x="1196975" y="979488"/>
            <a:ext cx="7435850" cy="504825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Alternative ER Notations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50530" name="Rectangle 116"/>
          <p:cNvSpPr>
            <a:spLocks noGrp="1"/>
          </p:cNvSpPr>
          <p:nvPr>
            <p:ph idx="1"/>
          </p:nvPr>
        </p:nvSpPr>
        <p:spPr>
          <a:xfrm>
            <a:off x="814388" y="1093788"/>
            <a:ext cx="7661275" cy="606425"/>
          </a:xfrm>
        </p:spPr>
        <p:txBody>
          <a:bodyPr vert="horz" wrap="square" lIns="91440" tIns="45720" rIns="91440" bIns="45720" anchor="t" anchorCtr="0"/>
          <a:lstStyle/>
          <a:p>
            <a:r>
              <a:rPr lang="en-US" altLang="zh-CN" sz="2000" dirty="0"/>
              <a:t> </a:t>
            </a:r>
            <a:r>
              <a:rPr lang="en-US" altLang="zh-CN" dirty="0"/>
              <a:t>Chen, IDE1FX, …</a:t>
            </a:r>
            <a:endParaRPr lang="en-US" altLang="zh-CN" dirty="0"/>
          </a:p>
        </p:txBody>
      </p:sp>
      <p:pic>
        <p:nvPicPr>
          <p:cNvPr id="150531" name="Picture 5"/>
          <p:cNvPicPr>
            <a:picLocks noChangeAspect="1"/>
          </p:cNvPicPr>
          <p:nvPr/>
        </p:nvPicPr>
        <p:blipFill>
          <a:blip r:embed="rId1"/>
          <a:srcRect r="15594" b="76595"/>
          <a:stretch>
            <a:fillRect/>
          </a:stretch>
        </p:blipFill>
        <p:spPr>
          <a:xfrm>
            <a:off x="1065213" y="1760538"/>
            <a:ext cx="6831012" cy="1773237"/>
          </a:xfrm>
          <a:prstGeom prst="rect">
            <a:avLst/>
          </a:prstGeom>
          <a:noFill/>
          <a:ln w="9525">
            <a:noFill/>
          </a:ln>
        </p:spPr>
      </p:pic>
      <p:pic>
        <p:nvPicPr>
          <p:cNvPr id="150532" name="Picture 5"/>
          <p:cNvPicPr>
            <a:picLocks noChangeAspect="1"/>
          </p:cNvPicPr>
          <p:nvPr/>
        </p:nvPicPr>
        <p:blipFill>
          <a:blip r:embed="rId1"/>
          <a:srcRect t="87552"/>
          <a:stretch>
            <a:fillRect/>
          </a:stretch>
        </p:blipFill>
        <p:spPr>
          <a:xfrm>
            <a:off x="514350" y="4040188"/>
            <a:ext cx="8478838" cy="987425"/>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Alternative ER Notations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52578" name="Rectangle 3"/>
          <p:cNvSpPr>
            <a:spLocks noGrp="1"/>
          </p:cNvSpPr>
          <p:nvPr>
            <p:ph idx="1"/>
          </p:nvPr>
        </p:nvSpPr>
        <p:spPr>
          <a:xfrm>
            <a:off x="639763" y="1266825"/>
            <a:ext cx="8232775" cy="622300"/>
          </a:xfrm>
        </p:spPr>
        <p:txBody>
          <a:bodyPr vert="horz" wrap="square" lIns="91440" tIns="45720" rIns="91440" bIns="45720" anchor="t" anchorCtr="0"/>
          <a:lstStyle/>
          <a:p>
            <a:pPr>
              <a:buNone/>
            </a:pPr>
            <a:r>
              <a:rPr lang="en-US" altLang="zh-CN" b="1" dirty="0"/>
              <a:t>                                             Chen                      IDE1FX (Crows feet notation)</a:t>
            </a:r>
            <a:endParaRPr lang="en-US" altLang="zh-CN" b="1" dirty="0"/>
          </a:p>
        </p:txBody>
      </p:sp>
      <p:pic>
        <p:nvPicPr>
          <p:cNvPr id="152579" name="Picture 5"/>
          <p:cNvPicPr>
            <a:picLocks noChangeAspect="1"/>
          </p:cNvPicPr>
          <p:nvPr/>
        </p:nvPicPr>
        <p:blipFill>
          <a:blip r:embed="rId1"/>
          <a:srcRect t="22716" b="11975"/>
          <a:stretch>
            <a:fillRect/>
          </a:stretch>
        </p:blipFill>
        <p:spPr>
          <a:xfrm>
            <a:off x="1223963" y="1784350"/>
            <a:ext cx="7554912" cy="4619625"/>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UML	</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54626" name="Rectangle 3"/>
          <p:cNvSpPr>
            <a:spLocks noGrp="1"/>
          </p:cNvSpPr>
          <p:nvPr>
            <p:ph idx="1"/>
          </p:nvPr>
        </p:nvSpPr>
        <p:spPr>
          <a:xfrm>
            <a:off x="855663" y="1222375"/>
            <a:ext cx="7419975" cy="4876800"/>
          </a:xfrm>
        </p:spPr>
        <p:txBody>
          <a:bodyPr vert="horz" wrap="square" lIns="91440" tIns="45720" rIns="91440" bIns="45720" anchor="t" anchorCtr="0"/>
          <a:lstStyle/>
          <a:p>
            <a:r>
              <a:rPr lang="en-US" altLang="zh-CN" b="1" dirty="0">
                <a:solidFill>
                  <a:srgbClr val="000099"/>
                </a:solidFill>
              </a:rPr>
              <a:t>UML</a:t>
            </a:r>
            <a:r>
              <a:rPr lang="en-US" altLang="zh-CN" dirty="0"/>
              <a:t>: Unified Modeling Language</a:t>
            </a:r>
            <a:endParaRPr lang="en-US" altLang="zh-CN" dirty="0"/>
          </a:p>
          <a:p>
            <a:r>
              <a:rPr lang="en-US" altLang="zh-CN" dirty="0"/>
              <a:t>UML has many components to graphically model different aspects of an entire software system</a:t>
            </a:r>
            <a:endParaRPr lang="en-US" altLang="zh-CN" dirty="0"/>
          </a:p>
          <a:p>
            <a:r>
              <a:rPr lang="en-US" altLang="zh-CN" dirty="0"/>
              <a:t>UML Class Diagrams correspond to E-R Diagram, but several differences.</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a:xfrm>
            <a:off x="858838" y="104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vs. UML Class Diagrams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56674" name="Text Box 163"/>
          <p:cNvSpPr txBox="1"/>
          <p:nvPr/>
        </p:nvSpPr>
        <p:spPr>
          <a:xfrm>
            <a:off x="1673225" y="6007100"/>
            <a:ext cx="6102350" cy="366713"/>
          </a:xfrm>
          <a:prstGeom prst="rect">
            <a:avLst/>
          </a:prstGeom>
          <a:noFill/>
          <a:ln w="9525">
            <a:noFill/>
          </a:ln>
        </p:spPr>
        <p:txBody>
          <a:bodyPr wrap="none" anchor="t" anchorCtr="0">
            <a:spAutoFit/>
          </a:bodyPr>
          <a:lstStyle/>
          <a:p>
            <a:pPr eaLnBrk="0" hangingPunct="0"/>
            <a:r>
              <a:rPr lang="en-US" altLang="zh-CN" sz="1800" dirty="0">
                <a:solidFill>
                  <a:schemeClr val="tx2"/>
                </a:solidFill>
                <a:latin typeface="Helvetica" charset="0"/>
              </a:rPr>
              <a:t>*</a:t>
            </a:r>
            <a:r>
              <a:rPr lang="en-US" altLang="zh-CN" sz="1800" dirty="0">
                <a:latin typeface="Helvetica" charset="0"/>
              </a:rPr>
              <a:t>Note reversal of position in cardinality constraint depiction</a:t>
            </a:r>
            <a:endParaRPr lang="en-US" altLang="zh-CN" sz="1800" dirty="0">
              <a:latin typeface="Helvetica" charset="0"/>
            </a:endParaRPr>
          </a:p>
        </p:txBody>
      </p:sp>
      <p:pic>
        <p:nvPicPr>
          <p:cNvPr id="156675" name="Picture 5"/>
          <p:cNvPicPr>
            <a:picLocks noChangeAspect="1"/>
          </p:cNvPicPr>
          <p:nvPr/>
        </p:nvPicPr>
        <p:blipFill>
          <a:blip r:embed="rId1"/>
          <a:srcRect b="44093"/>
          <a:stretch>
            <a:fillRect/>
          </a:stretch>
        </p:blipFill>
        <p:spPr>
          <a:xfrm>
            <a:off x="569913" y="1065213"/>
            <a:ext cx="8280400" cy="4695825"/>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vs. UML Class Diagrams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58722" name="Text Box 82"/>
          <p:cNvSpPr txBox="1"/>
          <p:nvPr/>
        </p:nvSpPr>
        <p:spPr>
          <a:xfrm>
            <a:off x="1630363" y="1058863"/>
            <a:ext cx="2335212" cy="376237"/>
          </a:xfrm>
          <a:prstGeom prst="rect">
            <a:avLst/>
          </a:prstGeom>
          <a:noFill/>
          <a:ln w="9525">
            <a:noFill/>
          </a:ln>
        </p:spPr>
        <p:txBody>
          <a:bodyPr wrap="none" lIns="90000" tIns="45000" rIns="90000" bIns="45000" anchor="t" anchorCtr="0"/>
          <a:lstStyle/>
          <a:p>
            <a:pPr defTabSz="449580" hangingPunct="0">
              <a:lnSpc>
                <a:spcPct val="104000"/>
              </a:lnSpc>
              <a:buSzPct val="45000"/>
              <a:buFont typeface="Wingdings" panose="05000000000000000000" pitchFamily="2" charset="2"/>
              <a:tabLst>
                <a:tab pos="0" algn="l"/>
                <a:tab pos="447675" algn="l"/>
                <a:tab pos="897255" algn="l"/>
                <a:tab pos="1346200" algn="l"/>
                <a:tab pos="1795780" algn="l"/>
                <a:tab pos="2244725" algn="l"/>
                <a:tab pos="2694305" algn="l"/>
                <a:tab pos="3143250" algn="l"/>
                <a:tab pos="3592830" algn="l"/>
                <a:tab pos="4041775" algn="l"/>
                <a:tab pos="4491355" algn="l"/>
                <a:tab pos="4940300" algn="l"/>
                <a:tab pos="5389880" algn="l"/>
                <a:tab pos="5838825" algn="l"/>
                <a:tab pos="6288405" algn="l"/>
                <a:tab pos="6737350" algn="l"/>
                <a:tab pos="7186930" algn="l"/>
                <a:tab pos="7635875" algn="l"/>
                <a:tab pos="8085455" algn="l"/>
                <a:tab pos="8534400" algn="l"/>
                <a:tab pos="8983980" algn="l"/>
              </a:tabLst>
            </a:pPr>
            <a:r>
              <a:rPr lang="en-US" altLang="zh-CN" sz="1800" b="1" dirty="0">
                <a:solidFill>
                  <a:srgbClr val="000000"/>
                </a:solidFill>
                <a:latin typeface="Arial" panose="020B0604020202020204" pitchFamily="34" charset="0"/>
              </a:rPr>
              <a:t>ER Diagram Notation</a:t>
            </a:r>
            <a:endParaRPr lang="en-US" altLang="zh-CN" sz="1800" b="1" dirty="0">
              <a:solidFill>
                <a:srgbClr val="000000"/>
              </a:solidFill>
              <a:latin typeface="Arial" panose="020B0604020202020204" pitchFamily="34" charset="0"/>
            </a:endParaRPr>
          </a:p>
        </p:txBody>
      </p:sp>
      <p:sp>
        <p:nvSpPr>
          <p:cNvPr id="158723" name="Text Box 83"/>
          <p:cNvSpPr txBox="1"/>
          <p:nvPr/>
        </p:nvSpPr>
        <p:spPr>
          <a:xfrm>
            <a:off x="5378450" y="1087438"/>
            <a:ext cx="2030413" cy="376237"/>
          </a:xfrm>
          <a:prstGeom prst="rect">
            <a:avLst/>
          </a:prstGeom>
          <a:noFill/>
          <a:ln w="9525">
            <a:noFill/>
          </a:ln>
        </p:spPr>
        <p:txBody>
          <a:bodyPr wrap="none" lIns="90000" tIns="45000" rIns="90000" bIns="45000" anchor="t" anchorCtr="0"/>
          <a:lstStyle/>
          <a:p>
            <a:pPr defTabSz="449580" hangingPunct="0">
              <a:lnSpc>
                <a:spcPct val="104000"/>
              </a:lnSpc>
              <a:buSzPct val="45000"/>
              <a:buFont typeface="Wingdings" panose="05000000000000000000" pitchFamily="2" charset="2"/>
              <a:tabLst>
                <a:tab pos="0" algn="l"/>
                <a:tab pos="447675" algn="l"/>
                <a:tab pos="897255" algn="l"/>
                <a:tab pos="1346200" algn="l"/>
                <a:tab pos="1795780" algn="l"/>
                <a:tab pos="2244725" algn="l"/>
                <a:tab pos="2694305" algn="l"/>
                <a:tab pos="3143250" algn="l"/>
                <a:tab pos="3592830" algn="l"/>
                <a:tab pos="4041775" algn="l"/>
                <a:tab pos="4491355" algn="l"/>
                <a:tab pos="4940300" algn="l"/>
                <a:tab pos="5389880" algn="l"/>
                <a:tab pos="5838825" algn="l"/>
                <a:tab pos="6288405" algn="l"/>
                <a:tab pos="6737350" algn="l"/>
                <a:tab pos="7186930" algn="l"/>
                <a:tab pos="7635875" algn="l"/>
                <a:tab pos="8085455" algn="l"/>
                <a:tab pos="8534400" algn="l"/>
                <a:tab pos="8983980" algn="l"/>
              </a:tabLst>
            </a:pPr>
            <a:r>
              <a:rPr lang="en-US" altLang="zh-CN" sz="1800" b="1" dirty="0">
                <a:solidFill>
                  <a:srgbClr val="000000"/>
                </a:solidFill>
                <a:latin typeface="Arial" panose="020B0604020202020204" pitchFamily="34" charset="0"/>
              </a:rPr>
              <a:t>Equivalent in UML</a:t>
            </a:r>
            <a:endParaRPr lang="en-US" altLang="zh-CN" sz="1800" b="1" dirty="0">
              <a:solidFill>
                <a:srgbClr val="000000"/>
              </a:solidFill>
              <a:latin typeface="Arial" panose="020B0604020202020204" pitchFamily="34" charset="0"/>
            </a:endParaRPr>
          </a:p>
        </p:txBody>
      </p:sp>
      <p:sp>
        <p:nvSpPr>
          <p:cNvPr id="158724" name="Text Box 84"/>
          <p:cNvSpPr txBox="1"/>
          <p:nvPr/>
        </p:nvSpPr>
        <p:spPr>
          <a:xfrm>
            <a:off x="1158875" y="5829300"/>
            <a:ext cx="6737350" cy="641350"/>
          </a:xfrm>
          <a:prstGeom prst="rect">
            <a:avLst/>
          </a:prstGeom>
          <a:noFill/>
          <a:ln w="9525">
            <a:noFill/>
          </a:ln>
        </p:spPr>
        <p:txBody>
          <a:bodyPr wrap="none" anchor="t" anchorCtr="0">
            <a:spAutoFit/>
          </a:bodyPr>
          <a:lstStyle/>
          <a:p>
            <a:pPr eaLnBrk="0" hangingPunct="0"/>
            <a:r>
              <a:rPr lang="en-US" altLang="zh-CN" sz="1800" dirty="0">
                <a:solidFill>
                  <a:schemeClr val="tx2"/>
                </a:solidFill>
                <a:latin typeface="Helvetica" charset="0"/>
              </a:rPr>
              <a:t>*</a:t>
            </a:r>
            <a:r>
              <a:rPr lang="en-US" altLang="zh-CN" sz="1800" dirty="0">
                <a:latin typeface="Helvetica" charset="0"/>
              </a:rPr>
              <a:t>Generalization can use merged or separate arrows independent</a:t>
            </a:r>
            <a:endParaRPr lang="en-US" altLang="zh-CN" sz="1800" dirty="0">
              <a:latin typeface="Helvetica" charset="0"/>
            </a:endParaRPr>
          </a:p>
          <a:p>
            <a:pPr eaLnBrk="0" hangingPunct="0"/>
            <a:r>
              <a:rPr lang="en-US" altLang="zh-CN" sz="1800" dirty="0">
                <a:latin typeface="Helvetica" charset="0"/>
              </a:rPr>
              <a:t>  of disjoint/overlapping</a:t>
            </a:r>
            <a:endParaRPr lang="en-US" altLang="zh-CN" sz="1800" dirty="0">
              <a:solidFill>
                <a:schemeClr val="tx2"/>
              </a:solidFill>
              <a:latin typeface="Helvetica" charset="0"/>
            </a:endParaRPr>
          </a:p>
        </p:txBody>
      </p:sp>
      <p:pic>
        <p:nvPicPr>
          <p:cNvPr id="158725" name="Picture 5"/>
          <p:cNvPicPr>
            <a:picLocks noChangeAspect="1"/>
          </p:cNvPicPr>
          <p:nvPr/>
        </p:nvPicPr>
        <p:blipFill>
          <a:blip r:embed="rId1"/>
          <a:srcRect t="56212" r="11429"/>
          <a:stretch>
            <a:fillRect/>
          </a:stretch>
        </p:blipFill>
        <p:spPr>
          <a:xfrm>
            <a:off x="846138" y="1641475"/>
            <a:ext cx="7870825" cy="3948113"/>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UML Class Diagrams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60770" name="Rectangle 3"/>
          <p:cNvSpPr>
            <a:spLocks noGrp="1"/>
          </p:cNvSpPr>
          <p:nvPr>
            <p:ph idx="1"/>
          </p:nvPr>
        </p:nvSpPr>
        <p:spPr>
          <a:xfrm>
            <a:off x="855663" y="1222375"/>
            <a:ext cx="7359650" cy="5029200"/>
          </a:xfrm>
        </p:spPr>
        <p:txBody>
          <a:bodyPr vert="horz" wrap="square" lIns="91440" tIns="45720" rIns="91440" bIns="45720" anchor="t" anchorCtr="0"/>
          <a:lstStyle/>
          <a:p>
            <a:r>
              <a:rPr lang="en-US" altLang="zh-CN" dirty="0"/>
              <a:t>Binary relationship sets are represented in UML by just drawing a line connecting the entity sets. The relationship set name is written adjacent to the line.  </a:t>
            </a:r>
            <a:endParaRPr lang="en-US" altLang="zh-CN" dirty="0"/>
          </a:p>
          <a:p>
            <a:r>
              <a:rPr lang="en-US" altLang="zh-CN" dirty="0"/>
              <a:t>The role played by an entity set in a relationship set may also be specified by writing the role name on the line, adjacent to the entity set. </a:t>
            </a:r>
            <a:endParaRPr lang="en-US" altLang="zh-CN" dirty="0"/>
          </a:p>
          <a:p>
            <a:r>
              <a:rPr lang="en-US" altLang="zh-CN" dirty="0"/>
              <a:t>The relationship set name may alternatively be written in a box, along with attributes of the relationship set, and the box is connected, using a dotted line, to the line depicting the  relationship set.</a:t>
            </a:r>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概念数据库设计过程</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endParaRPr>
          </a:p>
        </p:txBody>
      </p:sp>
      <p:grpSp>
        <p:nvGrpSpPr>
          <p:cNvPr id="162818" name="Group 3"/>
          <p:cNvGrpSpPr/>
          <p:nvPr/>
        </p:nvGrpSpPr>
        <p:grpSpPr>
          <a:xfrm>
            <a:off x="933450" y="1169988"/>
            <a:ext cx="7162800" cy="5281612"/>
            <a:chOff x="720" y="929"/>
            <a:chExt cx="4512" cy="3327"/>
          </a:xfrm>
        </p:grpSpPr>
        <p:sp>
          <p:nvSpPr>
            <p:cNvPr id="207876" name="Rectangle 4"/>
            <p:cNvSpPr>
              <a:spLocks noChangeArrowheads="1"/>
            </p:cNvSpPr>
            <p:nvPr/>
          </p:nvSpPr>
          <p:spPr bwMode="auto">
            <a:xfrm>
              <a:off x="720" y="1344"/>
              <a:ext cx="4512" cy="2496"/>
            </a:xfrm>
            <a:prstGeom prst="rect">
              <a:avLst/>
            </a:prstGeom>
            <a:gradFill rotWithShape="0">
              <a:gsLst>
                <a:gs pos="0">
                  <a:srgbClr val="03D4A8"/>
                </a:gs>
                <a:gs pos="25000">
                  <a:srgbClr val="21D6E0"/>
                </a:gs>
                <a:gs pos="75000">
                  <a:srgbClr val="0087E6"/>
                </a:gs>
                <a:gs pos="100000">
                  <a:srgbClr val="005CB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3D4A8"/>
              </a:extrusionClr>
            </a:sp3d>
          </p:spPr>
          <p:txBody>
            <a:bodyPr wrap="none" lIns="90000" tIns="46800" rIns="90000" bIns="46800" anchor="ctr">
              <a:flatTx/>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77" name="Rectangle 5"/>
            <p:cNvSpPr>
              <a:spLocks noChangeArrowheads="1"/>
            </p:cNvSpPr>
            <p:nvPr/>
          </p:nvSpPr>
          <p:spPr bwMode="auto">
            <a:xfrm>
              <a:off x="2325" y="929"/>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需求分析结果</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78" name="Rectangle 6"/>
            <p:cNvSpPr>
              <a:spLocks noChangeArrowheads="1"/>
            </p:cNvSpPr>
            <p:nvPr/>
          </p:nvSpPr>
          <p:spPr bwMode="auto">
            <a:xfrm>
              <a:off x="2164" y="1553"/>
              <a:ext cx="1408"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确定局部结构范围</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79" name="Rectangle 7"/>
            <p:cNvSpPr>
              <a:spLocks noChangeArrowheads="1"/>
            </p:cNvSpPr>
            <p:nvPr/>
          </p:nvSpPr>
          <p:spPr bwMode="auto">
            <a:xfrm>
              <a:off x="2486" y="2177"/>
              <a:ext cx="76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实体定义</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80" name="Rectangle 8"/>
            <p:cNvSpPr>
              <a:spLocks noChangeArrowheads="1"/>
            </p:cNvSpPr>
            <p:nvPr/>
          </p:nvSpPr>
          <p:spPr bwMode="auto">
            <a:xfrm>
              <a:off x="2486" y="2818"/>
              <a:ext cx="76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联系定义</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81" name="Rectangle 9"/>
            <p:cNvSpPr>
              <a:spLocks noChangeArrowheads="1"/>
            </p:cNvSpPr>
            <p:nvPr/>
          </p:nvSpPr>
          <p:spPr bwMode="auto">
            <a:xfrm>
              <a:off x="2498" y="3442"/>
              <a:ext cx="76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属性分配</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7882" name="AutoShape 10"/>
            <p:cNvSpPr>
              <a:spLocks noChangeArrowheads="1"/>
            </p:cNvSpPr>
            <p:nvPr/>
          </p:nvSpPr>
          <p:spPr bwMode="auto">
            <a:xfrm>
              <a:off x="2736" y="1200"/>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3" name="AutoShape 11"/>
            <p:cNvSpPr>
              <a:spLocks noChangeArrowheads="1"/>
            </p:cNvSpPr>
            <p:nvPr/>
          </p:nvSpPr>
          <p:spPr bwMode="auto">
            <a:xfrm>
              <a:off x="2736" y="1824"/>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4" name="AutoShape 12"/>
            <p:cNvSpPr>
              <a:spLocks noChangeArrowheads="1"/>
            </p:cNvSpPr>
            <p:nvPr/>
          </p:nvSpPr>
          <p:spPr bwMode="auto">
            <a:xfrm>
              <a:off x="2736" y="2448"/>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5" name="AutoShape 13"/>
            <p:cNvSpPr>
              <a:spLocks noChangeArrowheads="1"/>
            </p:cNvSpPr>
            <p:nvPr/>
          </p:nvSpPr>
          <p:spPr bwMode="auto">
            <a:xfrm>
              <a:off x="2736" y="3072"/>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6" name="Text Box 14"/>
            <p:cNvSpPr txBox="1">
              <a:spLocks noChangeArrowheads="1"/>
            </p:cNvSpPr>
            <p:nvPr/>
          </p:nvSpPr>
          <p:spPr bwMode="auto">
            <a:xfrm>
              <a:off x="4704" y="1488"/>
              <a:ext cx="432" cy="1615"/>
            </a:xfrm>
            <a:prstGeom prst="rect">
              <a:avLst/>
            </a:prstGeom>
            <a:noFill/>
            <a:ln>
              <a:noFill/>
            </a:ln>
            <a:effectLst/>
          </p:spPr>
          <p:txBody>
            <a:bodyPr lIns="90000" tIns="46800" rIns="90000" bIns="46800">
              <a:spAutoFit/>
            </a:bodyPr>
            <a:lstStyle/>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局</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部</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E</a:t>
              </a:r>
              <a:endPar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a:t>
              </a:r>
              <a:endPar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R</a:t>
              </a:r>
              <a:endPar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模</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式</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设</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计</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07887" name="Rectangle 15"/>
            <p:cNvSpPr>
              <a:spLocks noChangeArrowheads="1"/>
            </p:cNvSpPr>
            <p:nvPr/>
          </p:nvSpPr>
          <p:spPr bwMode="auto">
            <a:xfrm>
              <a:off x="2163" y="4019"/>
              <a:ext cx="1362"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全局</a:t>
              </a:r>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E-R</a:t>
              </a: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模式设计</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88" name="AutoShape 16"/>
            <p:cNvSpPr>
              <a:spLocks noChangeArrowheads="1"/>
            </p:cNvSpPr>
            <p:nvPr/>
          </p:nvSpPr>
          <p:spPr bwMode="auto">
            <a:xfrm>
              <a:off x="2736" y="3696"/>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概念数据库设计过程</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endParaRPr>
          </a:p>
        </p:txBody>
      </p:sp>
      <p:grpSp>
        <p:nvGrpSpPr>
          <p:cNvPr id="163842" name="Group 3"/>
          <p:cNvGrpSpPr/>
          <p:nvPr/>
        </p:nvGrpSpPr>
        <p:grpSpPr>
          <a:xfrm>
            <a:off x="914400" y="1155700"/>
            <a:ext cx="7162800" cy="5319713"/>
            <a:chOff x="720" y="908"/>
            <a:chExt cx="4512" cy="3351"/>
          </a:xfrm>
        </p:grpSpPr>
        <p:sp>
          <p:nvSpPr>
            <p:cNvPr id="208900" name="Rectangle 4"/>
            <p:cNvSpPr>
              <a:spLocks noChangeArrowheads="1"/>
            </p:cNvSpPr>
            <p:nvPr/>
          </p:nvSpPr>
          <p:spPr bwMode="auto">
            <a:xfrm>
              <a:off x="720" y="1323"/>
              <a:ext cx="4512" cy="2517"/>
            </a:xfrm>
            <a:prstGeom prst="rect">
              <a:avLst/>
            </a:prstGeom>
            <a:gradFill rotWithShape="0">
              <a:gsLst>
                <a:gs pos="0">
                  <a:srgbClr val="03D4A8"/>
                </a:gs>
                <a:gs pos="25000">
                  <a:srgbClr val="21D6E0"/>
                </a:gs>
                <a:gs pos="75000">
                  <a:srgbClr val="0087E6"/>
                </a:gs>
                <a:gs pos="100000">
                  <a:srgbClr val="005CB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3D4A8"/>
              </a:extrusionClr>
            </a:sp3d>
          </p:spPr>
          <p:txBody>
            <a:bodyPr wrap="none" lIns="90000" tIns="46800" rIns="90000" bIns="46800" anchor="ctr">
              <a:flatTx/>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1" name="Rectangle 5"/>
            <p:cNvSpPr>
              <a:spLocks noChangeArrowheads="1"/>
            </p:cNvSpPr>
            <p:nvPr/>
          </p:nvSpPr>
          <p:spPr bwMode="auto">
            <a:xfrm>
              <a:off x="2349" y="908"/>
              <a:ext cx="1040"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局部</a:t>
              </a: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E-R</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模式</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8902" name="Rectangle 6"/>
            <p:cNvSpPr>
              <a:spLocks noChangeArrowheads="1"/>
            </p:cNvSpPr>
            <p:nvPr/>
          </p:nvSpPr>
          <p:spPr bwMode="auto">
            <a:xfrm>
              <a:off x="2164" y="1505"/>
              <a:ext cx="1408"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确定公共实体类型</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03" name="Rectangle 7"/>
            <p:cNvSpPr>
              <a:spLocks noChangeArrowheads="1"/>
            </p:cNvSpPr>
            <p:nvPr/>
          </p:nvSpPr>
          <p:spPr bwMode="auto">
            <a:xfrm>
              <a:off x="2027" y="2033"/>
              <a:ext cx="168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合并两个局部</a:t>
              </a:r>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E-R</a:t>
              </a: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模式</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04" name="Rectangle 8"/>
            <p:cNvSpPr>
              <a:spLocks noChangeArrowheads="1"/>
            </p:cNvSpPr>
            <p:nvPr/>
          </p:nvSpPr>
          <p:spPr bwMode="auto">
            <a:xfrm>
              <a:off x="2245" y="2513"/>
              <a:ext cx="1247"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检查并消除冲突</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05" name="AutoShape 9"/>
            <p:cNvSpPr>
              <a:spLocks noChangeArrowheads="1"/>
            </p:cNvSpPr>
            <p:nvPr/>
          </p:nvSpPr>
          <p:spPr bwMode="auto">
            <a:xfrm>
              <a:off x="2736" y="1152"/>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6" name="AutoShape 10"/>
            <p:cNvSpPr>
              <a:spLocks noChangeArrowheads="1"/>
            </p:cNvSpPr>
            <p:nvPr/>
          </p:nvSpPr>
          <p:spPr bwMode="auto">
            <a:xfrm>
              <a:off x="2736" y="1758"/>
              <a:ext cx="240" cy="210"/>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7" name="AutoShape 11"/>
            <p:cNvSpPr>
              <a:spLocks noChangeArrowheads="1"/>
            </p:cNvSpPr>
            <p:nvPr/>
          </p:nvSpPr>
          <p:spPr bwMode="auto">
            <a:xfrm>
              <a:off x="2736" y="2280"/>
              <a:ext cx="240" cy="216"/>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8" name="Text Box 12"/>
            <p:cNvSpPr txBox="1">
              <a:spLocks noChangeArrowheads="1"/>
            </p:cNvSpPr>
            <p:nvPr/>
          </p:nvSpPr>
          <p:spPr bwMode="auto">
            <a:xfrm>
              <a:off x="4656" y="1313"/>
              <a:ext cx="480" cy="1786"/>
            </a:xfrm>
            <a:prstGeom prst="rect">
              <a:avLst/>
            </a:prstGeom>
            <a:noFill/>
            <a:ln>
              <a:noFill/>
            </a:ln>
            <a:effectLst/>
          </p:spPr>
          <p:txBody>
            <a:bodyPr lIns="90000" tIns="46800" rIns="90000" bIns="46800">
              <a:spAutoFit/>
            </a:bodyPr>
            <a:lstStyle/>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全</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局</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E</a:t>
              </a:r>
              <a:endPar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a:t>
              </a:r>
              <a:endPar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R</a:t>
              </a:r>
              <a:endPar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模</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式</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设</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计</a:t>
              </a:r>
              <a:endPar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08909" name="AutoShape 13"/>
            <p:cNvSpPr>
              <a:spLocks noChangeArrowheads="1"/>
            </p:cNvSpPr>
            <p:nvPr/>
          </p:nvSpPr>
          <p:spPr bwMode="auto">
            <a:xfrm>
              <a:off x="1356" y="3060"/>
              <a:ext cx="2928" cy="672"/>
            </a:xfrm>
            <a:prstGeom prst="diamond">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0" tIns="0" rIns="0" bIns="0" anchor="ctr">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还有未合并的</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局部模式？</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10" name="AutoShape 14"/>
            <p:cNvSpPr>
              <a:spLocks noChangeArrowheads="1"/>
            </p:cNvSpPr>
            <p:nvPr/>
          </p:nvSpPr>
          <p:spPr bwMode="auto">
            <a:xfrm>
              <a:off x="2736" y="2763"/>
              <a:ext cx="240" cy="240"/>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11" name="Rectangle 15"/>
            <p:cNvSpPr>
              <a:spLocks noChangeArrowheads="1"/>
            </p:cNvSpPr>
            <p:nvPr/>
          </p:nvSpPr>
          <p:spPr bwMode="auto">
            <a:xfrm>
              <a:off x="2183" y="4022"/>
              <a:ext cx="1362"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全局</a:t>
              </a:r>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E-R</a:t>
              </a: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模式优化</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12" name="AutoShape 16"/>
            <p:cNvSpPr>
              <a:spLocks noChangeArrowheads="1"/>
            </p:cNvSpPr>
            <p:nvPr/>
          </p:nvSpPr>
          <p:spPr bwMode="auto">
            <a:xfrm>
              <a:off x="2718" y="3735"/>
              <a:ext cx="240" cy="240"/>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幼圆" panose="02010509060101010101" pitchFamily="49" charset="-122"/>
                  <a:cs typeface="幼圆" panose="02010509060101010101" pitchFamily="49" charset="-122"/>
                </a:rPr>
                <a:t>无</a:t>
              </a:r>
              <a:endParaRPr kumimoji="1" lang="zh-CN" altLang="en-US" sz="20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8913" name="Rectangle 17"/>
            <p:cNvSpPr>
              <a:spLocks noChangeArrowheads="1"/>
            </p:cNvSpPr>
            <p:nvPr/>
          </p:nvSpPr>
          <p:spPr bwMode="auto">
            <a:xfrm>
              <a:off x="4320" y="3312"/>
              <a:ext cx="384" cy="144"/>
            </a:xfrm>
            <a:prstGeom prst="rect">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14" name="Rectangle 18"/>
            <p:cNvSpPr>
              <a:spLocks noChangeArrowheads="1"/>
            </p:cNvSpPr>
            <p:nvPr/>
          </p:nvSpPr>
          <p:spPr bwMode="auto">
            <a:xfrm>
              <a:off x="4560" y="2160"/>
              <a:ext cx="144" cy="1296"/>
            </a:xfrm>
            <a:prstGeom prst="rect">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幼圆" panose="02010509060101010101" pitchFamily="49" charset="-122"/>
                  <a:cs typeface="幼圆" panose="02010509060101010101" pitchFamily="49" charset="-122"/>
                </a:rPr>
                <a:t>有</a:t>
              </a:r>
              <a:endParaRPr kumimoji="1" lang="zh-CN" altLang="en-US" sz="20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8915" name="AutoShape 19"/>
            <p:cNvSpPr>
              <a:spLocks noChangeArrowheads="1"/>
            </p:cNvSpPr>
            <p:nvPr/>
          </p:nvSpPr>
          <p:spPr bwMode="auto">
            <a:xfrm>
              <a:off x="3936" y="1968"/>
              <a:ext cx="768" cy="288"/>
            </a:xfrm>
            <a:prstGeom prst="leftArrow">
              <a:avLst>
                <a:gd name="adj1" fmla="val 50000"/>
                <a:gd name="adj2" fmla="val 66667"/>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概念数据库设计过程——消除冲突</a:t>
            </a:r>
            <a:endPar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09923" name="Rectangle 3"/>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属性冲突</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属性域的冲突：属性的类型、取值范围不同</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如不同学校的学号编码方式不同</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属性取值单位冲突</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如重量分别采用磅、千克</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命名冲突</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同名异义：不同意义的对象具有相同的名字</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异名同义：同一意义的对象具有不同的名字</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概念数据库设计过程——消除冲突</a:t>
            </a:r>
            <a:endPar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164866" name="Rectangle 3"/>
          <p:cNvSpPr>
            <a:spLocks noGrp="1"/>
          </p:cNvSpPr>
          <p:nvPr>
            <p:ph idx="1"/>
          </p:nvPr>
        </p:nvSpPr>
        <p:spPr>
          <a:xfrm>
            <a:off x="814388" y="1093788"/>
            <a:ext cx="7661275" cy="4903788"/>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结构冲突</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同一对象在不同应用中的抽象不同</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如职工在某应用中是实体，在另一应用中则抽象为属性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同一实体在不同</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E-R</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图中属性组成不同</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如有的职工实体有</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email</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，而有的职工实体没有</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实体之间的联系在不同</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E-R</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图中呈现不同的类型</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如联系种类不同，参与联系的实体不同</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概念数据库设计过程</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grpSp>
        <p:nvGrpSpPr>
          <p:cNvPr id="166914" name="Group 3"/>
          <p:cNvGrpSpPr/>
          <p:nvPr/>
        </p:nvGrpSpPr>
        <p:grpSpPr>
          <a:xfrm>
            <a:off x="990600" y="1625600"/>
            <a:ext cx="7162800" cy="5053013"/>
            <a:chOff x="720" y="898"/>
            <a:chExt cx="4512" cy="3183"/>
          </a:xfrm>
        </p:grpSpPr>
        <p:sp>
          <p:nvSpPr>
            <p:cNvPr id="211972" name="Rectangle 4"/>
            <p:cNvSpPr>
              <a:spLocks noChangeArrowheads="1"/>
            </p:cNvSpPr>
            <p:nvPr/>
          </p:nvSpPr>
          <p:spPr bwMode="auto">
            <a:xfrm>
              <a:off x="720" y="1323"/>
              <a:ext cx="4512" cy="2277"/>
            </a:xfrm>
            <a:prstGeom prst="rect">
              <a:avLst/>
            </a:prstGeom>
            <a:gradFill rotWithShape="0">
              <a:gsLst>
                <a:gs pos="0">
                  <a:srgbClr val="03D4A8"/>
                </a:gs>
                <a:gs pos="25000">
                  <a:srgbClr val="21D6E0"/>
                </a:gs>
                <a:gs pos="75000">
                  <a:srgbClr val="0087E6"/>
                </a:gs>
                <a:gs pos="100000">
                  <a:srgbClr val="005CB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3D4A8"/>
              </a:extrusionClr>
            </a:sp3d>
          </p:spPr>
          <p:txBody>
            <a:bodyPr wrap="none" lIns="90000" tIns="46800" rIns="90000" bIns="46800" anchor="ctr">
              <a:flatTx/>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3" name="Rectangle 5"/>
            <p:cNvSpPr>
              <a:spLocks noChangeArrowheads="1"/>
            </p:cNvSpPr>
            <p:nvPr/>
          </p:nvSpPr>
          <p:spPr bwMode="auto">
            <a:xfrm>
              <a:off x="2325" y="1670"/>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cs typeface="+mn-cs"/>
                </a:rPr>
                <a:t>合并实体类型</a:t>
              </a:r>
              <a:endPar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1974" name="Rectangle 6"/>
            <p:cNvSpPr>
              <a:spLocks noChangeArrowheads="1"/>
            </p:cNvSpPr>
            <p:nvPr/>
          </p:nvSpPr>
          <p:spPr bwMode="auto">
            <a:xfrm>
              <a:off x="2325" y="2390"/>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消除冗余属性</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endParaRPr>
            </a:p>
          </p:txBody>
        </p:sp>
        <p:sp>
          <p:nvSpPr>
            <p:cNvPr id="211975" name="Rectangle 7"/>
            <p:cNvSpPr>
              <a:spLocks noChangeArrowheads="1"/>
            </p:cNvSpPr>
            <p:nvPr/>
          </p:nvSpPr>
          <p:spPr bwMode="auto">
            <a:xfrm>
              <a:off x="2325" y="3089"/>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cs typeface="+mn-cs"/>
                </a:rPr>
                <a:t>消除冗余联系</a:t>
              </a:r>
              <a:endPar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1976" name="AutoShape 8"/>
            <p:cNvSpPr>
              <a:spLocks noChangeArrowheads="1"/>
            </p:cNvSpPr>
            <p:nvPr/>
          </p:nvSpPr>
          <p:spPr bwMode="auto">
            <a:xfrm>
              <a:off x="2736" y="1152"/>
              <a:ext cx="240" cy="432"/>
            </a:xfrm>
            <a:prstGeom prst="downArrow">
              <a:avLst>
                <a:gd name="adj1" fmla="val 50000"/>
                <a:gd name="adj2" fmla="val 4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7" name="AutoShape 9"/>
            <p:cNvSpPr>
              <a:spLocks noChangeArrowheads="1"/>
            </p:cNvSpPr>
            <p:nvPr/>
          </p:nvSpPr>
          <p:spPr bwMode="auto">
            <a:xfrm>
              <a:off x="2736" y="1923"/>
              <a:ext cx="240" cy="381"/>
            </a:xfrm>
            <a:prstGeom prst="downArrow">
              <a:avLst>
                <a:gd name="adj1" fmla="val 50000"/>
                <a:gd name="adj2" fmla="val 39688"/>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8" name="AutoShape 10"/>
            <p:cNvSpPr>
              <a:spLocks noChangeArrowheads="1"/>
            </p:cNvSpPr>
            <p:nvPr/>
          </p:nvSpPr>
          <p:spPr bwMode="auto">
            <a:xfrm>
              <a:off x="2736" y="2637"/>
              <a:ext cx="240" cy="387"/>
            </a:xfrm>
            <a:prstGeom prst="downArrow">
              <a:avLst>
                <a:gd name="adj1" fmla="val 50000"/>
                <a:gd name="adj2" fmla="val 40313"/>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9" name="Text Box 11"/>
            <p:cNvSpPr txBox="1">
              <a:spLocks noChangeArrowheads="1"/>
            </p:cNvSpPr>
            <p:nvPr/>
          </p:nvSpPr>
          <p:spPr bwMode="auto">
            <a:xfrm>
              <a:off x="4656" y="1433"/>
              <a:ext cx="480" cy="1525"/>
            </a:xfrm>
            <a:prstGeom prst="rect">
              <a:avLst/>
            </a:prstGeom>
            <a:noFill/>
            <a:ln>
              <a:noFill/>
            </a:ln>
            <a:effectLst/>
          </p:spPr>
          <p:txBody>
            <a:bodyPr lIns="90000" tIns="46800" rIns="90000" bIns="46800">
              <a:spAutoFit/>
            </a:bodyPr>
            <a:lstStyle/>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全</a:t>
              </a:r>
              <a:endPar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局</a:t>
              </a:r>
              <a:endPar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E</a:t>
              </a:r>
              <a:endPar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a:t>
              </a:r>
              <a:endPar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R</a:t>
              </a:r>
              <a:endPar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模</a:t>
              </a:r>
              <a:endPar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式</a:t>
              </a:r>
              <a:endPar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优</a:t>
              </a:r>
              <a:endPar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化</a:t>
              </a:r>
              <a:endPar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endParaRPr>
            </a:p>
          </p:txBody>
        </p:sp>
        <p:sp>
          <p:nvSpPr>
            <p:cNvPr id="211980" name="Rectangle 12"/>
            <p:cNvSpPr>
              <a:spLocks noChangeArrowheads="1"/>
            </p:cNvSpPr>
            <p:nvPr/>
          </p:nvSpPr>
          <p:spPr bwMode="auto">
            <a:xfrm>
              <a:off x="2312" y="898"/>
              <a:ext cx="1007"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全局</a:t>
              </a: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E-R</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模式</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endParaRPr>
            </a:p>
          </p:txBody>
        </p:sp>
        <p:sp>
          <p:nvSpPr>
            <p:cNvPr id="211981" name="Rectangle 13"/>
            <p:cNvSpPr>
              <a:spLocks noChangeArrowheads="1"/>
            </p:cNvSpPr>
            <p:nvPr/>
          </p:nvSpPr>
          <p:spPr bwMode="auto">
            <a:xfrm>
              <a:off x="2221" y="3844"/>
              <a:ext cx="1247"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cs typeface="+mn-cs"/>
                </a:rPr>
                <a:t>逻辑数据库设计</a:t>
              </a:r>
              <a:endPar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1982" name="AutoShape 14"/>
            <p:cNvSpPr>
              <a:spLocks noChangeArrowheads="1"/>
            </p:cNvSpPr>
            <p:nvPr/>
          </p:nvSpPr>
          <p:spPr bwMode="auto">
            <a:xfrm>
              <a:off x="2736" y="3339"/>
              <a:ext cx="240" cy="453"/>
            </a:xfrm>
            <a:prstGeom prst="downArrow">
              <a:avLst>
                <a:gd name="adj1" fmla="val 50000"/>
                <a:gd name="adj2" fmla="val 47188"/>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937" name="Group 13"/>
          <p:cNvGrpSpPr/>
          <p:nvPr/>
        </p:nvGrpSpPr>
        <p:grpSpPr>
          <a:xfrm>
            <a:off x="1920875" y="1412875"/>
            <a:ext cx="5394325" cy="1373188"/>
            <a:chOff x="1077" y="1560"/>
            <a:chExt cx="3398" cy="865"/>
          </a:xfrm>
        </p:grpSpPr>
        <p:sp>
          <p:nvSpPr>
            <p:cNvPr id="185346" name="Text Box 2"/>
            <p:cNvSpPr txBox="1">
              <a:spLocks noChangeArrowheads="1"/>
            </p:cNvSpPr>
            <p:nvPr/>
          </p:nvSpPr>
          <p:spPr bwMode="auto">
            <a:xfrm>
              <a:off x="1077" y="1608"/>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marR="0" algn="ctr" defTabSz="914400" eaLnBrk="0" hangingPunct="0">
                <a:spcBef>
                  <a:spcPct val="50000"/>
                </a:spcBef>
                <a:buClrTx/>
                <a:buSzTx/>
                <a:buFontTx/>
                <a:defRPr/>
              </a:pPr>
              <a:r>
                <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rPr>
                <a:t>学生</a:t>
              </a:r>
              <a:endPar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endParaRPr>
            </a:p>
          </p:txBody>
        </p:sp>
        <p:sp>
          <p:nvSpPr>
            <p:cNvPr id="185347" name="AutoShape 3"/>
            <p:cNvSpPr>
              <a:spLocks noChangeArrowheads="1"/>
            </p:cNvSpPr>
            <p:nvPr/>
          </p:nvSpPr>
          <p:spPr bwMode="auto">
            <a:xfrm>
              <a:off x="2277" y="1560"/>
              <a:ext cx="960" cy="375"/>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algn="ctr" fontAlgn="base"/>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选修</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185348" name="Text Box 4"/>
            <p:cNvSpPr txBox="1">
              <a:spLocks noChangeArrowheads="1"/>
            </p:cNvSpPr>
            <p:nvPr/>
          </p:nvSpPr>
          <p:spPr bwMode="auto">
            <a:xfrm>
              <a:off x="4008" y="1613"/>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课程</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41" name="AutoShape 5"/>
            <p:cNvCxnSpPr>
              <a:stCxn id="185346" idx="3"/>
              <a:endCxn id="185347" idx="1"/>
            </p:cNvCxnSpPr>
            <p:nvPr/>
          </p:nvCxnSpPr>
          <p:spPr>
            <a:xfrm>
              <a:off x="1540" y="1742"/>
              <a:ext cx="728" cy="6"/>
            </a:xfrm>
            <a:prstGeom prst="straightConnector1">
              <a:avLst/>
            </a:prstGeom>
            <a:ln w="28575" cap="flat" cmpd="sng">
              <a:solidFill>
                <a:schemeClr val="tx1"/>
              </a:solidFill>
              <a:prstDash val="solid"/>
              <a:round/>
              <a:headEnd type="none" w="med" len="med"/>
              <a:tailEnd type="none" w="med" len="med"/>
            </a:ln>
          </p:spPr>
        </p:cxnSp>
        <p:cxnSp>
          <p:nvCxnSpPr>
            <p:cNvPr id="167942" name="AutoShape 6"/>
            <p:cNvCxnSpPr>
              <a:stCxn id="185347" idx="3"/>
              <a:endCxn id="185348" idx="1"/>
            </p:cNvCxnSpPr>
            <p:nvPr/>
          </p:nvCxnSpPr>
          <p:spPr>
            <a:xfrm flipV="1">
              <a:off x="3246" y="1747"/>
              <a:ext cx="753" cy="1"/>
            </a:xfrm>
            <a:prstGeom prst="straightConnector1">
              <a:avLst/>
            </a:prstGeom>
            <a:ln w="28575" cap="flat" cmpd="sng">
              <a:solidFill>
                <a:schemeClr val="tx1"/>
              </a:solidFill>
              <a:prstDash val="solid"/>
              <a:round/>
              <a:headEnd type="none" w="med" len="med"/>
              <a:tailEnd type="none" w="med" len="med"/>
            </a:ln>
          </p:spPr>
        </p:cxnSp>
        <p:sp>
          <p:nvSpPr>
            <p:cNvPr id="185351" name="Text Box 7"/>
            <p:cNvSpPr txBox="1">
              <a:spLocks noChangeArrowheads="1"/>
            </p:cNvSpPr>
            <p:nvPr/>
          </p:nvSpPr>
          <p:spPr bwMode="auto">
            <a:xfrm>
              <a:off x="1090" y="2131"/>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marR="0" algn="ctr" defTabSz="914400" eaLnBrk="0" hangingPunct="0">
                <a:spcBef>
                  <a:spcPct val="50000"/>
                </a:spcBef>
                <a:buClrTx/>
                <a:buSzTx/>
                <a:buFontTx/>
                <a:defRPr/>
              </a:pPr>
              <a:r>
                <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rPr>
                <a:t>学生</a:t>
              </a:r>
              <a:endPar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endParaRPr>
            </a:p>
          </p:txBody>
        </p:sp>
        <p:sp>
          <p:nvSpPr>
            <p:cNvPr id="185352" name="AutoShape 8"/>
            <p:cNvSpPr>
              <a:spLocks noChangeArrowheads="1"/>
            </p:cNvSpPr>
            <p:nvPr/>
          </p:nvSpPr>
          <p:spPr bwMode="auto">
            <a:xfrm>
              <a:off x="2290" y="2107"/>
              <a:ext cx="960" cy="318"/>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0066CC"/>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参加</a:t>
              </a:r>
              <a:endParaRPr kumimoji="1" lang="zh-CN" altLang="en-US" sz="2000" b="0" i="0" u="none" strike="noStrike" kern="1200" cap="none" spc="0" normalizeH="0" baseline="0" noProof="0">
                <a:ln>
                  <a:noFill/>
                </a:ln>
                <a:solidFill>
                  <a:srgbClr val="0066CC"/>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185353" name="Text Box 9"/>
            <p:cNvSpPr txBox="1">
              <a:spLocks noChangeArrowheads="1"/>
            </p:cNvSpPr>
            <p:nvPr/>
          </p:nvSpPr>
          <p:spPr bwMode="auto">
            <a:xfrm>
              <a:off x="4021" y="2136"/>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46" name="AutoShape 10"/>
            <p:cNvCxnSpPr>
              <a:stCxn id="185351" idx="3"/>
              <a:endCxn id="185352" idx="1"/>
            </p:cNvCxnSpPr>
            <p:nvPr/>
          </p:nvCxnSpPr>
          <p:spPr>
            <a:xfrm>
              <a:off x="1553" y="2265"/>
              <a:ext cx="728" cy="1"/>
            </a:xfrm>
            <a:prstGeom prst="straightConnector1">
              <a:avLst/>
            </a:prstGeom>
            <a:ln w="28575" cap="flat" cmpd="sng">
              <a:solidFill>
                <a:schemeClr val="tx1"/>
              </a:solidFill>
              <a:prstDash val="solid"/>
              <a:round/>
              <a:headEnd type="none" w="med" len="med"/>
              <a:tailEnd type="none" w="med" len="med"/>
            </a:ln>
          </p:spPr>
        </p:cxnSp>
        <p:cxnSp>
          <p:nvCxnSpPr>
            <p:cNvPr id="167947" name="AutoShape 11"/>
            <p:cNvCxnSpPr>
              <a:stCxn id="185352" idx="3"/>
              <a:endCxn id="185353" idx="1"/>
            </p:cNvCxnSpPr>
            <p:nvPr/>
          </p:nvCxnSpPr>
          <p:spPr>
            <a:xfrm>
              <a:off x="3259" y="2266"/>
              <a:ext cx="753" cy="4"/>
            </a:xfrm>
            <a:prstGeom prst="straightConnector1">
              <a:avLst/>
            </a:prstGeom>
            <a:ln w="28575" cap="flat" cmpd="sng">
              <a:solidFill>
                <a:schemeClr val="tx1"/>
              </a:solidFill>
              <a:prstDash val="solid"/>
              <a:round/>
              <a:headEnd type="none" w="med" len="med"/>
              <a:tailEnd type="none" w="med" len="med"/>
            </a:ln>
          </p:spPr>
        </p:cxnSp>
      </p:grpSp>
      <p:sp>
        <p:nvSpPr>
          <p:cNvPr id="185356" name="Rectangle 12"/>
          <p:cNvSpPr>
            <a:spLocks noChangeArrowheads="1"/>
          </p:cNvSpPr>
          <p:nvPr/>
        </p:nvSpPr>
        <p:spPr bwMode="auto">
          <a:xfrm>
            <a:off x="2151063" y="233363"/>
            <a:ext cx="4886325" cy="666750"/>
          </a:xfrm>
          <a:prstGeom prst="rect">
            <a:avLst/>
          </a:prstGeom>
          <a:noFill/>
          <a:ln>
            <a:noFill/>
          </a:ln>
          <a:effectLst/>
        </p:spPr>
        <p:txBody>
          <a:bodyPr anchor="b"/>
          <a:lstStyle/>
          <a:p>
            <a:pPr algn="ctr" eaLnBrk="0" fontAlgn="base" hangingPunct="0"/>
            <a:r>
              <a:rPr lang="zh-CN" altLang="en-US" sz="4000" strike="noStrike"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mn-cs"/>
              </a:rPr>
              <a:t>设计实例</a:t>
            </a:r>
            <a:endParaRPr lang="zh-CN" altLang="en-US" sz="4000" strike="noStrike"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endParaRPr>
          </a:p>
        </p:txBody>
      </p:sp>
      <p:grpSp>
        <p:nvGrpSpPr>
          <p:cNvPr id="185358" name="Group 14"/>
          <p:cNvGrpSpPr/>
          <p:nvPr/>
        </p:nvGrpSpPr>
        <p:grpSpPr>
          <a:xfrm>
            <a:off x="1558925" y="3525838"/>
            <a:ext cx="5764213" cy="2089150"/>
            <a:chOff x="831" y="1560"/>
            <a:chExt cx="3631" cy="1316"/>
          </a:xfrm>
        </p:grpSpPr>
        <p:sp>
          <p:nvSpPr>
            <p:cNvPr id="185359" name="Text Box 15"/>
            <p:cNvSpPr txBox="1">
              <a:spLocks noChangeArrowheads="1"/>
            </p:cNvSpPr>
            <p:nvPr/>
          </p:nvSpPr>
          <p:spPr bwMode="auto">
            <a:xfrm>
              <a:off x="1077" y="1608"/>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marR="0" algn="ctr" defTabSz="914400" eaLnBrk="0" hangingPunct="0">
                <a:spcBef>
                  <a:spcPct val="50000"/>
                </a:spcBef>
                <a:buClrTx/>
                <a:buSzTx/>
                <a:buFontTx/>
                <a:defRPr/>
              </a:pPr>
              <a:r>
                <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rPr>
                <a:t>学生</a:t>
              </a:r>
              <a:endPar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endParaRPr>
            </a:p>
          </p:txBody>
        </p:sp>
        <p:sp>
          <p:nvSpPr>
            <p:cNvPr id="185360" name="AutoShape 16"/>
            <p:cNvSpPr>
              <a:spLocks noChangeArrowheads="1"/>
            </p:cNvSpPr>
            <p:nvPr/>
          </p:nvSpPr>
          <p:spPr bwMode="auto">
            <a:xfrm>
              <a:off x="2277" y="1560"/>
              <a:ext cx="960" cy="366"/>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algn="ctr" fontAlgn="base"/>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选修</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185361" name="Text Box 17"/>
            <p:cNvSpPr txBox="1">
              <a:spLocks noChangeArrowheads="1"/>
            </p:cNvSpPr>
            <p:nvPr/>
          </p:nvSpPr>
          <p:spPr bwMode="auto">
            <a:xfrm>
              <a:off x="4008" y="1613"/>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课程</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53" name="AutoShape 18"/>
            <p:cNvCxnSpPr>
              <a:stCxn id="185359" idx="3"/>
              <a:endCxn id="185360" idx="1"/>
            </p:cNvCxnSpPr>
            <p:nvPr/>
          </p:nvCxnSpPr>
          <p:spPr>
            <a:xfrm>
              <a:off x="1540" y="1742"/>
              <a:ext cx="728" cy="1"/>
            </a:xfrm>
            <a:prstGeom prst="straightConnector1">
              <a:avLst/>
            </a:prstGeom>
            <a:ln w="28575" cap="flat" cmpd="sng">
              <a:solidFill>
                <a:schemeClr val="tx1"/>
              </a:solidFill>
              <a:prstDash val="solid"/>
              <a:round/>
              <a:headEnd type="none" w="med" len="med"/>
              <a:tailEnd type="none" w="med" len="med"/>
            </a:ln>
          </p:spPr>
        </p:cxnSp>
        <p:cxnSp>
          <p:nvCxnSpPr>
            <p:cNvPr id="167954" name="AutoShape 19"/>
            <p:cNvCxnSpPr>
              <a:stCxn id="185360" idx="3"/>
              <a:endCxn id="185361" idx="1"/>
            </p:cNvCxnSpPr>
            <p:nvPr/>
          </p:nvCxnSpPr>
          <p:spPr>
            <a:xfrm>
              <a:off x="3246" y="1743"/>
              <a:ext cx="753" cy="4"/>
            </a:xfrm>
            <a:prstGeom prst="straightConnector1">
              <a:avLst/>
            </a:prstGeom>
            <a:ln w="28575" cap="flat" cmpd="sng">
              <a:solidFill>
                <a:schemeClr val="tx1"/>
              </a:solidFill>
              <a:prstDash val="solid"/>
              <a:round/>
              <a:headEnd type="none" w="med" len="med"/>
              <a:tailEnd type="none" w="med" len="med"/>
            </a:ln>
          </p:spPr>
        </p:cxnSp>
        <p:sp>
          <p:nvSpPr>
            <p:cNvPr id="185364" name="AutoShape 20"/>
            <p:cNvSpPr>
              <a:spLocks noChangeArrowheads="1"/>
            </p:cNvSpPr>
            <p:nvPr/>
          </p:nvSpPr>
          <p:spPr bwMode="auto">
            <a:xfrm>
              <a:off x="831" y="2500"/>
              <a:ext cx="960" cy="376"/>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0066CC"/>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参加</a:t>
              </a:r>
              <a:endParaRPr kumimoji="1" lang="zh-CN" altLang="en-US" sz="2000" b="0" i="0" u="none" strike="noStrike" kern="1200" cap="none" spc="0" normalizeH="0" baseline="0" noProof="0">
                <a:ln>
                  <a:noFill/>
                </a:ln>
                <a:solidFill>
                  <a:srgbClr val="0066CC"/>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185365" name="Text Box 21"/>
            <p:cNvSpPr txBox="1">
              <a:spLocks noChangeArrowheads="1"/>
            </p:cNvSpPr>
            <p:nvPr/>
          </p:nvSpPr>
          <p:spPr bwMode="auto">
            <a:xfrm>
              <a:off x="2426" y="2556"/>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57" name="AutoShape 22"/>
            <p:cNvCxnSpPr>
              <a:stCxn id="185364" idx="3"/>
              <a:endCxn id="185365" idx="1"/>
            </p:cNvCxnSpPr>
            <p:nvPr/>
          </p:nvCxnSpPr>
          <p:spPr>
            <a:xfrm>
              <a:off x="1800" y="2688"/>
              <a:ext cx="617" cy="2"/>
            </a:xfrm>
            <a:prstGeom prst="straightConnector1">
              <a:avLst/>
            </a:prstGeom>
            <a:ln w="28575" cap="flat" cmpd="sng">
              <a:solidFill>
                <a:schemeClr val="tx1"/>
              </a:solidFill>
              <a:prstDash val="solid"/>
              <a:round/>
              <a:headEnd type="none" w="med" len="med"/>
              <a:tailEnd type="none" w="med" len="med"/>
            </a:ln>
          </p:spPr>
        </p:cxnSp>
        <p:cxnSp>
          <p:nvCxnSpPr>
            <p:cNvPr id="167958" name="AutoShape 23"/>
            <p:cNvCxnSpPr>
              <a:stCxn id="185359" idx="2"/>
              <a:endCxn id="185364" idx="0"/>
            </p:cNvCxnSpPr>
            <p:nvPr/>
          </p:nvCxnSpPr>
          <p:spPr>
            <a:xfrm>
              <a:off x="1304" y="1885"/>
              <a:ext cx="7" cy="606"/>
            </a:xfrm>
            <a:prstGeom prst="straightConnector1">
              <a:avLst/>
            </a:prstGeom>
            <a:ln w="28575" cap="flat" cmpd="sng">
              <a:solidFill>
                <a:schemeClr val="tx1"/>
              </a:solidFill>
              <a:prstDash val="solid"/>
              <a:round/>
              <a:headEnd type="none" w="med" len="med"/>
              <a:tailEnd type="none" w="med" len="med"/>
            </a:ln>
          </p:spPr>
        </p:cxnSp>
      </p:grpSp>
      <p:sp>
        <p:nvSpPr>
          <p:cNvPr id="185368" name="Rectangle 24"/>
          <p:cNvSpPr>
            <a:spLocks noChangeArrowheads="1"/>
          </p:cNvSpPr>
          <p:nvPr/>
        </p:nvSpPr>
        <p:spPr bwMode="auto">
          <a:xfrm>
            <a:off x="1393825" y="1184275"/>
            <a:ext cx="6400800" cy="1828800"/>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85368"/>
                                        </p:tgtEl>
                                        <p:attrNameLst>
                                          <p:attrName>style.visibility</p:attrName>
                                        </p:attrNameLst>
                                      </p:cBhvr>
                                      <p:to>
                                        <p:strVal val="visible"/>
                                      </p:to>
                                    </p:set>
                                    <p:anim calcmode="lin" valueType="num">
                                      <p:cBhvr>
                                        <p:cTn id="7" dur="1000" fill="hold"/>
                                        <p:tgtEl>
                                          <p:spTgt spid="185368"/>
                                        </p:tgtEl>
                                        <p:attrNameLst>
                                          <p:attrName>ppt_w</p:attrName>
                                        </p:attrNameLst>
                                      </p:cBhvr>
                                      <p:tavLst>
                                        <p:tav tm="0">
                                          <p:val>
                                            <p:strVal val="#ppt_w*0.70"/>
                                          </p:val>
                                        </p:tav>
                                        <p:tav tm="100000">
                                          <p:val>
                                            <p:strVal val="#ppt_w"/>
                                          </p:val>
                                        </p:tav>
                                      </p:tavLst>
                                    </p:anim>
                                    <p:anim calcmode="lin" valueType="num">
                                      <p:cBhvr>
                                        <p:cTn id="8" dur="1000" fill="hold"/>
                                        <p:tgtEl>
                                          <p:spTgt spid="185368"/>
                                        </p:tgtEl>
                                        <p:attrNameLst>
                                          <p:attrName>ppt_h</p:attrName>
                                        </p:attrNameLst>
                                      </p:cBhvr>
                                      <p:tavLst>
                                        <p:tav tm="0">
                                          <p:val>
                                            <p:strVal val="#ppt_h"/>
                                          </p:val>
                                        </p:tav>
                                        <p:tav tm="100000">
                                          <p:val>
                                            <p:strVal val="#ppt_h"/>
                                          </p:val>
                                        </p:tav>
                                      </p:tavLst>
                                    </p:anim>
                                    <p:animEffect transition="in" filter="fade">
                                      <p:cBhvr>
                                        <p:cTn id="9" dur="1000"/>
                                        <p:tgtEl>
                                          <p:spTgt spid="18536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85358"/>
                                        </p:tgtEl>
                                        <p:attrNameLst>
                                          <p:attrName>style.visibility</p:attrName>
                                        </p:attrNameLst>
                                      </p:cBhvr>
                                      <p:to>
                                        <p:strVal val="visible"/>
                                      </p:to>
                                    </p:set>
                                    <p:animEffect transition="in" filter="wipe(up)">
                                      <p:cBhvr>
                                        <p:cTn id="14" dur="500"/>
                                        <p:tgtEl>
                                          <p:spTgt spid="185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6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p:cNvSpPr>
          <p:nvPr>
            <p:ph type="title"/>
          </p:nvPr>
        </p:nvSpPr>
        <p:spPr>
          <a:xfrm>
            <a:off x="768350" y="274638"/>
            <a:ext cx="8077200" cy="6096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设计实例</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endParaRPr>
          </a:p>
        </p:txBody>
      </p:sp>
      <p:sp>
        <p:nvSpPr>
          <p:cNvPr id="184323" name="Rectangle 3"/>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考虑一个学校数据库，它要存储以下信息：</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教师有</a:t>
            </a:r>
            <a:r>
              <a:rPr kumimoji="1" lang="zh-CN" altLang="pt-BR" sz="24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教工号</a:t>
            </a: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、教工名、职称；</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项目有</a:t>
            </a:r>
            <a:r>
              <a:rPr kumimoji="1" lang="zh-CN" altLang="pt-BR" sz="24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项目号</a:t>
            </a: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、项目名称、项目类型、起始年份、资助额；</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学生有</a:t>
            </a:r>
            <a:r>
              <a:rPr kumimoji="1" lang="zh-CN" altLang="pt-BR" sz="24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学号</a:t>
            </a: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、学生名、年龄、学位。</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一个教工可以负责多个项目；</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每个项目只能有一个负责人；</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一个老师可以参与多个项目；</a:t>
            </a:r>
            <a:endPar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一个学生只能参与一个项目</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一个项目可以有多个学生和老师参与。 </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title"/>
          </p:nvPr>
        </p:nvSpPr>
        <p:spPr>
          <a:xfrm>
            <a:off x="768350" y="231775"/>
            <a:ext cx="8077200" cy="6096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设计实例</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endParaRPr>
          </a:p>
        </p:txBody>
      </p:sp>
      <p:grpSp>
        <p:nvGrpSpPr>
          <p:cNvPr id="169986" name="Group 3"/>
          <p:cNvGrpSpPr/>
          <p:nvPr/>
        </p:nvGrpSpPr>
        <p:grpSpPr>
          <a:xfrm>
            <a:off x="1403350" y="1916113"/>
            <a:ext cx="6246813" cy="4173537"/>
            <a:chOff x="3237" y="6073"/>
            <a:chExt cx="5670" cy="3900"/>
          </a:xfrm>
        </p:grpSpPr>
        <p:sp>
          <p:nvSpPr>
            <p:cNvPr id="187396" name="Text Box 4"/>
            <p:cNvSpPr txBox="1">
              <a:spLocks noChangeArrowheads="1"/>
            </p:cNvSpPr>
            <p:nvPr/>
          </p:nvSpPr>
          <p:spPr bwMode="auto">
            <a:xfrm>
              <a:off x="3237" y="7009"/>
              <a:ext cx="1259" cy="467"/>
            </a:xfrm>
            <a:prstGeom prst="rect">
              <a:avLst/>
            </a:prstGeom>
            <a:solidFill>
              <a:srgbClr val="FFFFFF"/>
            </a:solidFill>
            <a:ln w="9525">
              <a:solidFill>
                <a:srgbClr val="000000"/>
              </a:solidFill>
              <a:miter lim="800000"/>
            </a:ln>
          </p:spPr>
          <p:txBody>
            <a:bodyPr/>
            <a:lstStyle/>
            <a:p>
              <a:pPr marL="342900" indent="-342900" algn="ctr">
                <a:lnSpc>
                  <a:spcPct val="90000"/>
                </a:lnSpc>
                <a:spcBef>
                  <a:spcPct val="20000"/>
                </a:spcBef>
                <a:buClr>
                  <a:schemeClr val="folHlink"/>
                </a:buClr>
                <a:buSzPct val="60000"/>
                <a:buFont typeface="Wingdings" panose="05000000000000000000" pitchFamily="2" charset="2"/>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教师</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397" name="Text Box 5"/>
            <p:cNvSpPr txBox="1">
              <a:spLocks noChangeArrowheads="1"/>
            </p:cNvSpPr>
            <p:nvPr/>
          </p:nvSpPr>
          <p:spPr bwMode="auto">
            <a:xfrm>
              <a:off x="7197" y="7009"/>
              <a:ext cx="1261" cy="467"/>
            </a:xfrm>
            <a:prstGeom prst="rect">
              <a:avLst/>
            </a:prstGeom>
            <a:solidFill>
              <a:srgbClr val="FFFFFF"/>
            </a:solidFill>
            <a:ln w="9525">
              <a:solidFill>
                <a:srgbClr val="000000"/>
              </a:solidFill>
              <a:miter lim="800000"/>
            </a:ln>
          </p:spPr>
          <p:txBody>
            <a:bodyPr/>
            <a:lstStyle/>
            <a:p>
              <a:pPr marL="342900" indent="-342900" algn="ctr">
                <a:lnSpc>
                  <a:spcPct val="90000"/>
                </a:lnSpc>
                <a:spcBef>
                  <a:spcPct val="20000"/>
                </a:spcBef>
                <a:buClr>
                  <a:schemeClr val="folHlink"/>
                </a:buClr>
                <a:buSzPct val="60000"/>
                <a:buFont typeface="Wingdings" panose="05000000000000000000" pitchFamily="2" charset="2"/>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398" name="Text Box 6"/>
            <p:cNvSpPr txBox="1">
              <a:spLocks noChangeArrowheads="1"/>
            </p:cNvSpPr>
            <p:nvPr/>
          </p:nvSpPr>
          <p:spPr bwMode="auto">
            <a:xfrm>
              <a:off x="7197" y="9506"/>
              <a:ext cx="1261" cy="467"/>
            </a:xfrm>
            <a:prstGeom prst="rect">
              <a:avLst/>
            </a:prstGeom>
            <a:solidFill>
              <a:srgbClr val="FFFFFF"/>
            </a:solidFill>
            <a:ln w="9525">
              <a:solidFill>
                <a:srgbClr val="000000"/>
              </a:solidFill>
              <a:miter lim="800000"/>
            </a:ln>
          </p:spPr>
          <p:txBody>
            <a:bodyPr/>
            <a:lstStyle>
              <a:lvl1pPr marL="342900" indent="-342900">
                <a:defRPr sz="2400">
                  <a:solidFill>
                    <a:schemeClr val="tx1"/>
                  </a:solidFill>
                  <a:latin typeface="Times New Roman" panose="02020603050405020304" charset="0"/>
                  <a:ea typeface="宋体" panose="02010600030101010101" pitchFamily="2" charset="-122"/>
                </a:defRPr>
              </a:lvl1pPr>
              <a:lvl2pPr>
                <a:defRPr sz="2400">
                  <a:solidFill>
                    <a:schemeClr val="tx1"/>
                  </a:solidFill>
                  <a:latin typeface="Times New Roman" panose="02020603050405020304" charset="0"/>
                  <a:ea typeface="宋体" panose="02010600030101010101" pitchFamily="2" charset="-122"/>
                </a:defRPr>
              </a:lvl2pPr>
              <a:lvl3pPr>
                <a:defRPr sz="2400">
                  <a:solidFill>
                    <a:schemeClr val="tx1"/>
                  </a:solidFill>
                  <a:latin typeface="Times New Roman" panose="02020603050405020304" charset="0"/>
                  <a:ea typeface="宋体" panose="02010600030101010101" pitchFamily="2" charset="-122"/>
                </a:defRPr>
              </a:lvl3pPr>
              <a:lvl4pPr>
                <a:defRPr sz="2400">
                  <a:solidFill>
                    <a:schemeClr val="tx1"/>
                  </a:solidFill>
                  <a:latin typeface="Times New Roman" panose="02020603050405020304" charset="0"/>
                  <a:ea typeface="宋体" panose="02010600030101010101" pitchFamily="2" charset="-122"/>
                </a:defRPr>
              </a:lvl4pPr>
              <a:lvl5pPr>
                <a:defRPr sz="24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9pPr>
            </a:lstStyle>
            <a:p>
              <a:pPr marL="342900" marR="0" lvl="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学生</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87399" name="AutoShape 7"/>
            <p:cNvSpPr>
              <a:spLocks noChangeArrowheads="1"/>
            </p:cNvSpPr>
            <p:nvPr/>
          </p:nvSpPr>
          <p:spPr bwMode="auto">
            <a:xfrm>
              <a:off x="4826" y="6073"/>
              <a:ext cx="2161" cy="846"/>
            </a:xfrm>
            <a:prstGeom prst="diamond">
              <a:avLst/>
            </a:prstGeom>
            <a:solidFill>
              <a:srgbClr val="FFFFFF"/>
            </a:solidFill>
            <a:ln w="9525">
              <a:solidFill>
                <a:srgbClr val="000000"/>
              </a:solidFill>
              <a:miter lim="800000"/>
            </a:ln>
          </p:spPr>
          <p:txBody>
            <a:bodyPr lIns="0" rIns="0">
              <a:noAutofit/>
            </a:bodyPr>
            <a:lstStyle/>
            <a:p>
              <a:pPr lvl="0" algn="ctr" fontAlgn="base">
                <a:lnSpc>
                  <a:spcPct val="90000"/>
                </a:lnSpc>
                <a:spcBef>
                  <a:spcPct val="20000"/>
                </a:spcBef>
                <a:buClr>
                  <a:schemeClr val="folHlink"/>
                </a:buClr>
                <a:buSzPct val="60000"/>
                <a:buFont typeface="Wingdings" panose="05000000000000000000" charset="0"/>
                <a:defRPr/>
              </a:pPr>
              <a:r>
                <a:rPr kumimoji="1" lang="zh-CN" altLang="en-US" sz="2000" strike="noStrike" noProof="0">
                  <a:ln>
                    <a:noFill/>
                  </a:ln>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sym typeface="+mn-ea"/>
                </a:rPr>
                <a:t>教工参与</a:t>
              </a:r>
              <a:endParaRPr kumimoji="1" lang="zh-CN" altLang="en-US" sz="2000" strike="noStrike" noProof="0">
                <a:ln>
                  <a:noFill/>
                </a:ln>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p:txBody>
        </p:sp>
        <p:sp>
          <p:nvSpPr>
            <p:cNvPr id="187400" name="AutoShape 8"/>
            <p:cNvSpPr>
              <a:spLocks noChangeArrowheads="1"/>
            </p:cNvSpPr>
            <p:nvPr/>
          </p:nvSpPr>
          <p:spPr bwMode="auto">
            <a:xfrm>
              <a:off x="6747" y="8071"/>
              <a:ext cx="2160" cy="810"/>
            </a:xfrm>
            <a:prstGeom prst="diamond">
              <a:avLst/>
            </a:prstGeom>
            <a:solidFill>
              <a:srgbClr val="FFFFFF"/>
            </a:solidFill>
            <a:ln w="9525">
              <a:solidFill>
                <a:srgbClr val="000000"/>
              </a:solidFill>
              <a:miter lim="800000"/>
            </a:ln>
          </p:spPr>
          <p:txBody>
            <a:bodyPr lIns="0" rIns="0"/>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学生参与</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87401" name="Text Box 9"/>
            <p:cNvSpPr txBox="1">
              <a:spLocks noChangeArrowheads="1"/>
            </p:cNvSpPr>
            <p:nvPr/>
          </p:nvSpPr>
          <p:spPr bwMode="auto">
            <a:xfrm>
              <a:off x="4122" y="6319"/>
              <a:ext cx="372"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m</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2" name="Text Box 10"/>
            <p:cNvSpPr txBox="1">
              <a:spLocks noChangeArrowheads="1"/>
            </p:cNvSpPr>
            <p:nvPr/>
          </p:nvSpPr>
          <p:spPr bwMode="auto">
            <a:xfrm>
              <a:off x="4676" y="7476"/>
              <a:ext cx="294"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1</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3" name="Text Box 11"/>
            <p:cNvSpPr txBox="1">
              <a:spLocks noChangeArrowheads="1"/>
            </p:cNvSpPr>
            <p:nvPr/>
          </p:nvSpPr>
          <p:spPr bwMode="auto">
            <a:xfrm>
              <a:off x="7764" y="7490"/>
              <a:ext cx="294"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1</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4" name="Text Box 12"/>
            <p:cNvSpPr txBox="1">
              <a:spLocks noChangeArrowheads="1"/>
            </p:cNvSpPr>
            <p:nvPr/>
          </p:nvSpPr>
          <p:spPr bwMode="auto">
            <a:xfrm>
              <a:off x="7767" y="8863"/>
              <a:ext cx="308"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n</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5" name="AutoShape 13"/>
            <p:cNvSpPr>
              <a:spLocks noChangeArrowheads="1"/>
            </p:cNvSpPr>
            <p:nvPr/>
          </p:nvSpPr>
          <p:spPr bwMode="auto">
            <a:xfrm>
              <a:off x="5261" y="7567"/>
              <a:ext cx="1261" cy="846"/>
            </a:xfrm>
            <a:prstGeom prst="diamond">
              <a:avLst/>
            </a:prstGeom>
            <a:solidFill>
              <a:srgbClr val="FFFFFF"/>
            </a:solidFill>
            <a:ln w="9525">
              <a:solidFill>
                <a:srgbClr val="000000"/>
              </a:solidFill>
              <a:miter lim="800000"/>
            </a:ln>
          </p:spPr>
          <p:txBody>
            <a:bodyPr/>
            <a:lstStyle/>
            <a:p>
              <a:pPr marL="342900" marR="0" lvl="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负责</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cxnSp>
          <p:nvCxnSpPr>
            <p:cNvPr id="169997" name="AutoShape 14"/>
            <p:cNvCxnSpPr>
              <a:stCxn id="187399" idx="3"/>
              <a:endCxn id="187397" idx="0"/>
            </p:cNvCxnSpPr>
            <p:nvPr/>
          </p:nvCxnSpPr>
          <p:spPr>
            <a:xfrm>
              <a:off x="6987" y="6496"/>
              <a:ext cx="840" cy="513"/>
            </a:xfrm>
            <a:prstGeom prst="straightConnector1">
              <a:avLst/>
            </a:prstGeom>
            <a:ln w="9525" cap="flat" cmpd="sng">
              <a:solidFill>
                <a:srgbClr val="000000"/>
              </a:solidFill>
              <a:prstDash val="solid"/>
              <a:round/>
              <a:headEnd type="none" w="med" len="med"/>
              <a:tailEnd type="none" w="med" len="med"/>
            </a:ln>
          </p:spPr>
        </p:cxnSp>
        <p:cxnSp>
          <p:nvCxnSpPr>
            <p:cNvPr id="169998" name="AutoShape 15"/>
            <p:cNvCxnSpPr>
              <a:stCxn id="187399" idx="1"/>
              <a:endCxn id="187396" idx="0"/>
            </p:cNvCxnSpPr>
            <p:nvPr/>
          </p:nvCxnSpPr>
          <p:spPr>
            <a:xfrm flipH="1">
              <a:off x="3867" y="6496"/>
              <a:ext cx="960" cy="513"/>
            </a:xfrm>
            <a:prstGeom prst="straightConnector1">
              <a:avLst/>
            </a:prstGeom>
            <a:ln w="9525" cap="flat" cmpd="sng">
              <a:solidFill>
                <a:srgbClr val="000000"/>
              </a:solidFill>
              <a:prstDash val="solid"/>
              <a:round/>
              <a:headEnd type="none" w="med" len="med"/>
              <a:tailEnd type="none" w="med" len="med"/>
            </a:ln>
          </p:spPr>
        </p:cxnSp>
        <p:cxnSp>
          <p:nvCxnSpPr>
            <p:cNvPr id="169999" name="AutoShape 16"/>
            <p:cNvCxnSpPr>
              <a:stCxn id="187396" idx="2"/>
              <a:endCxn id="187405" idx="1"/>
            </p:cNvCxnSpPr>
            <p:nvPr/>
          </p:nvCxnSpPr>
          <p:spPr>
            <a:xfrm>
              <a:off x="3867" y="7477"/>
              <a:ext cx="1395" cy="513"/>
            </a:xfrm>
            <a:prstGeom prst="straightConnector1">
              <a:avLst/>
            </a:prstGeom>
            <a:ln w="9525" cap="flat" cmpd="sng">
              <a:solidFill>
                <a:srgbClr val="000000"/>
              </a:solidFill>
              <a:prstDash val="solid"/>
              <a:round/>
              <a:headEnd type="triangle" w="med" len="med"/>
              <a:tailEnd type="none" w="med" len="med"/>
            </a:ln>
          </p:spPr>
        </p:cxnSp>
        <p:cxnSp>
          <p:nvCxnSpPr>
            <p:cNvPr id="170000" name="AutoShape 17"/>
            <p:cNvCxnSpPr>
              <a:stCxn id="187397" idx="2"/>
              <a:endCxn id="187405" idx="3"/>
            </p:cNvCxnSpPr>
            <p:nvPr/>
          </p:nvCxnSpPr>
          <p:spPr>
            <a:xfrm flipH="1">
              <a:off x="6522" y="7477"/>
              <a:ext cx="1305" cy="513"/>
            </a:xfrm>
            <a:prstGeom prst="straightConnector1">
              <a:avLst/>
            </a:prstGeom>
            <a:ln w="9525" cap="flat" cmpd="sng">
              <a:solidFill>
                <a:srgbClr val="000000"/>
              </a:solidFill>
              <a:prstDash val="solid"/>
              <a:round/>
              <a:headEnd type="none" w="med" len="med"/>
              <a:tailEnd type="none" w="med" len="med"/>
            </a:ln>
          </p:spPr>
        </p:cxnSp>
        <p:cxnSp>
          <p:nvCxnSpPr>
            <p:cNvPr id="170001" name="AutoShape 18"/>
            <p:cNvCxnSpPr>
              <a:stCxn id="187397" idx="2"/>
              <a:endCxn id="187400" idx="0"/>
            </p:cNvCxnSpPr>
            <p:nvPr/>
          </p:nvCxnSpPr>
          <p:spPr>
            <a:xfrm>
              <a:off x="7827" y="7477"/>
              <a:ext cx="1" cy="594"/>
            </a:xfrm>
            <a:prstGeom prst="straightConnector1">
              <a:avLst/>
            </a:prstGeom>
            <a:ln w="9525" cap="flat" cmpd="sng">
              <a:solidFill>
                <a:srgbClr val="000000"/>
              </a:solidFill>
              <a:prstDash val="solid"/>
              <a:round/>
              <a:headEnd type="triangle" w="med" len="med"/>
              <a:tailEnd type="none" w="med" len="med"/>
            </a:ln>
          </p:spPr>
        </p:cxnSp>
        <p:cxnSp>
          <p:nvCxnSpPr>
            <p:cNvPr id="170002" name="AutoShape 19"/>
            <p:cNvCxnSpPr>
              <a:stCxn id="187400" idx="2"/>
              <a:endCxn id="187398" idx="0"/>
            </p:cNvCxnSpPr>
            <p:nvPr/>
          </p:nvCxnSpPr>
          <p:spPr>
            <a:xfrm>
              <a:off x="7827" y="8881"/>
              <a:ext cx="1" cy="624"/>
            </a:xfrm>
            <a:prstGeom prst="straightConnector1">
              <a:avLst/>
            </a:prstGeom>
            <a:ln w="9525" cap="flat" cmpd="sng">
              <a:solidFill>
                <a:srgbClr val="000000"/>
              </a:solidFill>
              <a:prstDash val="solid"/>
              <a:round/>
              <a:headEnd type="none" w="med" len="med"/>
              <a:tailEnd type="none" w="med" len="med"/>
            </a:ln>
          </p:spPr>
        </p:cxnSp>
        <p:sp>
          <p:nvSpPr>
            <p:cNvPr id="187412" name="Text Box 20"/>
            <p:cNvSpPr txBox="1">
              <a:spLocks noChangeArrowheads="1"/>
            </p:cNvSpPr>
            <p:nvPr/>
          </p:nvSpPr>
          <p:spPr bwMode="auto">
            <a:xfrm>
              <a:off x="6712" y="7447"/>
              <a:ext cx="372"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m</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13" name="Text Box 21"/>
            <p:cNvSpPr txBox="1">
              <a:spLocks noChangeArrowheads="1"/>
            </p:cNvSpPr>
            <p:nvPr/>
          </p:nvSpPr>
          <p:spPr bwMode="auto">
            <a:xfrm>
              <a:off x="7375" y="6396"/>
              <a:ext cx="308"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n</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p:cNvSpPr>
          <p:nvPr>
            <p:ph type="title"/>
          </p:nvPr>
        </p:nvSpPr>
        <p:spPr>
          <a:xfrm>
            <a:off x="768350" y="211138"/>
            <a:ext cx="8056563" cy="544513"/>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12995" name="Rectangle 3"/>
          <p:cNvSpPr>
            <a:spLocks noGrp="1" noChangeArrowheads="1"/>
          </p:cNvSpPr>
          <p:nvPr>
            <p:ph idx="1"/>
          </p:nvPr>
        </p:nvSpPr>
        <p:spPr>
          <a:xfrm>
            <a:off x="855663" y="1379538"/>
            <a:ext cx="7559675" cy="110172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实体</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关系</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属性</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  关系的属性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grpSp>
        <p:nvGrpSpPr>
          <p:cNvPr id="173059" name="Group 4"/>
          <p:cNvGrpSpPr/>
          <p:nvPr/>
        </p:nvGrpSpPr>
        <p:grpSpPr>
          <a:xfrm>
            <a:off x="2438400" y="2709863"/>
            <a:ext cx="4418013" cy="1562100"/>
            <a:chOff x="479" y="2338"/>
            <a:chExt cx="2401" cy="824"/>
          </a:xfrm>
        </p:grpSpPr>
        <p:sp>
          <p:nvSpPr>
            <p:cNvPr id="173060" name="Text Box 5"/>
            <p:cNvSpPr txBox="1"/>
            <p:nvPr/>
          </p:nvSpPr>
          <p:spPr>
            <a:xfrm>
              <a:off x="1392" y="2911"/>
              <a:ext cx="526" cy="251"/>
            </a:xfrm>
            <a:prstGeom prst="rect">
              <a:avLst/>
            </a:prstGeom>
            <a:solidFill>
              <a:srgbClr val="33CCCC"/>
            </a:solidFill>
            <a:ln w="19050" cap="sq" cmpd="sng">
              <a:solidFill>
                <a:schemeClr val="tx1"/>
              </a:solidFill>
              <a:prstDash val="solid"/>
              <a:miter/>
              <a:headEnd type="none" w="sm" len="sm"/>
              <a:tailEnd type="none" w="sm" len="sm"/>
            </a:ln>
          </p:spPr>
          <p:txBody>
            <a:bodyPr anchor="ctr" anchorCtr="0">
              <a:spAutoFit/>
            </a:bodyPr>
            <a:lstStyle/>
            <a:p>
              <a:pPr algn="ctr" eaLnBrk="0" hangingPunct="0">
                <a:spcBef>
                  <a:spcPct val="50000"/>
                </a:spcBef>
                <a:buSzTx/>
              </a:pPr>
              <a:r>
                <a:rPr lang="zh-CN" altLang="en-US" sz="2400">
                  <a:solidFill>
                    <a:schemeClr val="tx2"/>
                  </a:solidFill>
                  <a:latin typeface="Times New Roman" panose="02020603050405020304" charset="0"/>
                  <a:ea typeface="仿宋_GB2312" pitchFamily="49" charset="-122"/>
                </a:rPr>
                <a:t>学生</a:t>
              </a:r>
              <a:endParaRPr lang="zh-CN" altLang="en-US" sz="2400">
                <a:solidFill>
                  <a:schemeClr val="tx2"/>
                </a:solidFill>
                <a:latin typeface="Times New Roman" panose="02020603050405020304" charset="0"/>
                <a:ea typeface="MS PGothic" panose="020B0600070205080204" pitchFamily="34" charset="-128"/>
              </a:endParaRPr>
            </a:p>
          </p:txBody>
        </p:sp>
        <p:sp>
          <p:nvSpPr>
            <p:cNvPr id="173061" name="Oval 6" descr="Large confetti"/>
            <p:cNvSpPr/>
            <p:nvPr/>
          </p:nvSpPr>
          <p:spPr>
            <a:xfrm>
              <a:off x="479" y="2338"/>
              <a:ext cx="481" cy="331"/>
            </a:xfrm>
            <a:prstGeom prst="ellipse">
              <a:avLst/>
            </a:prstGeom>
            <a:solidFill>
              <a:schemeClr val="accent1"/>
            </a:solidFill>
            <a:ln w="19050" cap="sq" cmpd="sng">
              <a:solidFill>
                <a:schemeClr val="tx1"/>
              </a:solidFill>
              <a:prstDash val="solid"/>
              <a:round/>
              <a:headEnd type="none" w="sm" len="sm"/>
              <a:tailEnd type="none" w="sm" len="sm"/>
            </a:ln>
          </p:spPr>
          <p:txBody>
            <a:bodyPr wrap="none" lIns="0" rIns="0" anchor="ctr" anchorCtr="0">
              <a:spAutoFit/>
            </a:bodyPr>
            <a:lstStyle/>
            <a:p>
              <a:pPr algn="ctr" eaLnBrk="0" hangingPunct="0">
                <a:spcBef>
                  <a:spcPct val="50000"/>
                </a:spcBef>
                <a:buSzTx/>
              </a:pPr>
              <a:r>
                <a:rPr lang="zh-CN" altLang="en-US" sz="2400">
                  <a:solidFill>
                    <a:schemeClr val="tx2"/>
                  </a:solidFill>
                  <a:latin typeface="Times New Roman" panose="02020603050405020304" charset="0"/>
                  <a:ea typeface="仿宋_GB2312" pitchFamily="49" charset="-122"/>
                </a:rPr>
                <a:t>姓名</a:t>
              </a:r>
              <a:endParaRPr lang="zh-CN" altLang="en-US" sz="2400">
                <a:latin typeface="Tahoma" panose="020B0604030504040204" charset="0"/>
                <a:ea typeface="MS PGothic" panose="020B0600070205080204" pitchFamily="34" charset="-128"/>
              </a:endParaRPr>
            </a:p>
          </p:txBody>
        </p:sp>
        <p:sp>
          <p:nvSpPr>
            <p:cNvPr id="173062" name="Oval 7" descr="Large confetti"/>
            <p:cNvSpPr/>
            <p:nvPr/>
          </p:nvSpPr>
          <p:spPr>
            <a:xfrm>
              <a:off x="1439" y="2338"/>
              <a:ext cx="481" cy="331"/>
            </a:xfrm>
            <a:prstGeom prst="ellipse">
              <a:avLst/>
            </a:prstGeom>
            <a:solidFill>
              <a:schemeClr val="accent1"/>
            </a:solidFill>
            <a:ln w="19050" cap="sq" cmpd="sng">
              <a:solidFill>
                <a:schemeClr val="tx1"/>
              </a:solidFill>
              <a:prstDash val="solid"/>
              <a:round/>
              <a:headEnd type="none" w="sm" len="sm"/>
              <a:tailEnd type="none" w="sm" len="sm"/>
            </a:ln>
          </p:spPr>
          <p:txBody>
            <a:bodyPr wrap="none" lIns="0" rIns="0" anchor="ctr" anchorCtr="0">
              <a:spAutoFit/>
            </a:bodyPr>
            <a:lstStyle/>
            <a:p>
              <a:pPr algn="ctr" eaLnBrk="0" hangingPunct="0">
                <a:spcBef>
                  <a:spcPct val="50000"/>
                </a:spcBef>
                <a:buSzTx/>
              </a:pPr>
              <a:r>
                <a:rPr lang="zh-CN" altLang="en-US" sz="2400" u="sng">
                  <a:solidFill>
                    <a:schemeClr val="tx2"/>
                  </a:solidFill>
                  <a:latin typeface="Times New Roman" panose="02020603050405020304" charset="0"/>
                  <a:ea typeface="仿宋_GB2312" pitchFamily="49" charset="-122"/>
                </a:rPr>
                <a:t>学号</a:t>
              </a:r>
              <a:endParaRPr lang="zh-CN" altLang="en-US" sz="2400">
                <a:latin typeface="Tahoma" panose="020B0604030504040204" charset="0"/>
                <a:ea typeface="MS PGothic" panose="020B0600070205080204" pitchFamily="34" charset="-128"/>
              </a:endParaRPr>
            </a:p>
          </p:txBody>
        </p:sp>
        <p:sp>
          <p:nvSpPr>
            <p:cNvPr id="173063" name="Oval 8" descr="Large confetti"/>
            <p:cNvSpPr/>
            <p:nvPr/>
          </p:nvSpPr>
          <p:spPr>
            <a:xfrm>
              <a:off x="2399" y="2338"/>
              <a:ext cx="481" cy="331"/>
            </a:xfrm>
            <a:prstGeom prst="ellipse">
              <a:avLst/>
            </a:prstGeom>
            <a:solidFill>
              <a:schemeClr val="accent1"/>
            </a:solidFill>
            <a:ln w="19050" cap="sq" cmpd="sng">
              <a:solidFill>
                <a:schemeClr val="tx1"/>
              </a:solidFill>
              <a:prstDash val="solid"/>
              <a:round/>
              <a:headEnd type="none" w="sm" len="sm"/>
              <a:tailEnd type="none" w="sm" len="sm"/>
            </a:ln>
          </p:spPr>
          <p:txBody>
            <a:bodyPr wrap="none" lIns="0" rIns="0" anchor="ctr" anchorCtr="0">
              <a:spAutoFit/>
            </a:bodyPr>
            <a:lstStyle/>
            <a:p>
              <a:pPr algn="ctr" eaLnBrk="0" hangingPunct="0">
                <a:spcBef>
                  <a:spcPct val="50000"/>
                </a:spcBef>
              </a:pPr>
              <a:r>
                <a:rPr lang="zh-CN" altLang="en-US" sz="2400" dirty="0">
                  <a:solidFill>
                    <a:schemeClr val="tx2"/>
                  </a:solidFill>
                  <a:latin typeface="Times New Roman" panose="02020603050405020304" charset="0"/>
                  <a:ea typeface="仿宋_GB2312" pitchFamily="49" charset="-122"/>
                </a:rPr>
                <a:t>系别</a:t>
              </a:r>
              <a:endParaRPr lang="zh-CN" altLang="en-US" sz="2400" dirty="0">
                <a:latin typeface="Tahoma" panose="020B0604030504040204" charset="0"/>
              </a:endParaRPr>
            </a:p>
          </p:txBody>
        </p:sp>
        <p:sp>
          <p:nvSpPr>
            <p:cNvPr id="213001" name="Line 9"/>
            <p:cNvSpPr>
              <a:spLocks noChangeShapeType="1"/>
            </p:cNvSpPr>
            <p:nvPr/>
          </p:nvSpPr>
          <p:spPr bwMode="auto">
            <a:xfrm>
              <a:off x="1680" y="2672"/>
              <a:ext cx="0" cy="239"/>
            </a:xfrm>
            <a:prstGeom prst="line">
              <a:avLst/>
            </a:prstGeom>
            <a:noFill/>
            <a:ln w="19050" cap="sq">
              <a:solidFill>
                <a:schemeClr val="tx1"/>
              </a:solidFill>
              <a:round/>
              <a:headEnd type="none" w="sm" len="sm"/>
              <a:tailEnd type="none" w="sm" len="sm"/>
            </a:ln>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3002" name="Line 10"/>
            <p:cNvSpPr>
              <a:spLocks noChangeShapeType="1"/>
            </p:cNvSpPr>
            <p:nvPr/>
          </p:nvSpPr>
          <p:spPr bwMode="auto">
            <a:xfrm flipH="1" flipV="1">
              <a:off x="720" y="2672"/>
              <a:ext cx="720" cy="239"/>
            </a:xfrm>
            <a:prstGeom prst="line">
              <a:avLst/>
            </a:prstGeom>
            <a:noFill/>
            <a:ln w="19050" cap="sq">
              <a:solidFill>
                <a:schemeClr val="tx1"/>
              </a:solidFill>
              <a:round/>
              <a:headEnd type="none" w="sm" len="sm"/>
              <a:tailEnd type="none" w="sm" len="sm"/>
            </a:ln>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3003" name="Line 11"/>
            <p:cNvSpPr>
              <a:spLocks noChangeShapeType="1"/>
            </p:cNvSpPr>
            <p:nvPr/>
          </p:nvSpPr>
          <p:spPr bwMode="auto">
            <a:xfrm flipV="1">
              <a:off x="1920" y="2672"/>
              <a:ext cx="720" cy="239"/>
            </a:xfrm>
            <a:prstGeom prst="line">
              <a:avLst/>
            </a:prstGeom>
            <a:noFill/>
            <a:ln w="19050" cap="sq">
              <a:solidFill>
                <a:schemeClr val="tx1"/>
              </a:solidFill>
              <a:round/>
              <a:headEnd type="none" w="sm" len="sm"/>
              <a:tailEnd type="none" w="sm" len="sm"/>
            </a:ln>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72036" name="表格 172035"/>
          <p:cNvGraphicFramePr/>
          <p:nvPr/>
        </p:nvGraphicFramePr>
        <p:xfrm>
          <a:off x="1570038" y="4524375"/>
          <a:ext cx="6096000" cy="858838"/>
        </p:xfrm>
        <a:graphic>
          <a:graphicData uri="http://schemas.openxmlformats.org/drawingml/2006/table">
            <a:tbl>
              <a:tblPr/>
              <a:tblGrid>
                <a:gridCol w="2032000"/>
                <a:gridCol w="2032000"/>
                <a:gridCol w="2032000"/>
              </a:tblGrid>
              <a:tr h="431800">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学生</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42703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姓名</a:t>
                      </a:r>
                      <a:endParaRPr lang="zh-CN" altLang="en-US" dirty="0">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系别</a:t>
                      </a:r>
                      <a:endParaRPr lang="en-US" altLang="zh-CN"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15043" name="Rectangle 3"/>
          <p:cNvSpPr>
            <a:spLocks noChangeArrowheads="1"/>
          </p:cNvSpPr>
          <p:nvPr/>
        </p:nvSpPr>
        <p:spPr bwMode="auto">
          <a:xfrm>
            <a:off x="228600" y="1295400"/>
            <a:ext cx="8610600" cy="684213"/>
          </a:xfrm>
          <a:prstGeom prst="rect">
            <a:avLst/>
          </a:prstGeom>
          <a:noFill/>
          <a:ln>
            <a:noFill/>
          </a:ln>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复合属性</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  将每个组合属性作为复合属性所在实体的属性</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nvGrpSpPr>
          <p:cNvPr id="175107" name="Group 4"/>
          <p:cNvGrpSpPr/>
          <p:nvPr/>
        </p:nvGrpSpPr>
        <p:grpSpPr>
          <a:xfrm>
            <a:off x="2354263" y="2189163"/>
            <a:ext cx="4419600" cy="2149475"/>
            <a:chOff x="240" y="1382"/>
            <a:chExt cx="2784" cy="1354"/>
          </a:xfrm>
        </p:grpSpPr>
        <p:sp>
          <p:nvSpPr>
            <p:cNvPr id="175108" name="Text Box 5"/>
            <p:cNvSpPr txBox="1"/>
            <p:nvPr/>
          </p:nvSpPr>
          <p:spPr>
            <a:xfrm>
              <a:off x="1337" y="1382"/>
              <a:ext cx="628" cy="327"/>
            </a:xfrm>
            <a:prstGeom prst="rect">
              <a:avLst/>
            </a:prstGeom>
            <a:solidFill>
              <a:srgbClr val="33CCCC"/>
            </a:solidFill>
            <a:ln w="9525">
              <a:noFill/>
            </a:ln>
          </p:spPr>
          <p:txBody>
            <a:bodyPr anchor="ctr" anchorCtr="0">
              <a:spAutoFit/>
            </a:bodyPr>
            <a:lstStyle/>
            <a:p>
              <a:pPr algn="ctr" eaLnBrk="0" hangingPunct="0">
                <a:spcBef>
                  <a:spcPct val="50000"/>
                </a:spcBef>
                <a:buSzTx/>
              </a:pPr>
              <a:r>
                <a:rPr lang="zh-CN" altLang="en-US" sz="2800">
                  <a:solidFill>
                    <a:schemeClr val="tx2"/>
                  </a:solidFill>
                  <a:latin typeface="Times New Roman" panose="02020603050405020304" charset="0"/>
                  <a:ea typeface="华文新魏" panose="02010800040101010101" charset="-122"/>
                </a:rPr>
                <a:t>学生</a:t>
              </a:r>
              <a:endParaRPr lang="zh-CN" altLang="en-US" sz="4000">
                <a:solidFill>
                  <a:schemeClr val="tx2"/>
                </a:solidFill>
                <a:latin typeface="Times New Roman" panose="02020603050405020304" charset="0"/>
                <a:ea typeface="华文新魏" panose="02010800040101010101" charset="-122"/>
              </a:endParaRPr>
            </a:p>
          </p:txBody>
        </p:sp>
        <p:sp>
          <p:nvSpPr>
            <p:cNvPr id="215046" name="Oval 6" descr="Large confetti"/>
            <p:cNvSpPr>
              <a:spLocks noChangeArrowheads="1"/>
            </p:cNvSpPr>
            <p:nvPr/>
          </p:nvSpPr>
          <p:spPr bwMode="auto">
            <a:xfrm>
              <a:off x="2304" y="1911"/>
              <a:ext cx="720" cy="336"/>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姓名</a:t>
              </a:r>
              <a:endPar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15047" name="Oval 7" descr="Large confetti"/>
            <p:cNvSpPr>
              <a:spLocks noChangeArrowheads="1"/>
            </p:cNvSpPr>
            <p:nvPr/>
          </p:nvSpPr>
          <p:spPr bwMode="auto">
            <a:xfrm>
              <a:off x="240" y="1920"/>
              <a:ext cx="720" cy="336"/>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学号</a:t>
              </a:r>
              <a:endParaRPr kumimoji="1" lang="zh-CN" altLang="en-US" sz="2400" b="0" i="0" u="none" strike="noStrike" kern="1200" cap="none" spc="0" normalizeH="0" baseline="0" noProof="0">
                <a:ln>
                  <a:noFill/>
                </a:ln>
                <a:solidFill>
                  <a:schemeClr val="tx1"/>
                </a:solidFill>
                <a:effectLst/>
                <a:uLnTx/>
                <a:uFillTx/>
                <a:latin typeface="Tahoma" panose="020B0604030504040204" charset="0"/>
                <a:ea typeface="华文新魏" panose="02010800040101010101" charset="-122"/>
                <a:cs typeface="华文新魏" panose="02010800040101010101" charset="-122"/>
              </a:endParaRPr>
            </a:p>
          </p:txBody>
        </p:sp>
        <p:sp>
          <p:nvSpPr>
            <p:cNvPr id="215048" name="Oval 8" descr="Large confetti"/>
            <p:cNvSpPr>
              <a:spLocks noChangeArrowheads="1"/>
            </p:cNvSpPr>
            <p:nvPr/>
          </p:nvSpPr>
          <p:spPr bwMode="auto">
            <a:xfrm>
              <a:off x="654" y="2448"/>
              <a:ext cx="480" cy="288"/>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年</a:t>
              </a:r>
              <a:endPar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15049" name="Oval 9" descr="Large confetti"/>
            <p:cNvSpPr>
              <a:spLocks noChangeArrowheads="1"/>
            </p:cNvSpPr>
            <p:nvPr/>
          </p:nvSpPr>
          <p:spPr bwMode="auto">
            <a:xfrm>
              <a:off x="1440" y="2448"/>
              <a:ext cx="480" cy="288"/>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月</a:t>
              </a:r>
              <a:endPar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15050" name="Oval 10" descr="Large confetti"/>
            <p:cNvSpPr>
              <a:spLocks noChangeArrowheads="1"/>
            </p:cNvSpPr>
            <p:nvPr/>
          </p:nvSpPr>
          <p:spPr bwMode="auto">
            <a:xfrm>
              <a:off x="1152" y="1920"/>
              <a:ext cx="1008" cy="336"/>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出生日期</a:t>
              </a:r>
              <a:endParaRPr kumimoji="1" lang="zh-CN" altLang="en-US" sz="2400" b="0" i="0" u="none" strike="noStrike" kern="1200" cap="none" spc="0" normalizeH="0" baseline="0" noProof="0">
                <a:ln>
                  <a:noFill/>
                </a:ln>
                <a:solidFill>
                  <a:schemeClr val="tx1"/>
                </a:solidFill>
                <a:effectLst/>
                <a:uLnTx/>
                <a:uFillTx/>
                <a:latin typeface="Tahoma" panose="020B0604030504040204" charset="0"/>
                <a:ea typeface="华文新魏" panose="02010800040101010101" charset="-122"/>
                <a:cs typeface="华文新魏" panose="02010800040101010101" charset="-122"/>
              </a:endParaRPr>
            </a:p>
          </p:txBody>
        </p:sp>
        <p:sp>
          <p:nvSpPr>
            <p:cNvPr id="215051" name="Oval 11" descr="Large confetti"/>
            <p:cNvSpPr>
              <a:spLocks noChangeArrowheads="1"/>
            </p:cNvSpPr>
            <p:nvPr/>
          </p:nvSpPr>
          <p:spPr bwMode="auto">
            <a:xfrm>
              <a:off x="2322" y="2448"/>
              <a:ext cx="480" cy="288"/>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日</a:t>
              </a:r>
              <a:endPar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15052" name="Line 12"/>
            <p:cNvSpPr>
              <a:spLocks noChangeShapeType="1"/>
            </p:cNvSpPr>
            <p:nvPr/>
          </p:nvSpPr>
          <p:spPr bwMode="auto">
            <a:xfrm>
              <a:off x="1662" y="1728"/>
              <a:ext cx="0" cy="19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3" name="Line 13"/>
            <p:cNvSpPr>
              <a:spLocks noChangeShapeType="1"/>
            </p:cNvSpPr>
            <p:nvPr/>
          </p:nvSpPr>
          <p:spPr bwMode="auto">
            <a:xfrm>
              <a:off x="1662" y="2256"/>
              <a:ext cx="0" cy="19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4" name="Line 14"/>
            <p:cNvSpPr>
              <a:spLocks noChangeShapeType="1"/>
            </p:cNvSpPr>
            <p:nvPr/>
          </p:nvSpPr>
          <p:spPr bwMode="auto">
            <a:xfrm flipH="1">
              <a:off x="1056" y="2256"/>
              <a:ext cx="480" cy="240"/>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5" name="Line 15"/>
            <p:cNvSpPr>
              <a:spLocks noChangeShapeType="1"/>
            </p:cNvSpPr>
            <p:nvPr/>
          </p:nvSpPr>
          <p:spPr bwMode="auto">
            <a:xfrm>
              <a:off x="1824" y="2247"/>
              <a:ext cx="576" cy="249"/>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6" name="Line 16"/>
            <p:cNvSpPr>
              <a:spLocks noChangeShapeType="1"/>
            </p:cNvSpPr>
            <p:nvPr/>
          </p:nvSpPr>
          <p:spPr bwMode="auto">
            <a:xfrm flipH="1">
              <a:off x="864" y="1728"/>
              <a:ext cx="624" cy="240"/>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7" name="Line 17"/>
            <p:cNvSpPr>
              <a:spLocks noChangeShapeType="1"/>
            </p:cNvSpPr>
            <p:nvPr/>
          </p:nvSpPr>
          <p:spPr bwMode="auto">
            <a:xfrm>
              <a:off x="1824" y="1728"/>
              <a:ext cx="672" cy="19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215058" name="Group 18"/>
          <p:cNvGraphicFramePr>
            <a:graphicFrameLocks noGrp="1"/>
          </p:cNvGraphicFramePr>
          <p:nvPr/>
        </p:nvGraphicFramePr>
        <p:xfrm>
          <a:off x="1627188" y="5091113"/>
          <a:ext cx="6096000" cy="1038226"/>
        </p:xfrm>
        <a:graphic>
          <a:graphicData uri="http://schemas.openxmlformats.org/drawingml/2006/table">
            <a:tbl>
              <a:tblPr/>
              <a:tblGrid>
                <a:gridCol w="1219200"/>
                <a:gridCol w="1219200"/>
                <a:gridCol w="1219200"/>
                <a:gridCol w="1219200"/>
                <a:gridCol w="1219200"/>
              </a:tblGrid>
              <a:tr h="519113">
                <a:tc gridSpan="5">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年</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月</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日</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16067" name="Rectangle 3"/>
          <p:cNvSpPr>
            <a:spLocks noChangeArrowheads="1"/>
          </p:cNvSpPr>
          <p:nvPr/>
        </p:nvSpPr>
        <p:spPr bwMode="auto">
          <a:xfrm>
            <a:off x="266700" y="1557338"/>
            <a:ext cx="8610600" cy="533400"/>
          </a:xfrm>
          <a:prstGeom prst="rect">
            <a:avLst/>
          </a:prstGeom>
          <a:noFill/>
          <a:ln>
            <a:noFill/>
          </a:ln>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多值属性</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  新的关系+所在实体的码</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nvGrpSpPr>
          <p:cNvPr id="176131" name="Group 4"/>
          <p:cNvGrpSpPr/>
          <p:nvPr/>
        </p:nvGrpSpPr>
        <p:grpSpPr>
          <a:xfrm>
            <a:off x="2263775" y="2227263"/>
            <a:ext cx="4570413" cy="1752600"/>
            <a:chOff x="289" y="3120"/>
            <a:chExt cx="2879" cy="1104"/>
          </a:xfrm>
        </p:grpSpPr>
        <p:sp>
          <p:nvSpPr>
            <p:cNvPr id="176132" name="Text Box 5"/>
            <p:cNvSpPr txBox="1"/>
            <p:nvPr/>
          </p:nvSpPr>
          <p:spPr>
            <a:xfrm>
              <a:off x="1386" y="3859"/>
              <a:ext cx="628" cy="365"/>
            </a:xfrm>
            <a:prstGeom prst="rect">
              <a:avLst/>
            </a:prstGeom>
            <a:solidFill>
              <a:srgbClr val="33CCCC"/>
            </a:solidFill>
            <a:ln w="9525">
              <a:noFill/>
            </a:ln>
          </p:spPr>
          <p:txBody>
            <a:bodyPr wrap="none" anchor="ctr" anchorCtr="0">
              <a:spAutoFit/>
            </a:bodyPr>
            <a:lstStyle/>
            <a:p>
              <a:pPr algn="ctr" eaLnBrk="0" hangingPunct="0">
                <a:spcBef>
                  <a:spcPct val="50000"/>
                </a:spcBef>
                <a:buSzTx/>
              </a:pPr>
              <a:r>
                <a:rPr lang="zh-CN" altLang="en-US" sz="3200">
                  <a:solidFill>
                    <a:schemeClr val="tx2"/>
                  </a:solidFill>
                  <a:latin typeface="Times New Roman" panose="02020603050405020304" charset="0"/>
                  <a:ea typeface="华文新魏" panose="02010800040101010101" charset="-122"/>
                </a:rPr>
                <a:t>学生</a:t>
              </a:r>
              <a:endParaRPr lang="zh-CN" altLang="en-US" sz="4400">
                <a:solidFill>
                  <a:schemeClr val="tx2"/>
                </a:solidFill>
                <a:latin typeface="Times New Roman" panose="02020603050405020304" charset="0"/>
                <a:ea typeface="华文新魏" panose="02010800040101010101" charset="-122"/>
              </a:endParaRPr>
            </a:p>
          </p:txBody>
        </p:sp>
        <p:sp>
          <p:nvSpPr>
            <p:cNvPr id="216070" name="Oval 6" descr="Large confetti"/>
            <p:cNvSpPr>
              <a:spLocks noChangeArrowheads="1"/>
            </p:cNvSpPr>
            <p:nvPr/>
          </p:nvSpPr>
          <p:spPr bwMode="auto">
            <a:xfrm>
              <a:off x="289" y="3168"/>
              <a:ext cx="864" cy="432"/>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姓名</a:t>
              </a:r>
              <a:endPar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16071" name="Oval 7" descr="Large confetti"/>
            <p:cNvSpPr>
              <a:spLocks noChangeArrowheads="1"/>
            </p:cNvSpPr>
            <p:nvPr/>
          </p:nvSpPr>
          <p:spPr bwMode="auto">
            <a:xfrm>
              <a:off x="1296" y="3168"/>
              <a:ext cx="720" cy="432"/>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学号</a:t>
              </a:r>
              <a:endParaRPr kumimoji="1" lang="zh-CN" altLang="en-US" sz="2400" b="0" i="0" u="none" strike="noStrike" kern="1200" cap="none" spc="0" normalizeH="0" baseline="0" noProof="0">
                <a:ln>
                  <a:noFill/>
                </a:ln>
                <a:solidFill>
                  <a:schemeClr val="tx1"/>
                </a:solidFill>
                <a:effectLst/>
                <a:uLnTx/>
                <a:uFillTx/>
                <a:latin typeface="Tahoma" panose="020B0604030504040204" charset="0"/>
                <a:ea typeface="华文新魏" panose="02010800040101010101" charset="-122"/>
                <a:cs typeface="华文新魏" panose="02010800040101010101" charset="-122"/>
              </a:endParaRPr>
            </a:p>
          </p:txBody>
        </p:sp>
        <p:sp>
          <p:nvSpPr>
            <p:cNvPr id="176135" name="Oval 8" descr="Large confetti"/>
            <p:cNvSpPr/>
            <p:nvPr/>
          </p:nvSpPr>
          <p:spPr>
            <a:xfrm>
              <a:off x="2160" y="3168"/>
              <a:ext cx="960" cy="432"/>
            </a:xfrm>
            <a:prstGeom prst="ellipse">
              <a:avLst/>
            </a:prstGeom>
            <a:solidFill>
              <a:schemeClr val="accent1"/>
            </a:solidFill>
            <a:ln w="12700" cap="sq" cmpd="sng">
              <a:solidFill>
                <a:schemeClr val="tx1"/>
              </a:solidFill>
              <a:prstDash val="solid"/>
              <a:round/>
              <a:headEnd type="none" w="sm" len="sm"/>
              <a:tailEnd type="none" w="sm" len="sm"/>
            </a:ln>
          </p:spPr>
          <p:txBody>
            <a:bodyPr wrap="none" anchor="ctr" anchorCtr="0"/>
            <a:lstStyle/>
            <a:p>
              <a:pPr algn="ctr" eaLnBrk="0" hangingPunct="0">
                <a:spcBef>
                  <a:spcPct val="50000"/>
                </a:spcBef>
              </a:pPr>
              <a:r>
                <a:rPr lang="zh-CN" altLang="en-US" sz="2800" dirty="0">
                  <a:solidFill>
                    <a:schemeClr val="tx2"/>
                  </a:solidFill>
                  <a:latin typeface="Times New Roman" panose="02020603050405020304" charset="0"/>
                  <a:ea typeface="华文新魏" panose="02010800040101010101" charset="-122"/>
                </a:rPr>
                <a:t>所选课程</a:t>
              </a:r>
              <a:endParaRPr lang="zh-CN" altLang="en-US" sz="2400" dirty="0">
                <a:latin typeface="Tahoma" panose="020B0604030504040204" charset="0"/>
                <a:ea typeface="华文新魏" panose="02010800040101010101" charset="-122"/>
              </a:endParaRPr>
            </a:p>
          </p:txBody>
        </p:sp>
        <p:sp>
          <p:nvSpPr>
            <p:cNvPr id="216073" name="Line 9"/>
            <p:cNvSpPr>
              <a:spLocks noChangeShapeType="1"/>
            </p:cNvSpPr>
            <p:nvPr/>
          </p:nvSpPr>
          <p:spPr bwMode="auto">
            <a:xfrm>
              <a:off x="1681" y="3600"/>
              <a:ext cx="0" cy="240"/>
            </a:xfrm>
            <a:prstGeom prst="lin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6074" name="Line 10"/>
            <p:cNvSpPr>
              <a:spLocks noChangeShapeType="1"/>
            </p:cNvSpPr>
            <p:nvPr/>
          </p:nvSpPr>
          <p:spPr bwMode="auto">
            <a:xfrm flipH="1" flipV="1">
              <a:off x="721" y="3600"/>
              <a:ext cx="720" cy="240"/>
            </a:xfrm>
            <a:prstGeom prst="lin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6075" name="Line 11"/>
            <p:cNvSpPr>
              <a:spLocks noChangeShapeType="1"/>
            </p:cNvSpPr>
            <p:nvPr/>
          </p:nvSpPr>
          <p:spPr bwMode="auto">
            <a:xfrm flipV="1">
              <a:off x="1921" y="3648"/>
              <a:ext cx="719" cy="192"/>
            </a:xfrm>
            <a:prstGeom prst="lin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6076" name="Oval 12" descr="Large confetti"/>
            <p:cNvSpPr>
              <a:spLocks noChangeArrowheads="1"/>
            </p:cNvSpPr>
            <p:nvPr/>
          </p:nvSpPr>
          <p:spPr bwMode="auto">
            <a:xfrm>
              <a:off x="2112" y="3120"/>
              <a:ext cx="1056" cy="528"/>
            </a:xfrm>
            <a:prstGeom prst="ellips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216077" name="Group 13"/>
          <p:cNvGraphicFramePr>
            <a:graphicFrameLocks noGrp="1"/>
          </p:cNvGraphicFramePr>
          <p:nvPr/>
        </p:nvGraphicFramePr>
        <p:xfrm>
          <a:off x="982663" y="4597400"/>
          <a:ext cx="3048000" cy="1038226"/>
        </p:xfrm>
        <a:graphic>
          <a:graphicData uri="http://schemas.openxmlformats.org/drawingml/2006/table">
            <a:tbl>
              <a:tblPr/>
              <a:tblGrid>
                <a:gridCol w="1524000"/>
                <a:gridCol w="1524000"/>
              </a:tblGrid>
              <a:tr h="519113">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5118" name="表格 175117"/>
          <p:cNvGraphicFramePr/>
          <p:nvPr/>
        </p:nvGraphicFramePr>
        <p:xfrm>
          <a:off x="4840288" y="4625975"/>
          <a:ext cx="3095625" cy="1038225"/>
        </p:xfrm>
        <a:graphic>
          <a:graphicData uri="http://schemas.openxmlformats.org/drawingml/2006/table">
            <a:tbl>
              <a:tblPr/>
              <a:tblGrid>
                <a:gridCol w="1547813"/>
                <a:gridCol w="1547812"/>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学生选课</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课程号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17091" name="Rectangle 3"/>
          <p:cNvSpPr>
            <a:spLocks noGrp="1" noChangeArrowheads="1"/>
          </p:cNvSpPr>
          <p:nvPr>
            <p:ph idx="1"/>
          </p:nvPr>
        </p:nvSpPr>
        <p:spPr>
          <a:xfrm>
            <a:off x="153988" y="1108075"/>
            <a:ext cx="8818563" cy="654050"/>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一对多联系</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：将单方参与实体的码作为多方参与实体的属性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grpSp>
        <p:nvGrpSpPr>
          <p:cNvPr id="177155" name="Group 4"/>
          <p:cNvGrpSpPr/>
          <p:nvPr/>
        </p:nvGrpSpPr>
        <p:grpSpPr>
          <a:xfrm>
            <a:off x="2644775" y="1973263"/>
            <a:ext cx="3886200" cy="1295400"/>
            <a:chOff x="384" y="1488"/>
            <a:chExt cx="2448" cy="816"/>
          </a:xfrm>
        </p:grpSpPr>
        <p:sp>
          <p:nvSpPr>
            <p:cNvPr id="177156" name="Text Box 5"/>
            <p:cNvSpPr txBox="1"/>
            <p:nvPr/>
          </p:nvSpPr>
          <p:spPr>
            <a:xfrm>
              <a:off x="384" y="1737"/>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教师</a:t>
              </a:r>
              <a:endParaRPr lang="zh-CN" altLang="en-US" sz="2400" dirty="0">
                <a:latin typeface="Times New Roman" panose="02020603050405020304" charset="0"/>
                <a:ea typeface="华文新魏" panose="02010800040101010101" charset="-122"/>
              </a:endParaRPr>
            </a:p>
          </p:txBody>
        </p:sp>
        <p:sp>
          <p:nvSpPr>
            <p:cNvPr id="177157" name="Text Box 6"/>
            <p:cNvSpPr txBox="1"/>
            <p:nvPr/>
          </p:nvSpPr>
          <p:spPr>
            <a:xfrm>
              <a:off x="2256" y="1737"/>
              <a:ext cx="576" cy="327"/>
            </a:xfrm>
            <a:prstGeom prst="rect">
              <a:avLst/>
            </a:prstGeom>
            <a:solidFill>
              <a:srgbClr val="33CCCC"/>
            </a:solidFill>
            <a:ln w="9525">
              <a:noFill/>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学生</a:t>
              </a:r>
              <a:endParaRPr lang="zh-CN" altLang="en-US" sz="2400">
                <a:latin typeface="Times New Roman" panose="02020603050405020304" charset="0"/>
                <a:ea typeface="华文新魏" panose="02010800040101010101" charset="-122"/>
              </a:endParaRPr>
            </a:p>
          </p:txBody>
        </p:sp>
        <p:sp>
          <p:nvSpPr>
            <p:cNvPr id="217095" name="Line 7"/>
            <p:cNvSpPr>
              <a:spLocks noChangeShapeType="1"/>
            </p:cNvSpPr>
            <p:nvPr/>
          </p:nvSpPr>
          <p:spPr bwMode="auto">
            <a:xfrm>
              <a:off x="960" y="1872"/>
              <a:ext cx="240" cy="0"/>
            </a:xfrm>
            <a:prstGeom prst="line">
              <a:avLst/>
            </a:prstGeom>
            <a:noFill/>
            <a:ln w="9525">
              <a:solidFill>
                <a:schemeClr val="tx1"/>
              </a:solidFill>
              <a:round/>
              <a:headEnd type="triangle" w="lg"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7096" name="Line 8"/>
            <p:cNvSpPr>
              <a:spLocks noChangeShapeType="1"/>
            </p:cNvSpPr>
            <p:nvPr/>
          </p:nvSpPr>
          <p:spPr bwMode="auto">
            <a:xfrm>
              <a:off x="2064" y="1872"/>
              <a:ext cx="192"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7097" name="AutoShape 9"/>
            <p:cNvSpPr>
              <a:spLocks noChangeArrowheads="1"/>
            </p:cNvSpPr>
            <p:nvPr/>
          </p:nvSpPr>
          <p:spPr bwMode="auto">
            <a:xfrm>
              <a:off x="1200" y="1488"/>
              <a:ext cx="864" cy="816"/>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班主任</a:t>
              </a:r>
              <a:endPar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endParaRPr>
            </a:p>
          </p:txBody>
        </p:sp>
      </p:grpSp>
      <p:graphicFrame>
        <p:nvGraphicFramePr>
          <p:cNvPr id="217098" name="Group 10"/>
          <p:cNvGraphicFramePr>
            <a:graphicFrameLocks noGrp="1"/>
          </p:cNvGraphicFramePr>
          <p:nvPr/>
        </p:nvGraphicFramePr>
        <p:xfrm>
          <a:off x="1152525" y="4913313"/>
          <a:ext cx="7083425" cy="1038226"/>
        </p:xfrm>
        <a:graphic>
          <a:graphicData uri="http://schemas.openxmlformats.org/drawingml/2006/table">
            <a:tbl>
              <a:tblPr/>
              <a:tblGrid>
                <a:gridCol w="1589088"/>
                <a:gridCol w="1589087"/>
                <a:gridCol w="1590675"/>
                <a:gridCol w="2314575"/>
              </a:tblGrid>
              <a:tr h="519113">
                <a:tc gridSpan="4">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学生号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学生名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系号</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华文新魏" panose="02010800040101010101" charset="-122"/>
                          <a:ea typeface="宋体" panose="02010600030101010101" pitchFamily="2" charset="-122"/>
                        </a:rPr>
                        <a:t>班主任教工号</a:t>
                      </a:r>
                      <a:endParaRPr kumimoji="1" lang="zh-CN" altLang="en-US" sz="1600" b="0" i="0" u="none" strike="noStrike" cap="none" normalizeH="0" baseline="0">
                        <a:ln>
                          <a:noFill/>
                        </a:ln>
                        <a:solidFill>
                          <a:schemeClr val="tx1"/>
                        </a:solidFill>
                        <a:effectLst/>
                        <a:latin typeface="华文新魏" panose="02010800040101010101" charset="-122"/>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6146" name="表格 176145"/>
          <p:cNvGraphicFramePr/>
          <p:nvPr/>
        </p:nvGraphicFramePr>
        <p:xfrm>
          <a:off x="2889250" y="3648075"/>
          <a:ext cx="3335338" cy="1038225"/>
        </p:xfrm>
        <a:graphic>
          <a:graphicData uri="http://schemas.openxmlformats.org/drawingml/2006/table">
            <a:tbl>
              <a:tblPr/>
              <a:tblGrid>
                <a:gridCol w="1668463"/>
                <a:gridCol w="1666875"/>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教师</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教工号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教工名</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77185" name="AutoShape 34"/>
          <p:cNvCxnSpPr/>
          <p:nvPr/>
        </p:nvCxnSpPr>
        <p:spPr>
          <a:xfrm rot="5400000" flipH="1">
            <a:off x="5027613" y="3379788"/>
            <a:ext cx="746125" cy="3355975"/>
          </a:xfrm>
          <a:prstGeom prst="curvedConnector3">
            <a:avLst>
              <a:gd name="adj1" fmla="val 50000"/>
            </a:avLst>
          </a:prstGeom>
          <a:ln w="9525" cap="flat" cmpd="sng">
            <a:solidFill>
              <a:schemeClr val="tx1"/>
            </a:solidFill>
            <a:prstDash val="dash"/>
            <a:round/>
            <a:headEnd type="oval" w="med" len="med"/>
            <a:tailEnd type="triangle" w="med" len="med"/>
          </a:ln>
        </p:spPr>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grpSp>
        <p:nvGrpSpPr>
          <p:cNvPr id="178178" name="Group 3"/>
          <p:cNvGrpSpPr/>
          <p:nvPr/>
        </p:nvGrpSpPr>
        <p:grpSpPr>
          <a:xfrm>
            <a:off x="3348038" y="2565400"/>
            <a:ext cx="2514600" cy="1066800"/>
            <a:chOff x="768" y="2928"/>
            <a:chExt cx="1584" cy="672"/>
          </a:xfrm>
        </p:grpSpPr>
        <p:sp>
          <p:nvSpPr>
            <p:cNvPr id="178179" name="Text Box 4"/>
            <p:cNvSpPr txBox="1"/>
            <p:nvPr/>
          </p:nvSpPr>
          <p:spPr>
            <a:xfrm>
              <a:off x="768" y="3081"/>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职工</a:t>
              </a:r>
              <a:endParaRPr lang="zh-CN" altLang="en-US" sz="2400" dirty="0">
                <a:latin typeface="Times New Roman" panose="02020603050405020304" charset="0"/>
                <a:ea typeface="华文新魏" panose="02010800040101010101" charset="-122"/>
              </a:endParaRPr>
            </a:p>
          </p:txBody>
        </p:sp>
        <p:sp>
          <p:nvSpPr>
            <p:cNvPr id="218117" name="AutoShape 5"/>
            <p:cNvSpPr>
              <a:spLocks noChangeArrowheads="1"/>
            </p:cNvSpPr>
            <p:nvPr/>
          </p:nvSpPr>
          <p:spPr bwMode="auto">
            <a:xfrm>
              <a:off x="1728" y="2928"/>
              <a:ext cx="624" cy="672"/>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领导</a:t>
              </a:r>
              <a:endPar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18118" name="Line 6"/>
            <p:cNvSpPr>
              <a:spLocks noChangeShapeType="1"/>
            </p:cNvSpPr>
            <p:nvPr/>
          </p:nvSpPr>
          <p:spPr bwMode="auto">
            <a:xfrm>
              <a:off x="1344" y="3168"/>
              <a:ext cx="48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8119" name="Line 7"/>
            <p:cNvSpPr>
              <a:spLocks noChangeShapeType="1"/>
            </p:cNvSpPr>
            <p:nvPr/>
          </p:nvSpPr>
          <p:spPr bwMode="auto">
            <a:xfrm>
              <a:off x="1344" y="3360"/>
              <a:ext cx="480" cy="0"/>
            </a:xfrm>
            <a:prstGeom prst="line">
              <a:avLst/>
            </a:prstGeom>
            <a:noFill/>
            <a:ln w="952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78183" name="Text Box 8"/>
            <p:cNvSpPr txBox="1"/>
            <p:nvPr/>
          </p:nvSpPr>
          <p:spPr>
            <a:xfrm>
              <a:off x="1296" y="3312"/>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领导</a:t>
              </a:r>
              <a:endParaRPr lang="zh-CN" altLang="en-US" sz="2400">
                <a:latin typeface="Times New Roman" panose="02020603050405020304" charset="0"/>
                <a:ea typeface="华文新魏" panose="02010800040101010101" charset="-122"/>
              </a:endParaRPr>
            </a:p>
          </p:txBody>
        </p:sp>
        <p:sp>
          <p:nvSpPr>
            <p:cNvPr id="178184" name="Text Box 9"/>
            <p:cNvSpPr txBox="1"/>
            <p:nvPr/>
          </p:nvSpPr>
          <p:spPr>
            <a:xfrm>
              <a:off x="1296" y="2928"/>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属下</a:t>
              </a:r>
              <a:endParaRPr lang="zh-CN" altLang="en-US" sz="2400">
                <a:latin typeface="Times New Roman" panose="02020603050405020304" charset="0"/>
                <a:ea typeface="华文新魏" panose="02010800040101010101" charset="-122"/>
              </a:endParaRPr>
            </a:p>
          </p:txBody>
        </p:sp>
      </p:grpSp>
      <p:graphicFrame>
        <p:nvGraphicFramePr>
          <p:cNvPr id="177155" name="表格 177154"/>
          <p:cNvGraphicFramePr/>
          <p:nvPr/>
        </p:nvGraphicFramePr>
        <p:xfrm>
          <a:off x="1331913" y="4365625"/>
          <a:ext cx="6581775" cy="675508"/>
        </p:xfrm>
        <a:graphic>
          <a:graphicData uri="http://schemas.openxmlformats.org/drawingml/2006/table">
            <a:tbl>
              <a:tblPr/>
              <a:tblGrid>
                <a:gridCol w="1524000"/>
                <a:gridCol w="1524000"/>
                <a:gridCol w="1524000"/>
                <a:gridCol w="2009775"/>
              </a:tblGrid>
              <a:tr h="338138">
                <a:tc gridSpan="4">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职工</a:t>
                      </a:r>
                      <a:endParaRPr lang="zh-CN" altLang="en-US" dirty="0">
                        <a:solidFill>
                          <a:schemeClr val="hlink"/>
                        </a:solidFill>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职工名</a:t>
                      </a:r>
                      <a:endParaRPr lang="zh-CN" altLang="en-US" dirty="0">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工资</a:t>
                      </a:r>
                      <a:endParaRPr lang="zh-CN" altLang="en-US" dirty="0">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400" dirty="0">
                          <a:latin typeface="华文新魏" panose="02010800040101010101" charset="-122"/>
                          <a:ea typeface="宋体" panose="02010600030101010101" pitchFamily="2" charset="-122"/>
                        </a:rPr>
                        <a:t>领导职工号</a:t>
                      </a:r>
                      <a:endParaRPr lang="zh-CN" altLang="en-US" sz="1400" dirty="0">
                        <a:latin typeface="华文新魏" panose="02010800040101010101" charset="-122"/>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78199" name="AutoShape 24"/>
          <p:cNvCxnSpPr/>
          <p:nvPr/>
        </p:nvCxnSpPr>
        <p:spPr>
          <a:xfrm rot="5400000">
            <a:off x="4500563" y="2997200"/>
            <a:ext cx="1587" cy="4814888"/>
          </a:xfrm>
          <a:prstGeom prst="curvedConnector3">
            <a:avLst>
              <a:gd name="adj1" fmla="val 34200000"/>
            </a:avLst>
          </a:prstGeom>
          <a:ln w="9525" cap="flat" cmpd="sng">
            <a:solidFill>
              <a:schemeClr val="tx1"/>
            </a:solidFill>
            <a:prstDash val="dash"/>
            <a:round/>
            <a:headEnd type="oval" w="med" len="med"/>
            <a:tailEnd type="triangle" w="med" len="med"/>
          </a:ln>
        </p:spPr>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grpSp>
        <p:nvGrpSpPr>
          <p:cNvPr id="179202" name="Group 3"/>
          <p:cNvGrpSpPr/>
          <p:nvPr/>
        </p:nvGrpSpPr>
        <p:grpSpPr>
          <a:xfrm>
            <a:off x="2714625" y="2109788"/>
            <a:ext cx="3657600" cy="1295400"/>
            <a:chOff x="576" y="1728"/>
            <a:chExt cx="2304" cy="816"/>
          </a:xfrm>
        </p:grpSpPr>
        <p:sp>
          <p:nvSpPr>
            <p:cNvPr id="179203" name="Text Box 4"/>
            <p:cNvSpPr txBox="1"/>
            <p:nvPr/>
          </p:nvSpPr>
          <p:spPr>
            <a:xfrm>
              <a:off x="576" y="1977"/>
              <a:ext cx="576" cy="327"/>
            </a:xfrm>
            <a:prstGeom prst="rect">
              <a:avLst/>
            </a:prstGeom>
            <a:solidFill>
              <a:srgbClr val="33CCCC"/>
            </a:solidFill>
            <a:ln w="9525">
              <a:noFill/>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学生</a:t>
              </a:r>
              <a:endParaRPr lang="zh-CN" altLang="en-US" sz="2400">
                <a:latin typeface="Times New Roman" panose="02020603050405020304" charset="0"/>
                <a:ea typeface="华文新魏" panose="02010800040101010101" charset="-122"/>
              </a:endParaRPr>
            </a:p>
          </p:txBody>
        </p:sp>
        <p:sp>
          <p:nvSpPr>
            <p:cNvPr id="179204" name="Text Box 5"/>
            <p:cNvSpPr txBox="1"/>
            <p:nvPr/>
          </p:nvSpPr>
          <p:spPr>
            <a:xfrm>
              <a:off x="2304" y="1977"/>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课程</a:t>
              </a:r>
              <a:endParaRPr lang="zh-CN" altLang="en-US" sz="2400" dirty="0">
                <a:latin typeface="Times New Roman" panose="02020603050405020304" charset="0"/>
                <a:ea typeface="华文新魏" panose="02010800040101010101" charset="-122"/>
              </a:endParaRPr>
            </a:p>
          </p:txBody>
        </p:sp>
        <p:sp>
          <p:nvSpPr>
            <p:cNvPr id="219142" name="Line 6"/>
            <p:cNvSpPr>
              <a:spLocks noChangeShapeType="1"/>
            </p:cNvSpPr>
            <p:nvPr/>
          </p:nvSpPr>
          <p:spPr bwMode="auto">
            <a:xfrm>
              <a:off x="1152" y="2112"/>
              <a:ext cx="288"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9143" name="Line 7"/>
            <p:cNvSpPr>
              <a:spLocks noChangeShapeType="1"/>
            </p:cNvSpPr>
            <p:nvPr/>
          </p:nvSpPr>
          <p:spPr bwMode="auto">
            <a:xfrm>
              <a:off x="2064" y="2112"/>
              <a:ext cx="24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79207" name="AutoShape 8"/>
            <p:cNvSpPr/>
            <p:nvPr/>
          </p:nvSpPr>
          <p:spPr>
            <a:xfrm>
              <a:off x="1392" y="1728"/>
              <a:ext cx="672" cy="816"/>
            </a:xfrm>
            <a:prstGeom prst="diamond">
              <a:avLst/>
            </a:prstGeom>
            <a:solidFill>
              <a:srgbClr val="33CCCC"/>
            </a:solidFill>
            <a:ln w="9525" cap="flat" cmpd="sng">
              <a:solidFill>
                <a:schemeClr val="tx1"/>
              </a:solidFill>
              <a:prstDash val="solid"/>
              <a:miter/>
              <a:headEnd type="none" w="med" len="med"/>
              <a:tailEnd type="none" w="med" len="med"/>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800" dirty="0">
                  <a:latin typeface="Times New Roman" panose="02020603050405020304" charset="0"/>
                  <a:ea typeface="华文新魏" panose="02010800040101010101" charset="-122"/>
                </a:rPr>
                <a:t>选修</a:t>
              </a:r>
              <a:endParaRPr lang="zh-CN" altLang="en-US" sz="2800" dirty="0">
                <a:latin typeface="Times New Roman" panose="02020603050405020304" charset="0"/>
                <a:ea typeface="华文新魏" panose="02010800040101010101" charset="-122"/>
              </a:endParaRPr>
            </a:p>
          </p:txBody>
        </p:sp>
      </p:grpSp>
      <p:graphicFrame>
        <p:nvGraphicFramePr>
          <p:cNvPr id="219145" name="Group 9"/>
          <p:cNvGraphicFramePr>
            <a:graphicFrameLocks noGrp="1"/>
          </p:cNvGraphicFramePr>
          <p:nvPr/>
        </p:nvGraphicFramePr>
        <p:xfrm>
          <a:off x="322263" y="4252913"/>
          <a:ext cx="2592387" cy="1095375"/>
        </p:xfrm>
        <a:graphic>
          <a:graphicData uri="http://schemas.openxmlformats.org/drawingml/2006/table">
            <a:tbl>
              <a:tblPr/>
              <a:tblGrid>
                <a:gridCol w="1333500"/>
                <a:gridCol w="1258887"/>
              </a:tblGrid>
              <a:tr h="576262">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学生号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学生名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8189" name="表格占位符 178188"/>
          <p:cNvGraphicFramePr>
            <a:graphicFrameLocks noGrp="1"/>
          </p:cNvGraphicFramePr>
          <p:nvPr>
            <p:ph type="tbl" idx="1"/>
          </p:nvPr>
        </p:nvGraphicFramePr>
        <p:xfrm>
          <a:off x="3465513" y="3941763"/>
          <a:ext cx="2276475" cy="984250"/>
        </p:xfrm>
        <a:graphic>
          <a:graphicData uri="http://schemas.openxmlformats.org/drawingml/2006/table">
            <a:tbl>
              <a:tblPr/>
              <a:tblGrid>
                <a:gridCol w="1171575"/>
                <a:gridCol w="1104900"/>
              </a:tblGrid>
              <a:tr h="492125">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课程</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492125">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课程号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课程名</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78199" name="表格 178198"/>
          <p:cNvGraphicFramePr/>
          <p:nvPr/>
        </p:nvGraphicFramePr>
        <p:xfrm>
          <a:off x="6083300" y="4310063"/>
          <a:ext cx="2881313" cy="1038225"/>
        </p:xfrm>
        <a:graphic>
          <a:graphicData uri="http://schemas.openxmlformats.org/drawingml/2006/table">
            <a:tbl>
              <a:tblPr/>
              <a:tblGrid>
                <a:gridCol w="1441450"/>
                <a:gridCol w="1439863"/>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选修</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学生号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课程号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19175" name="Rectangle 39"/>
          <p:cNvSpPr>
            <a:spLocks noChangeArrowheads="1"/>
          </p:cNvSpPr>
          <p:nvPr/>
        </p:nvSpPr>
        <p:spPr bwMode="auto">
          <a:xfrm>
            <a:off x="228600" y="1341438"/>
            <a:ext cx="8726488" cy="703263"/>
          </a:xfrm>
          <a:prstGeom prst="rect">
            <a:avLst/>
          </a:prstGeom>
          <a:noFill/>
          <a:ln>
            <a:noFill/>
          </a:ln>
          <a:effectLst/>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多对多联系</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：将联系定义为新的关系，属性为参与双方的码</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sym typeface="Symbol" panose="05050102010706020507" charset="2"/>
            </a:endParaRPr>
          </a:p>
        </p:txBody>
      </p:sp>
      <p:cxnSp>
        <p:nvCxnSpPr>
          <p:cNvPr id="179239" name="AutoShape 40"/>
          <p:cNvCxnSpPr/>
          <p:nvPr/>
        </p:nvCxnSpPr>
        <p:spPr>
          <a:xfrm rot="5400000">
            <a:off x="3895725" y="2441575"/>
            <a:ext cx="1588" cy="5815013"/>
          </a:xfrm>
          <a:prstGeom prst="curvedConnector3">
            <a:avLst>
              <a:gd name="adj1" fmla="val 14300000"/>
            </a:avLst>
          </a:prstGeom>
          <a:ln w="9525" cap="flat" cmpd="sng">
            <a:solidFill>
              <a:schemeClr val="tx1"/>
            </a:solidFill>
            <a:prstDash val="dash"/>
            <a:round/>
            <a:headEnd type="oval" w="med" len="med"/>
            <a:tailEnd type="triangle" w="med" len="med"/>
          </a:ln>
        </p:spPr>
      </p:cxnSp>
      <p:cxnSp>
        <p:nvCxnSpPr>
          <p:cNvPr id="179240" name="AutoShape 41"/>
          <p:cNvCxnSpPr/>
          <p:nvPr/>
        </p:nvCxnSpPr>
        <p:spPr>
          <a:xfrm rot="-5400000" flipV="1">
            <a:off x="5937250" y="3040063"/>
            <a:ext cx="422275" cy="4194175"/>
          </a:xfrm>
          <a:prstGeom prst="curvedConnector3">
            <a:avLst>
              <a:gd name="adj1" fmla="val -53759"/>
            </a:avLst>
          </a:prstGeom>
          <a:ln w="9525" cap="flat" cmpd="sng">
            <a:solidFill>
              <a:schemeClr val="tx1"/>
            </a:solidFill>
            <a:prstDash val="dash"/>
            <a:round/>
            <a:headEnd type="oval" w="med" len="med"/>
            <a:tailEnd type="triangle" w="med" len="med"/>
          </a:ln>
        </p:spPr>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grpSp>
        <p:nvGrpSpPr>
          <p:cNvPr id="180226" name="Group 3"/>
          <p:cNvGrpSpPr/>
          <p:nvPr/>
        </p:nvGrpSpPr>
        <p:grpSpPr>
          <a:xfrm>
            <a:off x="3281363" y="2420938"/>
            <a:ext cx="2514600" cy="1066800"/>
            <a:chOff x="480" y="3216"/>
            <a:chExt cx="1584" cy="672"/>
          </a:xfrm>
        </p:grpSpPr>
        <p:sp>
          <p:nvSpPr>
            <p:cNvPr id="180227" name="AutoShape 4"/>
            <p:cNvSpPr/>
            <p:nvPr/>
          </p:nvSpPr>
          <p:spPr>
            <a:xfrm>
              <a:off x="1440" y="3216"/>
              <a:ext cx="624" cy="672"/>
            </a:xfrm>
            <a:prstGeom prst="diamond">
              <a:avLst/>
            </a:prstGeom>
            <a:solidFill>
              <a:srgbClr val="33CCCC"/>
            </a:solidFill>
            <a:ln w="9525" cap="flat" cmpd="sng">
              <a:solidFill>
                <a:schemeClr val="tx1"/>
              </a:solidFill>
              <a:prstDash val="solid"/>
              <a:miter/>
              <a:headEnd type="none" w="med" len="med"/>
              <a:tailEnd type="none" w="med" len="med"/>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800" dirty="0">
                  <a:latin typeface="Times New Roman" panose="02020603050405020304" charset="0"/>
                  <a:ea typeface="华文新魏" panose="02010800040101010101" charset="-122"/>
                </a:rPr>
                <a:t>构成</a:t>
              </a:r>
              <a:endParaRPr lang="zh-CN" altLang="en-US" sz="2800" dirty="0">
                <a:latin typeface="Times New Roman" panose="02020603050405020304" charset="0"/>
                <a:ea typeface="华文新魏" panose="02010800040101010101" charset="-122"/>
              </a:endParaRPr>
            </a:p>
          </p:txBody>
        </p:sp>
        <p:sp>
          <p:nvSpPr>
            <p:cNvPr id="180228" name="Text Box 5"/>
            <p:cNvSpPr txBox="1"/>
            <p:nvPr/>
          </p:nvSpPr>
          <p:spPr>
            <a:xfrm>
              <a:off x="480" y="3369"/>
              <a:ext cx="576" cy="327"/>
            </a:xfrm>
            <a:prstGeom prst="rect">
              <a:avLst/>
            </a:prstGeom>
            <a:solidFill>
              <a:srgbClr val="33CCCC"/>
            </a:solidFill>
            <a:ln w="9525">
              <a:noFill/>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零件</a:t>
              </a:r>
              <a:endParaRPr lang="zh-CN" altLang="en-US" sz="2400">
                <a:latin typeface="Times New Roman" panose="02020603050405020304" charset="0"/>
                <a:ea typeface="华文新魏" panose="02010800040101010101" charset="-122"/>
              </a:endParaRPr>
            </a:p>
          </p:txBody>
        </p:sp>
        <p:sp>
          <p:nvSpPr>
            <p:cNvPr id="220166" name="Line 6"/>
            <p:cNvSpPr>
              <a:spLocks noChangeShapeType="1"/>
            </p:cNvSpPr>
            <p:nvPr/>
          </p:nvSpPr>
          <p:spPr bwMode="auto">
            <a:xfrm>
              <a:off x="1056" y="3456"/>
              <a:ext cx="48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0167" name="Line 7"/>
            <p:cNvSpPr>
              <a:spLocks noChangeShapeType="1"/>
            </p:cNvSpPr>
            <p:nvPr/>
          </p:nvSpPr>
          <p:spPr bwMode="auto">
            <a:xfrm>
              <a:off x="1056" y="3648"/>
              <a:ext cx="48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0231" name="Text Box 8"/>
            <p:cNvSpPr txBox="1"/>
            <p:nvPr/>
          </p:nvSpPr>
          <p:spPr>
            <a:xfrm>
              <a:off x="960" y="3216"/>
              <a:ext cx="672"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母零件</a:t>
              </a:r>
              <a:endParaRPr lang="zh-CN" altLang="en-US" sz="2400">
                <a:latin typeface="Times New Roman" panose="02020603050405020304" charset="0"/>
                <a:ea typeface="华文新魏" panose="02010800040101010101" charset="-122"/>
              </a:endParaRPr>
            </a:p>
          </p:txBody>
        </p:sp>
        <p:sp>
          <p:nvSpPr>
            <p:cNvPr id="180232" name="Text Box 9"/>
            <p:cNvSpPr txBox="1"/>
            <p:nvPr/>
          </p:nvSpPr>
          <p:spPr>
            <a:xfrm>
              <a:off x="960" y="3638"/>
              <a:ext cx="672"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子零件</a:t>
              </a:r>
              <a:endParaRPr lang="zh-CN" altLang="en-US" sz="2400">
                <a:latin typeface="Times New Roman" panose="02020603050405020304" charset="0"/>
                <a:ea typeface="华文新魏" panose="02010800040101010101" charset="-122"/>
              </a:endParaRPr>
            </a:p>
          </p:txBody>
        </p:sp>
      </p:grpSp>
      <p:graphicFrame>
        <p:nvGraphicFramePr>
          <p:cNvPr id="220170" name="Group 10"/>
          <p:cNvGraphicFramePr>
            <a:graphicFrameLocks noGrp="1"/>
          </p:cNvGraphicFramePr>
          <p:nvPr/>
        </p:nvGraphicFramePr>
        <p:xfrm>
          <a:off x="1619250" y="4224338"/>
          <a:ext cx="2592388" cy="1038226"/>
        </p:xfrm>
        <a:graphic>
          <a:graphicData uri="http://schemas.openxmlformats.org/drawingml/2006/table">
            <a:tbl>
              <a:tblPr/>
              <a:tblGrid>
                <a:gridCol w="1335088"/>
                <a:gridCol w="1257300"/>
              </a:tblGrid>
              <a:tr h="519113">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零件</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零件号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零件名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9213" name="表格 179212"/>
          <p:cNvGraphicFramePr/>
          <p:nvPr/>
        </p:nvGraphicFramePr>
        <p:xfrm>
          <a:off x="4500563" y="4224338"/>
          <a:ext cx="3455988" cy="1038225"/>
        </p:xfrm>
        <a:graphic>
          <a:graphicData uri="http://schemas.openxmlformats.org/drawingml/2006/table">
            <a:tbl>
              <a:tblPr/>
              <a:tblGrid>
                <a:gridCol w="1728788"/>
                <a:gridCol w="1727200"/>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构成</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母零件号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子零件号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80253" name="AutoShape 30"/>
          <p:cNvCxnSpPr/>
          <p:nvPr/>
        </p:nvCxnSpPr>
        <p:spPr>
          <a:xfrm rot="5400000">
            <a:off x="3825875" y="3724275"/>
            <a:ext cx="1588" cy="3078163"/>
          </a:xfrm>
          <a:prstGeom prst="curvedConnector3">
            <a:avLst>
              <a:gd name="adj1" fmla="val 14300000"/>
            </a:avLst>
          </a:prstGeom>
          <a:ln w="9525" cap="flat" cmpd="sng">
            <a:solidFill>
              <a:schemeClr val="tx1"/>
            </a:solidFill>
            <a:prstDash val="dash"/>
            <a:round/>
            <a:headEnd type="oval" w="med" len="med"/>
            <a:tailEnd type="triangle" w="med" len="med"/>
          </a:ln>
        </p:spPr>
      </p:cxnSp>
      <p:cxnSp>
        <p:nvCxnSpPr>
          <p:cNvPr id="180254" name="AutoShape 31"/>
          <p:cNvCxnSpPr/>
          <p:nvPr/>
        </p:nvCxnSpPr>
        <p:spPr>
          <a:xfrm rot="5400000">
            <a:off x="4689475" y="2860675"/>
            <a:ext cx="1588" cy="4805363"/>
          </a:xfrm>
          <a:prstGeom prst="curvedConnector3">
            <a:avLst>
              <a:gd name="adj1" fmla="val 14300000"/>
            </a:avLst>
          </a:prstGeom>
          <a:ln w="9525" cap="flat" cmpd="sng">
            <a:solidFill>
              <a:schemeClr val="tx1"/>
            </a:solidFill>
            <a:prstDash val="dash"/>
            <a:round/>
            <a:headEnd type="oval" w="med" len="med"/>
            <a:tailEnd type="triangle" w="med" len="med"/>
          </a:ln>
        </p:spPr>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21187" name="Rectangle 3"/>
          <p:cNvSpPr>
            <a:spLocks noGrp="1" noChangeArrowheads="1"/>
          </p:cNvSpPr>
          <p:nvPr>
            <p:ph idx="1"/>
          </p:nvPr>
        </p:nvSpPr>
        <p:spPr>
          <a:xfrm>
            <a:off x="279400" y="1222375"/>
            <a:ext cx="8664575" cy="1039813"/>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一对一联系</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：若联系双方均部分参与，则将联系定义为一个新的关系，属性为参与双方的码</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grpSp>
        <p:nvGrpSpPr>
          <p:cNvPr id="181251" name="Group 4"/>
          <p:cNvGrpSpPr/>
          <p:nvPr/>
        </p:nvGrpSpPr>
        <p:grpSpPr>
          <a:xfrm>
            <a:off x="3136900" y="2636838"/>
            <a:ext cx="2514600" cy="1066800"/>
            <a:chOff x="624" y="1824"/>
            <a:chExt cx="1584" cy="672"/>
          </a:xfrm>
        </p:grpSpPr>
        <p:sp>
          <p:nvSpPr>
            <p:cNvPr id="181252" name="Text Box 5"/>
            <p:cNvSpPr txBox="1"/>
            <p:nvPr/>
          </p:nvSpPr>
          <p:spPr>
            <a:xfrm>
              <a:off x="624" y="1977"/>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楷体_GB2312" pitchFamily="49" charset="-122"/>
                </a:rPr>
                <a:t>职工</a:t>
              </a:r>
              <a:endParaRPr lang="zh-CN" altLang="en-US" sz="2400" dirty="0">
                <a:latin typeface="Times New Roman" panose="02020603050405020304" charset="0"/>
              </a:endParaRPr>
            </a:p>
          </p:txBody>
        </p:sp>
        <p:sp>
          <p:nvSpPr>
            <p:cNvPr id="221190" name="Line 6"/>
            <p:cNvSpPr>
              <a:spLocks noChangeShapeType="1"/>
            </p:cNvSpPr>
            <p:nvPr/>
          </p:nvSpPr>
          <p:spPr bwMode="auto">
            <a:xfrm>
              <a:off x="1200" y="2064"/>
              <a:ext cx="480" cy="0"/>
            </a:xfrm>
            <a:prstGeom prst="line">
              <a:avLst/>
            </a:prstGeom>
            <a:noFill/>
            <a:ln w="9525">
              <a:solidFill>
                <a:schemeClr val="tx1"/>
              </a:solidFill>
              <a:round/>
              <a:headEnd type="triangl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1191" name="AutoShape 7"/>
            <p:cNvSpPr>
              <a:spLocks noChangeArrowheads="1"/>
            </p:cNvSpPr>
            <p:nvPr/>
          </p:nvSpPr>
          <p:spPr bwMode="auto">
            <a:xfrm>
              <a:off x="1584" y="1824"/>
              <a:ext cx="624" cy="672"/>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配偶</a:t>
              </a:r>
              <a:endPar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21192" name="Line 8"/>
            <p:cNvSpPr>
              <a:spLocks noChangeShapeType="1"/>
            </p:cNvSpPr>
            <p:nvPr/>
          </p:nvSpPr>
          <p:spPr bwMode="auto">
            <a:xfrm>
              <a:off x="1200" y="2256"/>
              <a:ext cx="480" cy="0"/>
            </a:xfrm>
            <a:prstGeom prst="line">
              <a:avLst/>
            </a:prstGeom>
            <a:noFill/>
            <a:ln w="952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1256" name="Text Box 9"/>
            <p:cNvSpPr txBox="1"/>
            <p:nvPr/>
          </p:nvSpPr>
          <p:spPr>
            <a:xfrm>
              <a:off x="1200" y="2208"/>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楷体_GB2312" pitchFamily="49" charset="-122"/>
                </a:rPr>
                <a:t>丈夫</a:t>
              </a:r>
              <a:endParaRPr lang="zh-CN" altLang="en-US" sz="2400">
                <a:latin typeface="Times New Roman" panose="02020603050405020304" charset="0"/>
                <a:ea typeface="MS PGothic" panose="020B0600070205080204" pitchFamily="34" charset="-128"/>
              </a:endParaRPr>
            </a:p>
          </p:txBody>
        </p:sp>
        <p:sp>
          <p:nvSpPr>
            <p:cNvPr id="181257" name="Text Box 10"/>
            <p:cNvSpPr txBox="1"/>
            <p:nvPr/>
          </p:nvSpPr>
          <p:spPr>
            <a:xfrm>
              <a:off x="1200" y="1824"/>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楷体_GB2312" pitchFamily="49" charset="-122"/>
                </a:rPr>
                <a:t>妻子</a:t>
              </a:r>
              <a:endParaRPr lang="zh-CN" altLang="en-US" sz="2400">
                <a:latin typeface="Times New Roman" panose="02020603050405020304" charset="0"/>
                <a:ea typeface="MS PGothic" panose="020B0600070205080204" pitchFamily="34" charset="-128"/>
              </a:endParaRPr>
            </a:p>
          </p:txBody>
        </p:sp>
      </p:grpSp>
      <p:graphicFrame>
        <p:nvGraphicFramePr>
          <p:cNvPr id="180228" name="表格 180227"/>
          <p:cNvGraphicFramePr/>
          <p:nvPr/>
        </p:nvGraphicFramePr>
        <p:xfrm>
          <a:off x="4572000" y="4422775"/>
          <a:ext cx="4392613" cy="1013761"/>
        </p:xfrm>
        <a:graphic>
          <a:graphicData uri="http://schemas.openxmlformats.org/drawingml/2006/table">
            <a:tbl>
              <a:tblPr/>
              <a:tblGrid>
                <a:gridCol w="2197100"/>
                <a:gridCol w="2195513"/>
              </a:tblGrid>
              <a:tr h="3381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配偶</a:t>
                      </a:r>
                      <a:endParaRPr lang="zh-CN" altLang="en-US" dirty="0">
                        <a:solidFill>
                          <a:schemeClr val="hlink"/>
                        </a:solidFill>
                        <a:latin typeface="Helvetica" charset="0"/>
                        <a:ea typeface="宋体" panose="02010600030101010101" pitchFamily="2" charset="-122"/>
                      </a:endParaRPr>
                    </a:p>
                  </a:txBody>
                  <a:tcPr marL="90000" marR="90000" marT="46823" marB="46823">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丈夫职工号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23" marB="46823">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妻子职工号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23" marB="4682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8137">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e2</a:t>
                      </a:r>
                      <a:endParaRPr lang="en-US" altLang="zh-CN" dirty="0">
                        <a:latin typeface="Helvetica" charset="0"/>
                        <a:ea typeface="宋体" panose="02010600030101010101" pitchFamily="2" charset="-122"/>
                      </a:endParaRPr>
                    </a:p>
                  </a:txBody>
                  <a:tcPr marL="90000" marR="90000" marT="46823" marB="46823">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e3</a:t>
                      </a:r>
                      <a:endParaRPr lang="en-US" altLang="zh-CN" dirty="0">
                        <a:latin typeface="Helvetica" charset="0"/>
                        <a:ea typeface="宋体" panose="02010600030101010101" pitchFamily="2" charset="-122"/>
                      </a:endParaRPr>
                    </a:p>
                  </a:txBody>
                  <a:tcPr marL="90000" marR="90000" marT="46823" marB="4682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80241" name="表格 180240"/>
          <p:cNvGraphicFramePr/>
          <p:nvPr/>
        </p:nvGraphicFramePr>
        <p:xfrm>
          <a:off x="684213" y="3848100"/>
          <a:ext cx="2495550" cy="1689329"/>
        </p:xfrm>
        <a:graphic>
          <a:graphicData uri="http://schemas.openxmlformats.org/drawingml/2006/table">
            <a:tbl>
              <a:tblPr/>
              <a:tblGrid>
                <a:gridCol w="1247775"/>
                <a:gridCol w="1247775"/>
              </a:tblGrid>
              <a:tr h="33813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配偶号</a:t>
                      </a:r>
                      <a:endParaRPr lang="zh-CN" altLang="en-US" dirty="0">
                        <a:latin typeface="Helvetica" charset="0"/>
                        <a:ea typeface="宋体" panose="02010600030101010101" pitchFamily="2" charset="-122"/>
                      </a:endParaRP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e1</a:t>
                      </a:r>
                      <a:endParaRPr lang="en-US" altLang="zh-CN" dirty="0">
                        <a:latin typeface="Helvetica" charset="0"/>
                        <a:ea typeface="宋体" panose="02010600030101010101" pitchFamily="2" charset="-122"/>
                      </a:endParaRP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null</a:t>
                      </a:r>
                      <a:endParaRPr lang="en-US" altLang="zh-CN" dirty="0">
                        <a:latin typeface="Helvetica" charset="0"/>
                        <a:ea typeface="宋体" panose="02010600030101010101" pitchFamily="2" charset="-122"/>
                      </a:endParaRP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8137">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e2</a:t>
                      </a:r>
                      <a:endParaRPr lang="en-US" altLang="zh-CN" dirty="0">
                        <a:latin typeface="Helvetica" charset="0"/>
                        <a:ea typeface="宋体" panose="02010600030101010101" pitchFamily="2" charset="-122"/>
                      </a:endParaRP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e3</a:t>
                      </a:r>
                      <a:endParaRPr lang="en-US" altLang="zh-CN" dirty="0">
                        <a:latin typeface="Helvetica" charset="0"/>
                        <a:ea typeface="宋体" panose="02010600030101010101" pitchFamily="2" charset="-122"/>
                      </a:endParaRP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e3</a:t>
                      </a:r>
                      <a:endParaRPr lang="en-US" altLang="zh-CN" dirty="0">
                        <a:latin typeface="Helvetica" charset="0"/>
                        <a:ea typeface="宋体" panose="02010600030101010101" pitchFamily="2" charset="-122"/>
                      </a:endParaRP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e2</a:t>
                      </a:r>
                      <a:endParaRPr lang="en-US" altLang="zh-CN" dirty="0">
                        <a:latin typeface="Helvetica" charset="0"/>
                        <a:ea typeface="宋体" panose="02010600030101010101" pitchFamily="2" charset="-122"/>
                      </a:endParaRP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813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e4</a:t>
                      </a:r>
                      <a:endParaRPr lang="en-US" altLang="zh-CN" dirty="0">
                        <a:latin typeface="Helvetica" charset="0"/>
                        <a:ea typeface="宋体" panose="02010600030101010101" pitchFamily="2" charset="-122"/>
                      </a:endParaRP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null</a:t>
                      </a:r>
                      <a:endParaRPr lang="en-US" altLang="zh-CN" dirty="0">
                        <a:latin typeface="Helvetica" charset="0"/>
                        <a:ea typeface="宋体" panose="02010600030101010101" pitchFamily="2" charset="-122"/>
                      </a:endParaRP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81291" name="AutoShape 44"/>
          <p:cNvCxnSpPr/>
          <p:nvPr/>
        </p:nvCxnSpPr>
        <p:spPr>
          <a:xfrm rot="10800000">
            <a:off x="1308100" y="3848100"/>
            <a:ext cx="3263900" cy="1354138"/>
          </a:xfrm>
          <a:prstGeom prst="curvedConnector4">
            <a:avLst>
              <a:gd name="adj1" fmla="val 40417"/>
              <a:gd name="adj2" fmla="val 116880"/>
            </a:avLst>
          </a:prstGeom>
          <a:ln w="9525" cap="flat" cmpd="sng">
            <a:solidFill>
              <a:schemeClr val="tx1"/>
            </a:solidFill>
            <a:prstDash val="dash"/>
            <a:round/>
            <a:headEnd type="oval" w="med" len="med"/>
            <a:tailEnd type="triangle" w="med" len="med"/>
          </a:ln>
        </p:spPr>
      </p:cxnSp>
      <p:cxnSp>
        <p:nvCxnSpPr>
          <p:cNvPr id="181292" name="AutoShape 45"/>
          <p:cNvCxnSpPr/>
          <p:nvPr/>
        </p:nvCxnSpPr>
        <p:spPr>
          <a:xfrm rot="-5400000" flipV="1">
            <a:off x="3598863" y="1192213"/>
            <a:ext cx="1352550" cy="7181850"/>
          </a:xfrm>
          <a:prstGeom prst="curvedConnector4">
            <a:avLst>
              <a:gd name="adj1" fmla="val -16903"/>
              <a:gd name="adj2" fmla="val 103181"/>
            </a:avLst>
          </a:prstGeom>
          <a:ln w="9525" cap="flat" cmpd="sng">
            <a:solidFill>
              <a:schemeClr val="tx1"/>
            </a:solidFill>
            <a:prstDash val="dash"/>
            <a:round/>
            <a:headEnd type="oval" w="med" len="med"/>
            <a:tailEnd type="triangle" w="med" len="med"/>
          </a:ln>
        </p:spPr>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22211" name="Rectangle 3"/>
          <p:cNvSpPr>
            <a:spLocks noChangeArrowheads="1"/>
          </p:cNvSpPr>
          <p:nvPr/>
        </p:nvSpPr>
        <p:spPr bwMode="auto">
          <a:xfrm>
            <a:off x="152400" y="1227138"/>
            <a:ext cx="8802688" cy="1152525"/>
          </a:xfrm>
          <a:prstGeom prst="rect">
            <a:avLst/>
          </a:prstGeom>
          <a:noFill/>
          <a:ln>
            <a:noFill/>
          </a:ln>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一对一联系</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：若联系一方全部参与，则将联系另一方的码作为全部参与一方的属性</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sym typeface="Symbol" panose="05050102010706020507" charset="2"/>
            </a:endParaRPr>
          </a:p>
        </p:txBody>
      </p:sp>
      <p:grpSp>
        <p:nvGrpSpPr>
          <p:cNvPr id="182275" name="Group 4"/>
          <p:cNvGrpSpPr/>
          <p:nvPr/>
        </p:nvGrpSpPr>
        <p:grpSpPr>
          <a:xfrm>
            <a:off x="2786063" y="2208213"/>
            <a:ext cx="3657600" cy="1219200"/>
            <a:chOff x="240" y="3360"/>
            <a:chExt cx="2304" cy="768"/>
          </a:xfrm>
        </p:grpSpPr>
        <p:sp>
          <p:nvSpPr>
            <p:cNvPr id="182276" name="Text Box 5"/>
            <p:cNvSpPr txBox="1"/>
            <p:nvPr/>
          </p:nvSpPr>
          <p:spPr>
            <a:xfrm>
              <a:off x="240" y="3609"/>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职工</a:t>
              </a:r>
              <a:endParaRPr lang="zh-CN" altLang="en-US" sz="2400" dirty="0">
                <a:latin typeface="Times New Roman" panose="02020603050405020304" charset="0"/>
                <a:ea typeface="华文新魏" panose="02010800040101010101" charset="-122"/>
              </a:endParaRPr>
            </a:p>
          </p:txBody>
        </p:sp>
        <p:sp>
          <p:nvSpPr>
            <p:cNvPr id="182277" name="Text Box 6"/>
            <p:cNvSpPr txBox="1"/>
            <p:nvPr/>
          </p:nvSpPr>
          <p:spPr>
            <a:xfrm>
              <a:off x="1968" y="3609"/>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部门</a:t>
              </a:r>
              <a:endParaRPr lang="zh-CN" altLang="en-US" sz="2400" dirty="0">
                <a:latin typeface="Times New Roman" panose="02020603050405020304" charset="0"/>
                <a:ea typeface="华文新魏" panose="02010800040101010101" charset="-122"/>
              </a:endParaRPr>
            </a:p>
          </p:txBody>
        </p:sp>
        <p:sp>
          <p:nvSpPr>
            <p:cNvPr id="222215" name="AutoShape 7"/>
            <p:cNvSpPr>
              <a:spLocks noChangeArrowheads="1"/>
            </p:cNvSpPr>
            <p:nvPr/>
          </p:nvSpPr>
          <p:spPr bwMode="auto">
            <a:xfrm>
              <a:off x="1008" y="3360"/>
              <a:ext cx="672" cy="768"/>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管理</a:t>
              </a:r>
              <a:endPar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22216" name="Line 8"/>
            <p:cNvSpPr>
              <a:spLocks noChangeShapeType="1"/>
            </p:cNvSpPr>
            <p:nvPr/>
          </p:nvSpPr>
          <p:spPr bwMode="auto">
            <a:xfrm>
              <a:off x="816" y="3744"/>
              <a:ext cx="192" cy="0"/>
            </a:xfrm>
            <a:prstGeom prst="line">
              <a:avLst/>
            </a:prstGeom>
            <a:noFill/>
            <a:ln w="9525">
              <a:solidFill>
                <a:schemeClr val="tx1"/>
              </a:solidFill>
              <a:round/>
              <a:headEnd type="triangle" w="lg"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2217" name="Line 9"/>
            <p:cNvSpPr>
              <a:spLocks noChangeShapeType="1"/>
            </p:cNvSpPr>
            <p:nvPr/>
          </p:nvSpPr>
          <p:spPr bwMode="auto">
            <a:xfrm>
              <a:off x="1680" y="3744"/>
              <a:ext cx="288" cy="0"/>
            </a:xfrm>
            <a:prstGeom prst="line">
              <a:avLst/>
            </a:prstGeom>
            <a:noFill/>
            <a:ln w="9525">
              <a:solidFill>
                <a:schemeClr val="tx1"/>
              </a:solidFill>
              <a:round/>
              <a:tailEnd type="triangle" w="lg"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81252" name="表格 181251"/>
          <p:cNvGraphicFramePr/>
          <p:nvPr/>
        </p:nvGraphicFramePr>
        <p:xfrm>
          <a:off x="1524000" y="3665538"/>
          <a:ext cx="6096000" cy="758825"/>
        </p:xfrm>
        <a:graphic>
          <a:graphicData uri="http://schemas.openxmlformats.org/drawingml/2006/table">
            <a:tbl>
              <a:tblPr/>
              <a:tblGrid>
                <a:gridCol w="2032000"/>
                <a:gridCol w="2032000"/>
                <a:gridCol w="2032000"/>
              </a:tblGrid>
              <a:tr h="404813">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部门</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540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部门号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Times New Roman" panose="02020603050405020304" charset="0"/>
                          <a:ea typeface="宋体" panose="02010600030101010101" pitchFamily="2" charset="-122"/>
                        </a:rPr>
                        <a:t>部门名</a:t>
                      </a:r>
                      <a:endParaRPr lang="zh-CN" altLang="en-US" sz="1800"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Times New Roman" panose="02020603050405020304" charset="0"/>
                          <a:ea typeface="宋体" panose="02010600030101010101" pitchFamily="2" charset="-122"/>
                        </a:rPr>
                        <a:t>管理职工号</a:t>
                      </a:r>
                      <a:endParaRPr lang="zh-CN" altLang="en-US" dirty="0">
                        <a:latin typeface="Times New Roman" panose="02020603050405020304"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81264" name="表格 181263"/>
          <p:cNvGraphicFramePr/>
          <p:nvPr/>
        </p:nvGraphicFramePr>
        <p:xfrm>
          <a:off x="3048000" y="4932363"/>
          <a:ext cx="3048000" cy="790575"/>
        </p:xfrm>
        <a:graphic>
          <a:graphicData uri="http://schemas.openxmlformats.org/drawingml/2006/table">
            <a:tbl>
              <a:tblPr/>
              <a:tblGrid>
                <a:gridCol w="1524000"/>
                <a:gridCol w="1524000"/>
              </a:tblGrid>
              <a:tr h="361950">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职工</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428625">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职工名</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82303" name="AutoShape 32"/>
          <p:cNvCxnSpPr/>
          <p:nvPr/>
        </p:nvCxnSpPr>
        <p:spPr>
          <a:xfrm rot="5400000">
            <a:off x="4281488" y="3186113"/>
            <a:ext cx="1084262" cy="3556000"/>
          </a:xfrm>
          <a:prstGeom prst="curvedConnector4">
            <a:avLst>
              <a:gd name="adj1" fmla="val 39972"/>
              <a:gd name="adj2" fmla="val 106431"/>
            </a:avLst>
          </a:prstGeom>
          <a:ln w="9525" cap="flat" cmpd="sng">
            <a:solidFill>
              <a:schemeClr val="tx1"/>
            </a:solidFill>
            <a:prstDash val="dash"/>
            <a:round/>
            <a:headEnd type="oval" w="med" len="med"/>
            <a:tailEnd type="triangle" w="med" len="med"/>
          </a:ln>
        </p:spPr>
      </p:cxn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23235" name="Rectangle 3"/>
          <p:cNvSpPr>
            <a:spLocks noGrp="1" noChangeArrowheads="1"/>
          </p:cNvSpPr>
          <p:nvPr>
            <p:ph type="body" sz="half" idx="1"/>
          </p:nvPr>
        </p:nvSpPr>
        <p:spPr>
          <a:xfrm>
            <a:off x="265113" y="1093788"/>
            <a:ext cx="8661400" cy="97472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弱实体集</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：所对应的关系的码由弱实体集本身的分辩符再加上所依赖的强实体集的码</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sp>
        <p:nvSpPr>
          <p:cNvPr id="183299" name="Rectangle 4"/>
          <p:cNvSpPr/>
          <p:nvPr/>
        </p:nvSpPr>
        <p:spPr>
          <a:xfrm>
            <a:off x="304800" y="5540375"/>
            <a:ext cx="8001000" cy="762000"/>
          </a:xfrm>
          <a:prstGeom prst="rect">
            <a:avLst/>
          </a:prstGeom>
          <a:noFill/>
          <a:ln w="9525">
            <a:noFill/>
          </a:ln>
        </p:spPr>
        <p:txBody>
          <a:bodyPr anchor="t" anchorCtr="0"/>
          <a:lstStyle/>
          <a:p>
            <a:pPr marL="742950" lvl="1" indent="-285750" eaLnBrk="0" hangingPunct="0">
              <a:spcBef>
                <a:spcPct val="35000"/>
              </a:spcBef>
              <a:buClr>
                <a:schemeClr val="hlink"/>
              </a:buClr>
              <a:buSzPct val="80000"/>
              <a:buFont typeface="Monotype Sorts" charset="2"/>
            </a:pPr>
            <a:r>
              <a:rPr lang="zh-CN" altLang="en-US" dirty="0">
                <a:latin typeface="Helvetica" charset="0"/>
                <a:ea typeface="MS PGothic" panose="020B0600070205080204" charset="-122"/>
                <a:sym typeface="Symbol" panose="05050102010706020507" charset="2"/>
              </a:rPr>
              <a:t>	</a:t>
            </a:r>
            <a:endParaRPr lang="zh-CN" altLang="en-US" dirty="0">
              <a:latin typeface="Helvetica" charset="0"/>
              <a:ea typeface="MS PGothic" panose="020B0600070205080204" charset="-122"/>
            </a:endParaRPr>
          </a:p>
        </p:txBody>
      </p:sp>
      <p:grpSp>
        <p:nvGrpSpPr>
          <p:cNvPr id="183300" name="Group 5"/>
          <p:cNvGrpSpPr/>
          <p:nvPr/>
        </p:nvGrpSpPr>
        <p:grpSpPr>
          <a:xfrm>
            <a:off x="735013" y="2049463"/>
            <a:ext cx="8229600" cy="2667000"/>
            <a:chOff x="288" y="1824"/>
            <a:chExt cx="5184" cy="1680"/>
          </a:xfrm>
        </p:grpSpPr>
        <p:sp>
          <p:nvSpPr>
            <p:cNvPr id="223238" name="Text Box 6"/>
            <p:cNvSpPr txBox="1">
              <a:spLocks noChangeArrowheads="1"/>
            </p:cNvSpPr>
            <p:nvPr/>
          </p:nvSpPr>
          <p:spPr bwMode="auto">
            <a:xfrm>
              <a:off x="768" y="2840"/>
              <a:ext cx="86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产品</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23239" name="Text Box 7"/>
            <p:cNvSpPr txBox="1">
              <a:spLocks noChangeArrowheads="1"/>
            </p:cNvSpPr>
            <p:nvPr/>
          </p:nvSpPr>
          <p:spPr bwMode="auto">
            <a:xfrm>
              <a:off x="3696" y="2850"/>
              <a:ext cx="720"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Times New Roman" panose="02020603050405020304" charset="0"/>
                  <a:ea typeface="幼圆" panose="02010509060101010101" pitchFamily="49" charset="-122"/>
                  <a:cs typeface="幼圆" panose="02010509060101010101" pitchFamily="49" charset="-122"/>
                </a:rPr>
                <a:t>公司</a:t>
              </a:r>
              <a:endParaRPr kumimoji="1" lang="zh-CN" altLang="en-US" sz="2000" kern="1200" cap="none" spc="0" normalizeH="0" baseline="0" noProof="0">
                <a:effectLst>
                  <a:outerShdw blurRad="38100" dist="38100" dir="2700000" algn="tl">
                    <a:srgbClr val="FFFFFF"/>
                  </a:outerShdw>
                </a:effectLst>
                <a:latin typeface="Times New Roman" panose="02020603050405020304" charset="0"/>
                <a:ea typeface="幼圆" panose="02010509060101010101" pitchFamily="49" charset="-122"/>
                <a:cs typeface="幼圆" panose="02010509060101010101" pitchFamily="49" charset="-122"/>
              </a:endParaRPr>
            </a:p>
          </p:txBody>
        </p:sp>
        <p:sp>
          <p:nvSpPr>
            <p:cNvPr id="223240" name="Line 8"/>
            <p:cNvSpPr>
              <a:spLocks noChangeShapeType="1"/>
            </p:cNvSpPr>
            <p:nvPr/>
          </p:nvSpPr>
          <p:spPr bwMode="auto">
            <a:xfrm>
              <a:off x="1680" y="2937"/>
              <a:ext cx="52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1" name="Line 9"/>
            <p:cNvSpPr>
              <a:spLocks noChangeShapeType="1"/>
            </p:cNvSpPr>
            <p:nvPr/>
          </p:nvSpPr>
          <p:spPr bwMode="auto">
            <a:xfrm>
              <a:off x="3216" y="2985"/>
              <a:ext cx="480" cy="0"/>
            </a:xfrm>
            <a:prstGeom prst="line">
              <a:avLst/>
            </a:prstGeom>
            <a:noFill/>
            <a:ln w="28575">
              <a:solidFill>
                <a:schemeClr val="tx1"/>
              </a:solidFill>
              <a:round/>
              <a:tailEnd type="triangle" w="lg"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2" name="AutoShape 10"/>
            <p:cNvSpPr>
              <a:spLocks noChangeArrowheads="1"/>
            </p:cNvSpPr>
            <p:nvPr/>
          </p:nvSpPr>
          <p:spPr bwMode="auto">
            <a:xfrm>
              <a:off x="2256" y="2601"/>
              <a:ext cx="864" cy="816"/>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rPr>
                <a:t>制造</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223243" name="AutoShape 11"/>
            <p:cNvSpPr>
              <a:spLocks noChangeArrowheads="1"/>
            </p:cNvSpPr>
            <p:nvPr/>
          </p:nvSpPr>
          <p:spPr bwMode="auto">
            <a:xfrm>
              <a:off x="2160" y="2496"/>
              <a:ext cx="1056" cy="1008"/>
            </a:xfrm>
            <a:prstGeom prst="diamond">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4" name="Oval 12" descr="Large confetti"/>
            <p:cNvSpPr>
              <a:spLocks noChangeArrowheads="1"/>
            </p:cNvSpPr>
            <p:nvPr/>
          </p:nvSpPr>
          <p:spPr bwMode="auto">
            <a:xfrm>
              <a:off x="288" y="1824"/>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zh-CN" altLang="en-US" sz="2000" strike="noStrike"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产品名</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sp>
          <p:nvSpPr>
            <p:cNvPr id="223245" name="Line 13"/>
            <p:cNvSpPr>
              <a:spLocks noChangeShapeType="1"/>
            </p:cNvSpPr>
            <p:nvPr/>
          </p:nvSpPr>
          <p:spPr bwMode="auto">
            <a:xfrm flipH="1" flipV="1">
              <a:off x="672" y="2265"/>
              <a:ext cx="384"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6" name="Rectangle 14"/>
            <p:cNvSpPr>
              <a:spLocks noChangeArrowheads="1"/>
            </p:cNvSpPr>
            <p:nvPr/>
          </p:nvSpPr>
          <p:spPr bwMode="auto">
            <a:xfrm>
              <a:off x="720" y="2793"/>
              <a:ext cx="960" cy="432"/>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7" name="Oval 15" descr="Large confetti"/>
            <p:cNvSpPr>
              <a:spLocks noChangeArrowheads="1"/>
            </p:cNvSpPr>
            <p:nvPr/>
          </p:nvSpPr>
          <p:spPr bwMode="auto">
            <a:xfrm>
              <a:off x="3600" y="1872"/>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地址</a:t>
              </a:r>
              <a:endPar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223248" name="Line 16"/>
            <p:cNvSpPr>
              <a:spLocks noChangeShapeType="1"/>
            </p:cNvSpPr>
            <p:nvPr/>
          </p:nvSpPr>
          <p:spPr bwMode="auto">
            <a:xfrm flipV="1">
              <a:off x="3984" y="2313"/>
              <a:ext cx="0"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9" name="Line 17"/>
            <p:cNvSpPr>
              <a:spLocks noChangeShapeType="1"/>
            </p:cNvSpPr>
            <p:nvPr/>
          </p:nvSpPr>
          <p:spPr bwMode="auto">
            <a:xfrm>
              <a:off x="1680" y="3033"/>
              <a:ext cx="52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0" name="Oval 18" descr="Large confetti"/>
            <p:cNvSpPr>
              <a:spLocks noChangeArrowheads="1"/>
            </p:cNvSpPr>
            <p:nvPr/>
          </p:nvSpPr>
          <p:spPr bwMode="auto">
            <a:xfrm>
              <a:off x="1344" y="1833"/>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价格</a:t>
              </a:r>
              <a:endPar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223251" name="Line 19"/>
            <p:cNvSpPr>
              <a:spLocks noChangeShapeType="1"/>
            </p:cNvSpPr>
            <p:nvPr/>
          </p:nvSpPr>
          <p:spPr bwMode="auto">
            <a:xfrm flipV="1">
              <a:off x="1344" y="2265"/>
              <a:ext cx="432"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2" name="Oval 20" descr="Large confetti"/>
            <p:cNvSpPr>
              <a:spLocks noChangeArrowheads="1"/>
            </p:cNvSpPr>
            <p:nvPr/>
          </p:nvSpPr>
          <p:spPr bwMode="auto">
            <a:xfrm>
              <a:off x="2688" y="1881"/>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000" b="0" i="0" u="sng"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公司名</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Tahoma" panose="020B0604030504040204" charset="0"/>
                <a:ea typeface="幼圆" panose="02010509060101010101" pitchFamily="49" charset="-122"/>
                <a:cs typeface="幼圆" panose="02010509060101010101" pitchFamily="49" charset="-122"/>
              </a:endParaRPr>
            </a:p>
          </p:txBody>
        </p:sp>
        <p:sp>
          <p:nvSpPr>
            <p:cNvPr id="223253" name="Oval 21" descr="Large confetti"/>
            <p:cNvSpPr>
              <a:spLocks noChangeArrowheads="1"/>
            </p:cNvSpPr>
            <p:nvPr/>
          </p:nvSpPr>
          <p:spPr bwMode="auto">
            <a:xfrm>
              <a:off x="4512" y="1881"/>
              <a:ext cx="960"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zh-CN" altLang="en-US" sz="2000" strike="noStrike"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联系电话</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sp>
          <p:nvSpPr>
            <p:cNvPr id="223254" name="Line 22"/>
            <p:cNvSpPr>
              <a:spLocks noChangeShapeType="1"/>
            </p:cNvSpPr>
            <p:nvPr/>
          </p:nvSpPr>
          <p:spPr bwMode="auto">
            <a:xfrm flipV="1">
              <a:off x="4128" y="2313"/>
              <a:ext cx="864"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5" name="Line 23"/>
            <p:cNvSpPr>
              <a:spLocks noChangeShapeType="1"/>
            </p:cNvSpPr>
            <p:nvPr/>
          </p:nvSpPr>
          <p:spPr bwMode="auto">
            <a:xfrm flipH="1" flipV="1">
              <a:off x="3120" y="2313"/>
              <a:ext cx="720"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6" name="Line 24"/>
            <p:cNvSpPr>
              <a:spLocks noChangeShapeType="1"/>
            </p:cNvSpPr>
            <p:nvPr/>
          </p:nvSpPr>
          <p:spPr bwMode="auto">
            <a:xfrm>
              <a:off x="374" y="2180"/>
              <a:ext cx="672" cy="0"/>
            </a:xfrm>
            <a:prstGeom prst="line">
              <a:avLst/>
            </a:prstGeom>
            <a:noFill/>
            <a:ln w="28575">
              <a:solidFill>
                <a:schemeClr val="tx1"/>
              </a:solidFill>
              <a:prstDash val="dash"/>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82277" name="表格 182276"/>
          <p:cNvGraphicFramePr/>
          <p:nvPr/>
        </p:nvGraphicFramePr>
        <p:xfrm>
          <a:off x="468313" y="4889500"/>
          <a:ext cx="3887788" cy="936625"/>
        </p:xfrm>
        <a:graphic>
          <a:graphicData uri="http://schemas.openxmlformats.org/drawingml/2006/table">
            <a:tbl>
              <a:tblPr/>
              <a:tblGrid>
                <a:gridCol w="1295400"/>
                <a:gridCol w="1296988"/>
                <a:gridCol w="1295400"/>
              </a:tblGrid>
              <a:tr h="519113">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产品</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4175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产品名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价格</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公司名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82289" name="内容占位符 182288"/>
          <p:cNvGraphicFramePr>
            <a:graphicFrameLocks noGrp="1"/>
          </p:cNvGraphicFramePr>
          <p:nvPr>
            <p:ph sz="half" idx="2"/>
          </p:nvPr>
        </p:nvGraphicFramePr>
        <p:xfrm>
          <a:off x="4837113" y="4887913"/>
          <a:ext cx="3308350" cy="968375"/>
        </p:xfrm>
        <a:graphic>
          <a:graphicData uri="http://schemas.openxmlformats.org/drawingml/2006/table">
            <a:tbl>
              <a:tblPr/>
              <a:tblGrid>
                <a:gridCol w="1095375"/>
                <a:gridCol w="782638"/>
                <a:gridCol w="1430337"/>
              </a:tblGrid>
              <a:tr h="48418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公司</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484187">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公司名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地址</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联系电话</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83344" name="AutoShape 49"/>
          <p:cNvCxnSpPr/>
          <p:nvPr/>
        </p:nvCxnSpPr>
        <p:spPr>
          <a:xfrm rot="5400000" flipH="1" flipV="1">
            <a:off x="4154488" y="5141913"/>
            <a:ext cx="234950" cy="1130300"/>
          </a:xfrm>
          <a:prstGeom prst="curvedConnector4">
            <a:avLst>
              <a:gd name="adj1" fmla="val -96620"/>
              <a:gd name="adj2" fmla="val 78764"/>
            </a:avLst>
          </a:prstGeom>
          <a:ln w="9525" cap="flat" cmpd="sng">
            <a:solidFill>
              <a:schemeClr val="tx1"/>
            </a:solidFill>
            <a:prstDash val="dash"/>
            <a:round/>
            <a:headEnd type="oval" w="med" len="med"/>
            <a:tailEnd type="triangle" w="med" len="med"/>
          </a:ln>
        </p:spPr>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25283" name="Rectangle 3"/>
          <p:cNvSpPr>
            <a:spLocks noGrp="1" noChangeArrowheads="1"/>
          </p:cNvSpPr>
          <p:nvPr>
            <p:ph type="body" sz="half" idx="1"/>
          </p:nvPr>
        </p:nvSpPr>
        <p:spPr>
          <a:xfrm>
            <a:off x="231775" y="1222375"/>
            <a:ext cx="8713788" cy="86042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pPr>
            <a:r>
              <a:rPr kumimoji="1" lang="zh-CN" altLang="en-US" sz="20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概括</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：高层实体集和低层实体集分别转为表，低层实体集所对应的关系包括高层实体集的码</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graphicFrame>
        <p:nvGraphicFramePr>
          <p:cNvPr id="183299" name="内容占位符 183298"/>
          <p:cNvGraphicFramePr>
            <a:graphicFrameLocks noGrp="1"/>
          </p:cNvGraphicFramePr>
          <p:nvPr>
            <p:ph sz="quarter" idx="2"/>
          </p:nvPr>
        </p:nvGraphicFramePr>
        <p:xfrm>
          <a:off x="6032500" y="5419725"/>
          <a:ext cx="1685925" cy="715963"/>
        </p:xfrm>
        <a:graphic>
          <a:graphicData uri="http://schemas.openxmlformats.org/drawingml/2006/table">
            <a:tbl>
              <a:tblPr/>
              <a:tblGrid>
                <a:gridCol w="842963"/>
                <a:gridCol w="842962"/>
              </a:tblGrid>
              <a:tr h="3762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研究生</a:t>
                      </a:r>
                      <a:endParaRPr lang="zh-CN" altLang="en-US" dirty="0">
                        <a:solidFill>
                          <a:schemeClr val="hlink"/>
                        </a:solidFill>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9725">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论文</a:t>
                      </a:r>
                      <a:endParaRPr lang="zh-CN" altLang="en-US"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184333" name="Group 14"/>
          <p:cNvGrpSpPr/>
          <p:nvPr/>
        </p:nvGrpSpPr>
        <p:grpSpPr>
          <a:xfrm>
            <a:off x="304800" y="2063750"/>
            <a:ext cx="8534400" cy="3016250"/>
            <a:chOff x="240" y="2046"/>
            <a:chExt cx="5376" cy="1967"/>
          </a:xfrm>
        </p:grpSpPr>
        <p:sp>
          <p:nvSpPr>
            <p:cNvPr id="225295" name="Text Box 15"/>
            <p:cNvSpPr txBox="1">
              <a:spLocks noChangeArrowheads="1"/>
            </p:cNvSpPr>
            <p:nvPr/>
          </p:nvSpPr>
          <p:spPr bwMode="auto">
            <a:xfrm>
              <a:off x="864" y="3024"/>
              <a:ext cx="816" cy="274"/>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本科生</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5296" name="Text Box 16"/>
            <p:cNvSpPr txBox="1">
              <a:spLocks noChangeArrowheads="1"/>
            </p:cNvSpPr>
            <p:nvPr/>
          </p:nvSpPr>
          <p:spPr bwMode="auto">
            <a:xfrm>
              <a:off x="3504" y="3033"/>
              <a:ext cx="864" cy="277"/>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研究生</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5297" name="Line 17"/>
            <p:cNvSpPr>
              <a:spLocks noChangeShapeType="1"/>
            </p:cNvSpPr>
            <p:nvPr/>
          </p:nvSpPr>
          <p:spPr bwMode="auto">
            <a:xfrm flipV="1">
              <a:off x="1680" y="302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298" name="Line 18"/>
            <p:cNvSpPr>
              <a:spLocks noChangeShapeType="1"/>
            </p:cNvSpPr>
            <p:nvPr/>
          </p:nvSpPr>
          <p:spPr bwMode="auto">
            <a:xfrm>
              <a:off x="2736" y="300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299" name="Text Box 19"/>
            <p:cNvSpPr txBox="1">
              <a:spLocks noChangeArrowheads="1"/>
            </p:cNvSpPr>
            <p:nvPr/>
          </p:nvSpPr>
          <p:spPr bwMode="auto">
            <a:xfrm>
              <a:off x="2256" y="2324"/>
              <a:ext cx="624" cy="274"/>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学生</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5300" name="Line 20"/>
            <p:cNvSpPr>
              <a:spLocks noChangeShapeType="1"/>
            </p:cNvSpPr>
            <p:nvPr/>
          </p:nvSpPr>
          <p:spPr bwMode="auto">
            <a:xfrm>
              <a:off x="2592" y="2660"/>
              <a:ext cx="0" cy="223"/>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1" name="AutoShape 21"/>
            <p:cNvSpPr>
              <a:spLocks noChangeArrowheads="1"/>
            </p:cNvSpPr>
            <p:nvPr/>
          </p:nvSpPr>
          <p:spPr bwMode="auto">
            <a:xfrm>
              <a:off x="2400" y="2880"/>
              <a:ext cx="384" cy="332"/>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02" name="Text Box 22"/>
            <p:cNvSpPr txBox="1">
              <a:spLocks noChangeArrowheads="1"/>
            </p:cNvSpPr>
            <p:nvPr/>
          </p:nvSpPr>
          <p:spPr bwMode="auto">
            <a:xfrm>
              <a:off x="2592" y="3628"/>
              <a:ext cx="816" cy="277"/>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硕士</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03" name="Line 23"/>
            <p:cNvSpPr>
              <a:spLocks noChangeShapeType="1"/>
            </p:cNvSpPr>
            <p:nvPr/>
          </p:nvSpPr>
          <p:spPr bwMode="auto">
            <a:xfrm flipV="1">
              <a:off x="3408" y="3685"/>
              <a:ext cx="432"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4" name="Line 24"/>
            <p:cNvSpPr>
              <a:spLocks noChangeShapeType="1"/>
            </p:cNvSpPr>
            <p:nvPr/>
          </p:nvSpPr>
          <p:spPr bwMode="auto">
            <a:xfrm>
              <a:off x="4128" y="3685"/>
              <a:ext cx="480"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5" name="AutoShape 25"/>
            <p:cNvSpPr>
              <a:spLocks noChangeArrowheads="1"/>
            </p:cNvSpPr>
            <p:nvPr/>
          </p:nvSpPr>
          <p:spPr bwMode="auto">
            <a:xfrm>
              <a:off x="3792" y="3580"/>
              <a:ext cx="384" cy="332"/>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06" name="Text Box 26"/>
            <p:cNvSpPr txBox="1">
              <a:spLocks noChangeArrowheads="1"/>
            </p:cNvSpPr>
            <p:nvPr/>
          </p:nvSpPr>
          <p:spPr bwMode="auto">
            <a:xfrm>
              <a:off x="4608" y="3637"/>
              <a:ext cx="864" cy="274"/>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博士</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5307" name="Line 27"/>
            <p:cNvSpPr>
              <a:spLocks noChangeShapeType="1"/>
            </p:cNvSpPr>
            <p:nvPr/>
          </p:nvSpPr>
          <p:spPr bwMode="auto">
            <a:xfrm>
              <a:off x="3984" y="3358"/>
              <a:ext cx="0" cy="226"/>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8" name="Oval 28" descr="Large confetti"/>
            <p:cNvSpPr>
              <a:spLocks noChangeArrowheads="1"/>
            </p:cNvSpPr>
            <p:nvPr/>
          </p:nvSpPr>
          <p:spPr bwMode="auto">
            <a:xfrm>
              <a:off x="1200" y="2046"/>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5309" name="Oval 29" descr="Large confetti"/>
            <p:cNvSpPr>
              <a:spLocks noChangeArrowheads="1"/>
            </p:cNvSpPr>
            <p:nvPr/>
          </p:nvSpPr>
          <p:spPr bwMode="auto">
            <a:xfrm>
              <a:off x="3168" y="2094"/>
              <a:ext cx="816" cy="436"/>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5310" name="Oval 30" descr="Large confetti"/>
            <p:cNvSpPr>
              <a:spLocks noChangeArrowheads="1"/>
            </p:cNvSpPr>
            <p:nvPr/>
          </p:nvSpPr>
          <p:spPr bwMode="auto">
            <a:xfrm>
              <a:off x="4224" y="2256"/>
              <a:ext cx="129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Dissertation</a:t>
              </a:r>
              <a:endParaRPr lang="zh-CN" altLang="en-US"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11" name="Oval 31" descr="Large confetti"/>
            <p:cNvSpPr>
              <a:spLocks noChangeArrowheads="1"/>
            </p:cNvSpPr>
            <p:nvPr/>
          </p:nvSpPr>
          <p:spPr bwMode="auto">
            <a:xfrm>
              <a:off x="4800" y="3004"/>
              <a:ext cx="816" cy="436"/>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Papers</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12" name="Line 32"/>
            <p:cNvSpPr>
              <a:spLocks noChangeShapeType="1"/>
            </p:cNvSpPr>
            <p:nvPr/>
          </p:nvSpPr>
          <p:spPr bwMode="auto">
            <a:xfrm flipV="1">
              <a:off x="3936" y="2688"/>
              <a:ext cx="960" cy="336"/>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3" name="Line 33"/>
            <p:cNvSpPr>
              <a:spLocks noChangeShapeType="1"/>
            </p:cNvSpPr>
            <p:nvPr/>
          </p:nvSpPr>
          <p:spPr bwMode="auto">
            <a:xfrm flipV="1">
              <a:off x="5040" y="3436"/>
              <a:ext cx="192" cy="192"/>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4" name="Line 34"/>
            <p:cNvSpPr>
              <a:spLocks noChangeShapeType="1"/>
            </p:cNvSpPr>
            <p:nvPr/>
          </p:nvSpPr>
          <p:spPr bwMode="auto">
            <a:xfrm flipV="1">
              <a:off x="2880"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5" name="Line 35"/>
            <p:cNvSpPr>
              <a:spLocks noChangeShapeType="1"/>
            </p:cNvSpPr>
            <p:nvPr/>
          </p:nvSpPr>
          <p:spPr bwMode="auto">
            <a:xfrm flipH="1" flipV="1">
              <a:off x="1968"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6" name="Oval 36" descr="Large confetti"/>
            <p:cNvSpPr>
              <a:spLocks noChangeArrowheads="1"/>
            </p:cNvSpPr>
            <p:nvPr/>
          </p:nvSpPr>
          <p:spPr bwMode="auto">
            <a:xfrm>
              <a:off x="240" y="3581"/>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军训</a:t>
              </a:r>
              <a:endPar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5317" name="Line 37"/>
            <p:cNvSpPr>
              <a:spLocks noChangeShapeType="1"/>
            </p:cNvSpPr>
            <p:nvPr/>
          </p:nvSpPr>
          <p:spPr bwMode="auto">
            <a:xfrm flipH="1">
              <a:off x="816" y="3360"/>
              <a:ext cx="432" cy="24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225345" name="Group 65"/>
          <p:cNvGraphicFramePr>
            <a:graphicFrameLocks noGrp="1"/>
          </p:cNvGraphicFramePr>
          <p:nvPr/>
        </p:nvGraphicFramePr>
        <p:xfrm>
          <a:off x="1047750" y="5445125"/>
          <a:ext cx="1725613" cy="674740"/>
        </p:xfrm>
        <a:graphic>
          <a:graphicData uri="http://schemas.openxmlformats.org/drawingml/2006/table">
            <a:tbl>
              <a:tblPr/>
              <a:tblGrid>
                <a:gridCol w="776288"/>
                <a:gridCol w="949325"/>
              </a:tblGrid>
              <a:tr h="337344">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25341" name="Group 61"/>
          <p:cNvGraphicFramePr>
            <a:graphicFrameLocks noGrp="1"/>
          </p:cNvGraphicFramePr>
          <p:nvPr>
            <p:ph sz="quarter" idx="1"/>
          </p:nvPr>
        </p:nvGraphicFramePr>
        <p:xfrm>
          <a:off x="3578225" y="5464175"/>
          <a:ext cx="1706563" cy="674740"/>
        </p:xfrm>
        <a:graphic>
          <a:graphicData uri="http://schemas.openxmlformats.org/drawingml/2006/table">
            <a:tbl>
              <a:tblPr/>
              <a:tblGrid>
                <a:gridCol w="833438"/>
                <a:gridCol w="873125"/>
              </a:tblGrid>
              <a:tr h="337344">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本科生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军训</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p:cNvSpPr>
            <a:spLocks noGrp="1"/>
          </p:cNvSpPr>
          <p:nvPr>
            <p:ph type="title"/>
          </p:nvPr>
        </p:nvSpPr>
        <p:spPr>
          <a:xfrm>
            <a:off x="768350" y="117475"/>
            <a:ext cx="8056563" cy="595313"/>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grpSp>
        <p:nvGrpSpPr>
          <p:cNvPr id="185346" name="Group 3"/>
          <p:cNvGrpSpPr/>
          <p:nvPr/>
        </p:nvGrpSpPr>
        <p:grpSpPr>
          <a:xfrm>
            <a:off x="304800" y="2249488"/>
            <a:ext cx="8534400" cy="3122612"/>
            <a:chOff x="240" y="2046"/>
            <a:chExt cx="5376" cy="1967"/>
          </a:xfrm>
        </p:grpSpPr>
        <p:sp>
          <p:nvSpPr>
            <p:cNvPr id="226308" name="Text Box 4"/>
            <p:cNvSpPr txBox="1">
              <a:spLocks noChangeArrowheads="1"/>
            </p:cNvSpPr>
            <p:nvPr/>
          </p:nvSpPr>
          <p:spPr bwMode="auto">
            <a:xfrm>
              <a:off x="864" y="3024"/>
              <a:ext cx="816"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本科生</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6309" name="Text Box 5"/>
            <p:cNvSpPr txBox="1">
              <a:spLocks noChangeArrowheads="1"/>
            </p:cNvSpPr>
            <p:nvPr/>
          </p:nvSpPr>
          <p:spPr bwMode="auto">
            <a:xfrm>
              <a:off x="3504" y="3033"/>
              <a:ext cx="86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研究生</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6310" name="Line 6"/>
            <p:cNvSpPr>
              <a:spLocks noChangeShapeType="1"/>
            </p:cNvSpPr>
            <p:nvPr/>
          </p:nvSpPr>
          <p:spPr bwMode="auto">
            <a:xfrm flipV="1">
              <a:off x="1680" y="302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1" name="Line 7"/>
            <p:cNvSpPr>
              <a:spLocks noChangeShapeType="1"/>
            </p:cNvSpPr>
            <p:nvPr/>
          </p:nvSpPr>
          <p:spPr bwMode="auto">
            <a:xfrm>
              <a:off x="2736" y="300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2" name="Text Box 8"/>
            <p:cNvSpPr txBox="1">
              <a:spLocks noChangeArrowheads="1"/>
            </p:cNvSpPr>
            <p:nvPr/>
          </p:nvSpPr>
          <p:spPr bwMode="auto">
            <a:xfrm>
              <a:off x="2256" y="2324"/>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学生</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6313" name="Line 9"/>
            <p:cNvSpPr>
              <a:spLocks noChangeShapeType="1"/>
            </p:cNvSpPr>
            <p:nvPr/>
          </p:nvSpPr>
          <p:spPr bwMode="auto">
            <a:xfrm>
              <a:off x="2592" y="2660"/>
              <a:ext cx="0" cy="222"/>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4" name="AutoShape 10"/>
            <p:cNvSpPr>
              <a:spLocks noChangeArrowheads="1"/>
            </p:cNvSpPr>
            <p:nvPr/>
          </p:nvSpPr>
          <p:spPr bwMode="auto">
            <a:xfrm>
              <a:off x="2400" y="2880"/>
              <a:ext cx="384" cy="336"/>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15" name="Text Box 11"/>
            <p:cNvSpPr txBox="1">
              <a:spLocks noChangeArrowheads="1"/>
            </p:cNvSpPr>
            <p:nvPr/>
          </p:nvSpPr>
          <p:spPr bwMode="auto">
            <a:xfrm>
              <a:off x="2592" y="3628"/>
              <a:ext cx="816"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硕士</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16" name="Line 12"/>
            <p:cNvSpPr>
              <a:spLocks noChangeShapeType="1"/>
            </p:cNvSpPr>
            <p:nvPr/>
          </p:nvSpPr>
          <p:spPr bwMode="auto">
            <a:xfrm flipV="1">
              <a:off x="3408" y="3685"/>
              <a:ext cx="432"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7" name="Line 13"/>
            <p:cNvSpPr>
              <a:spLocks noChangeShapeType="1"/>
            </p:cNvSpPr>
            <p:nvPr/>
          </p:nvSpPr>
          <p:spPr bwMode="auto">
            <a:xfrm>
              <a:off x="4128" y="3685"/>
              <a:ext cx="480"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8" name="AutoShape 14"/>
            <p:cNvSpPr>
              <a:spLocks noChangeArrowheads="1"/>
            </p:cNvSpPr>
            <p:nvPr/>
          </p:nvSpPr>
          <p:spPr bwMode="auto">
            <a:xfrm>
              <a:off x="3792" y="3580"/>
              <a:ext cx="384" cy="336"/>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19" name="Text Box 15"/>
            <p:cNvSpPr txBox="1">
              <a:spLocks noChangeArrowheads="1"/>
            </p:cNvSpPr>
            <p:nvPr/>
          </p:nvSpPr>
          <p:spPr bwMode="auto">
            <a:xfrm>
              <a:off x="4608" y="3637"/>
              <a:ext cx="86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博士</a:t>
              </a:r>
              <a:endPar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6320" name="Line 16"/>
            <p:cNvSpPr>
              <a:spLocks noChangeShapeType="1"/>
            </p:cNvSpPr>
            <p:nvPr/>
          </p:nvSpPr>
          <p:spPr bwMode="auto">
            <a:xfrm>
              <a:off x="3984" y="3358"/>
              <a:ext cx="0" cy="222"/>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1" name="Oval 17" descr="Large confetti"/>
            <p:cNvSpPr>
              <a:spLocks noChangeArrowheads="1"/>
            </p:cNvSpPr>
            <p:nvPr/>
          </p:nvSpPr>
          <p:spPr bwMode="auto">
            <a:xfrm>
              <a:off x="1200" y="2046"/>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6322" name="Oval 18" descr="Large confetti"/>
            <p:cNvSpPr>
              <a:spLocks noChangeArrowheads="1"/>
            </p:cNvSpPr>
            <p:nvPr/>
          </p:nvSpPr>
          <p:spPr bwMode="auto">
            <a:xfrm>
              <a:off x="3168" y="2094"/>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6323" name="Oval 19" descr="Large confetti"/>
            <p:cNvSpPr>
              <a:spLocks noChangeArrowheads="1"/>
            </p:cNvSpPr>
            <p:nvPr/>
          </p:nvSpPr>
          <p:spPr bwMode="auto">
            <a:xfrm>
              <a:off x="4224" y="2256"/>
              <a:ext cx="129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Dissertation</a:t>
              </a:r>
              <a:endParaRPr lang="zh-CN" altLang="en-US"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24" name="Oval 20" descr="Large confetti"/>
            <p:cNvSpPr>
              <a:spLocks noChangeArrowheads="1"/>
            </p:cNvSpPr>
            <p:nvPr/>
          </p:nvSpPr>
          <p:spPr bwMode="auto">
            <a:xfrm>
              <a:off x="4800" y="3004"/>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Papers</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25" name="Line 21"/>
            <p:cNvSpPr>
              <a:spLocks noChangeShapeType="1"/>
            </p:cNvSpPr>
            <p:nvPr/>
          </p:nvSpPr>
          <p:spPr bwMode="auto">
            <a:xfrm flipV="1">
              <a:off x="3936" y="2688"/>
              <a:ext cx="960" cy="336"/>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6" name="Line 22"/>
            <p:cNvSpPr>
              <a:spLocks noChangeShapeType="1"/>
            </p:cNvSpPr>
            <p:nvPr/>
          </p:nvSpPr>
          <p:spPr bwMode="auto">
            <a:xfrm flipV="1">
              <a:off x="5040" y="3436"/>
              <a:ext cx="192" cy="192"/>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7" name="Line 23"/>
            <p:cNvSpPr>
              <a:spLocks noChangeShapeType="1"/>
            </p:cNvSpPr>
            <p:nvPr/>
          </p:nvSpPr>
          <p:spPr bwMode="auto">
            <a:xfrm flipV="1">
              <a:off x="2880"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8" name="Line 24"/>
            <p:cNvSpPr>
              <a:spLocks noChangeShapeType="1"/>
            </p:cNvSpPr>
            <p:nvPr/>
          </p:nvSpPr>
          <p:spPr bwMode="auto">
            <a:xfrm flipH="1" flipV="1">
              <a:off x="1968"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9" name="Oval 25" descr="Large confetti"/>
            <p:cNvSpPr>
              <a:spLocks noChangeArrowheads="1"/>
            </p:cNvSpPr>
            <p:nvPr/>
          </p:nvSpPr>
          <p:spPr bwMode="auto">
            <a:xfrm>
              <a:off x="240" y="3581"/>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军训</a:t>
              </a:r>
              <a:endPar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6330" name="Line 26"/>
            <p:cNvSpPr>
              <a:spLocks noChangeShapeType="1"/>
            </p:cNvSpPr>
            <p:nvPr/>
          </p:nvSpPr>
          <p:spPr bwMode="auto">
            <a:xfrm flipH="1">
              <a:off x="816" y="3360"/>
              <a:ext cx="432" cy="24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84323" name="表格 184322"/>
          <p:cNvGraphicFramePr/>
          <p:nvPr/>
        </p:nvGraphicFramePr>
        <p:xfrm>
          <a:off x="4811713" y="5662613"/>
          <a:ext cx="3040063" cy="675508"/>
        </p:xfrm>
        <a:graphic>
          <a:graphicData uri="http://schemas.openxmlformats.org/drawingml/2006/table">
            <a:tbl>
              <a:tblPr/>
              <a:tblGrid>
                <a:gridCol w="892175"/>
                <a:gridCol w="892175"/>
                <a:gridCol w="1255713"/>
              </a:tblGrid>
              <a:tr h="33813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研究生</a:t>
                      </a:r>
                      <a:endParaRPr lang="zh-CN" altLang="en-US" dirty="0">
                        <a:solidFill>
                          <a:schemeClr val="hlink"/>
                        </a:solidFill>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姓名</a:t>
                      </a:r>
                      <a:endParaRPr lang="zh-CN" altLang="en-US" dirty="0">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论文</a:t>
                      </a:r>
                      <a:endParaRPr lang="zh-CN" altLang="en-US" dirty="0">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26356" name="Group 52"/>
          <p:cNvGraphicFramePr>
            <a:graphicFrameLocks noGrp="1"/>
          </p:cNvGraphicFramePr>
          <p:nvPr/>
        </p:nvGraphicFramePr>
        <p:xfrm>
          <a:off x="1108075" y="5662613"/>
          <a:ext cx="3032125" cy="674740"/>
        </p:xfrm>
        <a:graphic>
          <a:graphicData uri="http://schemas.openxmlformats.org/drawingml/2006/table">
            <a:tbl>
              <a:tblPr/>
              <a:tblGrid>
                <a:gridCol w="892175"/>
                <a:gridCol w="892175"/>
                <a:gridCol w="1247775"/>
              </a:tblGrid>
              <a:tr h="337344">
                <a:tc gridSpan="3">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本科生</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765" marB="467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军训</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26355" name="Rectangle 51"/>
          <p:cNvSpPr>
            <a:spLocks noChangeArrowheads="1"/>
          </p:cNvSpPr>
          <p:nvPr/>
        </p:nvSpPr>
        <p:spPr bwMode="auto">
          <a:xfrm>
            <a:off x="179388" y="1196975"/>
            <a:ext cx="8785225" cy="915988"/>
          </a:xfrm>
          <a:prstGeom prst="rect">
            <a:avLst/>
          </a:prstGeom>
          <a:noFill/>
          <a:ln>
            <a:noFill/>
          </a:ln>
          <a:effectLst/>
        </p:spPr>
        <p:txBody>
          <a:bodyPr lIns="90000" tIns="46800" rIns="90000" bIns="46800">
            <a:spAutoFit/>
          </a:bodyPr>
          <a:lstStyle/>
          <a:p>
            <a:pPr marL="342900" indent="-342900" algn="just" fontAlgn="base">
              <a:lnSpc>
                <a:spcPct val="90000"/>
              </a:lnSpc>
              <a:spcBef>
                <a:spcPct val="20000"/>
              </a:spcBef>
              <a:buClr>
                <a:schemeClr val="hlink"/>
              </a:buClr>
              <a:buSzPct val="55000"/>
              <a:buFont typeface="Wingdings" panose="05000000000000000000" pitchFamily="2" charset="2"/>
              <a:buChar char="n"/>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如果概括是不相交并且是全部的，即一个高层实体最多并且只能属于一个低层实体集，则可以不为高层实体集建立关系，低层实体集所对应的关系包括上层实体集的的所有属性</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sym typeface="Symbol" panose="05050102010706020507" charset="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模型设计要点</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endParaRPr>
          </a:p>
        </p:txBody>
      </p:sp>
      <p:sp>
        <p:nvSpPr>
          <p:cNvPr id="203779" name="Rectangle 3"/>
          <p:cNvSpPr>
            <a:spLocks noGrp="1" noChangeArrowheads="1"/>
          </p:cNvSpPr>
          <p:nvPr>
            <p:ph idx="1"/>
          </p:nvPr>
        </p:nvSpPr>
        <p:spPr>
          <a:xfrm>
            <a:off x="333375" y="1222375"/>
            <a:ext cx="8183880" cy="1560830"/>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聚集 </a:t>
            </a:r>
            <a:r>
              <a:rPr kumimoji="1" lang="en-US" altLang="zh-CN"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vs </a:t>
            </a:r>
            <a:r>
              <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三元</a:t>
            </a:r>
            <a:endPar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一个项目由多个部门资助，一个部门资助多个项目，每个资助协议由一个或多个雇员监督</a:t>
            </a:r>
            <a:endPar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
        <p:nvSpPr>
          <p:cNvPr id="203780" name="Text Box 4"/>
          <p:cNvSpPr txBox="1">
            <a:spLocks noChangeArrowheads="1"/>
          </p:cNvSpPr>
          <p:nvPr/>
        </p:nvSpPr>
        <p:spPr bwMode="auto">
          <a:xfrm>
            <a:off x="1960563" y="4640263"/>
            <a:ext cx="990600" cy="425450"/>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3781" name="Text Box 5"/>
          <p:cNvSpPr txBox="1">
            <a:spLocks noChangeArrowheads="1"/>
          </p:cNvSpPr>
          <p:nvPr/>
        </p:nvSpPr>
        <p:spPr bwMode="auto">
          <a:xfrm>
            <a:off x="5813425" y="4638675"/>
            <a:ext cx="990600" cy="425450"/>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部门</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3782" name="AutoShape 6"/>
          <p:cNvSpPr>
            <a:spLocks noChangeArrowheads="1"/>
          </p:cNvSpPr>
          <p:nvPr/>
        </p:nvSpPr>
        <p:spPr bwMode="auto">
          <a:xfrm>
            <a:off x="3698875" y="4351338"/>
            <a:ext cx="1295400" cy="990600"/>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3783" name="Text Box 7"/>
          <p:cNvSpPr txBox="1">
            <a:spLocks noChangeArrowheads="1"/>
          </p:cNvSpPr>
          <p:nvPr/>
        </p:nvSpPr>
        <p:spPr bwMode="auto">
          <a:xfrm>
            <a:off x="3851275" y="3159125"/>
            <a:ext cx="990600" cy="425450"/>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雇员</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cxnSp>
        <p:nvCxnSpPr>
          <p:cNvPr id="124935" name="AutoShape 8"/>
          <p:cNvCxnSpPr>
            <a:stCxn id="203780" idx="3"/>
            <a:endCxn id="203782" idx="1"/>
          </p:cNvCxnSpPr>
          <p:nvPr/>
        </p:nvCxnSpPr>
        <p:spPr>
          <a:xfrm flipV="1">
            <a:off x="2965450" y="4846638"/>
            <a:ext cx="719138" cy="6350"/>
          </a:xfrm>
          <a:prstGeom prst="straightConnector1">
            <a:avLst/>
          </a:prstGeom>
          <a:ln w="28575" cap="flat" cmpd="sng">
            <a:solidFill>
              <a:schemeClr val="tx1"/>
            </a:solidFill>
            <a:prstDash val="solid"/>
            <a:round/>
            <a:headEnd type="none" w="med" len="med"/>
            <a:tailEnd type="none" w="med" len="med"/>
          </a:ln>
        </p:spPr>
      </p:cxnSp>
      <p:cxnSp>
        <p:nvCxnSpPr>
          <p:cNvPr id="124936" name="AutoShape 9"/>
          <p:cNvCxnSpPr>
            <a:stCxn id="203782" idx="3"/>
            <a:endCxn id="203781" idx="1"/>
          </p:cNvCxnSpPr>
          <p:nvPr/>
        </p:nvCxnSpPr>
        <p:spPr>
          <a:xfrm>
            <a:off x="5008563" y="4846638"/>
            <a:ext cx="790575" cy="4762"/>
          </a:xfrm>
          <a:prstGeom prst="straightConnector1">
            <a:avLst/>
          </a:prstGeom>
          <a:ln w="28575" cap="flat" cmpd="sng">
            <a:solidFill>
              <a:schemeClr val="tx1"/>
            </a:solidFill>
            <a:prstDash val="solid"/>
            <a:round/>
            <a:headEnd type="none" w="med" len="med"/>
            <a:tailEnd type="none" w="med" len="med"/>
          </a:ln>
        </p:spPr>
      </p:cxnSp>
      <p:cxnSp>
        <p:nvCxnSpPr>
          <p:cNvPr id="124937" name="AutoShape 10"/>
          <p:cNvCxnSpPr>
            <a:stCxn id="203782" idx="0"/>
            <a:endCxn id="203783" idx="2"/>
          </p:cNvCxnSpPr>
          <p:nvPr/>
        </p:nvCxnSpPr>
        <p:spPr>
          <a:xfrm flipV="1">
            <a:off x="4346575" y="3598863"/>
            <a:ext cx="0" cy="738187"/>
          </a:xfrm>
          <a:prstGeom prst="straightConnector1">
            <a:avLst/>
          </a:prstGeom>
          <a:ln w="28575" cap="flat" cmpd="sng">
            <a:solidFill>
              <a:schemeClr val="tx1"/>
            </a:solidFill>
            <a:prstDash val="solid"/>
            <a:round/>
            <a:headEnd type="none" w="med" len="med"/>
            <a:tailEnd type="none" w="med" len="med"/>
          </a:ln>
        </p:spPr>
      </p:cxn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模型设计要点</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endParaRPr>
          </a:p>
        </p:txBody>
      </p:sp>
      <p:sp>
        <p:nvSpPr>
          <p:cNvPr id="124930" name="Rectangle 3"/>
          <p:cNvSpPr>
            <a:spLocks noGrp="1"/>
          </p:cNvSpPr>
          <p:nvPr>
            <p:ph idx="1"/>
          </p:nvPr>
        </p:nvSpPr>
        <p:spPr>
          <a:xfrm>
            <a:off x="855663" y="1222375"/>
            <a:ext cx="7661275" cy="542925"/>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每个资助协议最多由一个雇员来监督</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grpSp>
        <p:nvGrpSpPr>
          <p:cNvPr id="205828" name="Group 4"/>
          <p:cNvGrpSpPr/>
          <p:nvPr/>
        </p:nvGrpSpPr>
        <p:grpSpPr>
          <a:xfrm>
            <a:off x="3132138" y="2133600"/>
            <a:ext cx="5832475" cy="3816350"/>
            <a:chOff x="1973" y="1344"/>
            <a:chExt cx="3674" cy="2404"/>
          </a:xfrm>
        </p:grpSpPr>
        <p:sp>
          <p:nvSpPr>
            <p:cNvPr id="205829" name="Text Box 5"/>
            <p:cNvSpPr txBox="1">
              <a:spLocks noChangeArrowheads="1"/>
            </p:cNvSpPr>
            <p:nvPr/>
          </p:nvSpPr>
          <p:spPr bwMode="auto">
            <a:xfrm>
              <a:off x="2308" y="3125"/>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0" name="Text Box 6"/>
            <p:cNvSpPr txBox="1">
              <a:spLocks noChangeArrowheads="1"/>
            </p:cNvSpPr>
            <p:nvPr/>
          </p:nvSpPr>
          <p:spPr bwMode="auto">
            <a:xfrm>
              <a:off x="4735" y="3133"/>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部门</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1" name="AutoShape 7"/>
            <p:cNvSpPr>
              <a:spLocks noChangeArrowheads="1"/>
            </p:cNvSpPr>
            <p:nvPr/>
          </p:nvSpPr>
          <p:spPr bwMode="auto">
            <a:xfrm>
              <a:off x="3403" y="2988"/>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2" name="Text Box 8"/>
            <p:cNvSpPr txBox="1">
              <a:spLocks noChangeArrowheads="1"/>
            </p:cNvSpPr>
            <p:nvPr/>
          </p:nvSpPr>
          <p:spPr bwMode="auto">
            <a:xfrm>
              <a:off x="3499" y="1344"/>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雇员</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cxnSp>
          <p:nvCxnSpPr>
            <p:cNvPr id="125960" name="AutoShape 9"/>
            <p:cNvCxnSpPr>
              <a:stCxn id="205829" idx="3"/>
              <a:endCxn id="205831" idx="1"/>
            </p:cNvCxnSpPr>
            <p:nvPr/>
          </p:nvCxnSpPr>
          <p:spPr>
            <a:xfrm>
              <a:off x="2941" y="3298"/>
              <a:ext cx="453" cy="2"/>
            </a:xfrm>
            <a:prstGeom prst="straightConnector1">
              <a:avLst/>
            </a:prstGeom>
            <a:ln w="28575" cap="flat" cmpd="sng">
              <a:solidFill>
                <a:schemeClr val="tx1"/>
              </a:solidFill>
              <a:prstDash val="solid"/>
              <a:round/>
              <a:headEnd type="none" w="med" len="med"/>
              <a:tailEnd type="none" w="med" len="med"/>
            </a:ln>
          </p:spPr>
        </p:cxnSp>
        <p:cxnSp>
          <p:nvCxnSpPr>
            <p:cNvPr id="125961" name="AutoShape 10"/>
            <p:cNvCxnSpPr>
              <a:stCxn id="205831" idx="3"/>
              <a:endCxn id="205830" idx="1"/>
            </p:cNvCxnSpPr>
            <p:nvPr/>
          </p:nvCxnSpPr>
          <p:spPr>
            <a:xfrm>
              <a:off x="4228" y="3300"/>
              <a:ext cx="498" cy="6"/>
            </a:xfrm>
            <a:prstGeom prst="straightConnector1">
              <a:avLst/>
            </a:prstGeom>
            <a:ln w="28575" cap="flat" cmpd="sng">
              <a:solidFill>
                <a:schemeClr val="tx1"/>
              </a:solidFill>
              <a:prstDash val="solid"/>
              <a:round/>
              <a:headEnd type="none" w="med" len="med"/>
              <a:tailEnd type="none" w="med" len="med"/>
            </a:ln>
          </p:spPr>
        </p:cxnSp>
        <p:sp>
          <p:nvSpPr>
            <p:cNvPr id="205835" name="AutoShape 11"/>
            <p:cNvSpPr>
              <a:spLocks noChangeArrowheads="1"/>
            </p:cNvSpPr>
            <p:nvPr/>
          </p:nvSpPr>
          <p:spPr bwMode="auto">
            <a:xfrm>
              <a:off x="3401" y="2025"/>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监督</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6" name="Rectangle 12"/>
            <p:cNvSpPr>
              <a:spLocks noChangeArrowheads="1"/>
            </p:cNvSpPr>
            <p:nvPr/>
          </p:nvSpPr>
          <p:spPr bwMode="auto">
            <a:xfrm>
              <a:off x="1973" y="2841"/>
              <a:ext cx="3674" cy="907"/>
            </a:xfrm>
            <a:prstGeom prst="rect">
              <a:avLst/>
            </a:prstGeom>
            <a:noFill/>
            <a:ln w="28575">
              <a:solidFill>
                <a:schemeClr val="tx1"/>
              </a:solidFill>
              <a:miter lim="800000"/>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cxnSp>
          <p:nvCxnSpPr>
            <p:cNvPr id="125964" name="AutoShape 13"/>
            <p:cNvCxnSpPr>
              <a:stCxn id="205835" idx="2"/>
              <a:endCxn id="205836" idx="0"/>
            </p:cNvCxnSpPr>
            <p:nvPr/>
          </p:nvCxnSpPr>
          <p:spPr>
            <a:xfrm>
              <a:off x="3809" y="2658"/>
              <a:ext cx="1" cy="174"/>
            </a:xfrm>
            <a:prstGeom prst="straightConnector1">
              <a:avLst/>
            </a:prstGeom>
            <a:ln w="28575" cap="flat" cmpd="sng">
              <a:solidFill>
                <a:schemeClr val="tx1"/>
              </a:solidFill>
              <a:prstDash val="solid"/>
              <a:round/>
              <a:headEnd type="none" w="med" len="med"/>
              <a:tailEnd type="none" w="med" len="med"/>
            </a:ln>
          </p:spPr>
        </p:cxnSp>
        <p:cxnSp>
          <p:nvCxnSpPr>
            <p:cNvPr id="125965" name="AutoShape 14"/>
            <p:cNvCxnSpPr>
              <a:stCxn id="205835" idx="2"/>
              <a:endCxn id="205836" idx="0"/>
            </p:cNvCxnSpPr>
            <p:nvPr/>
          </p:nvCxnSpPr>
          <p:spPr>
            <a:xfrm flipH="1">
              <a:off x="3817" y="1707"/>
              <a:ext cx="2" cy="318"/>
            </a:xfrm>
            <a:prstGeom prst="straightConnector1">
              <a:avLst/>
            </a:prstGeom>
            <a:ln w="28575" cap="flat" cmpd="sng">
              <a:solidFill>
                <a:schemeClr val="tx1"/>
              </a:solidFill>
              <a:prstDash val="solid"/>
              <a:round/>
              <a:headEnd type="triangle" w="med" len="med"/>
              <a:tailEnd type="none" w="med" len="med"/>
            </a:ln>
          </p:spPr>
        </p:cxnSp>
      </p:grpSp>
      <p:grpSp>
        <p:nvGrpSpPr>
          <p:cNvPr id="125966" name="Group 15"/>
          <p:cNvGrpSpPr/>
          <p:nvPr/>
        </p:nvGrpSpPr>
        <p:grpSpPr>
          <a:xfrm>
            <a:off x="88900" y="2133600"/>
            <a:ext cx="4843463" cy="2182813"/>
            <a:chOff x="56" y="1162"/>
            <a:chExt cx="3051" cy="1375"/>
          </a:xfrm>
        </p:grpSpPr>
        <p:sp>
          <p:nvSpPr>
            <p:cNvPr id="205840" name="Text Box 16"/>
            <p:cNvSpPr txBox="1">
              <a:spLocks noChangeArrowheads="1"/>
            </p:cNvSpPr>
            <p:nvPr/>
          </p:nvSpPr>
          <p:spPr bwMode="auto">
            <a:xfrm>
              <a:off x="56" y="2050"/>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41" name="Text Box 17"/>
            <p:cNvSpPr txBox="1">
              <a:spLocks noChangeArrowheads="1"/>
            </p:cNvSpPr>
            <p:nvPr/>
          </p:nvSpPr>
          <p:spPr bwMode="auto">
            <a:xfrm>
              <a:off x="2483" y="2058"/>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部门</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42" name="AutoShape 18"/>
            <p:cNvSpPr>
              <a:spLocks noChangeArrowheads="1"/>
            </p:cNvSpPr>
            <p:nvPr/>
          </p:nvSpPr>
          <p:spPr bwMode="auto">
            <a:xfrm>
              <a:off x="1151" y="1913"/>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43" name="Text Box 19"/>
            <p:cNvSpPr txBox="1">
              <a:spLocks noChangeArrowheads="1"/>
            </p:cNvSpPr>
            <p:nvPr/>
          </p:nvSpPr>
          <p:spPr bwMode="auto">
            <a:xfrm>
              <a:off x="1247" y="1162"/>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雇员</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cxnSp>
          <p:nvCxnSpPr>
            <p:cNvPr id="125971" name="AutoShape 20"/>
            <p:cNvCxnSpPr>
              <a:stCxn id="205840" idx="3"/>
              <a:endCxn id="205842" idx="1"/>
            </p:cNvCxnSpPr>
            <p:nvPr/>
          </p:nvCxnSpPr>
          <p:spPr>
            <a:xfrm>
              <a:off x="689" y="2223"/>
              <a:ext cx="453" cy="2"/>
            </a:xfrm>
            <a:prstGeom prst="straightConnector1">
              <a:avLst/>
            </a:prstGeom>
            <a:ln w="28575" cap="flat" cmpd="sng">
              <a:solidFill>
                <a:schemeClr val="tx1"/>
              </a:solidFill>
              <a:prstDash val="solid"/>
              <a:round/>
              <a:headEnd type="none" w="med" len="med"/>
              <a:tailEnd type="none" w="med" len="med"/>
            </a:ln>
          </p:spPr>
        </p:cxnSp>
        <p:cxnSp>
          <p:nvCxnSpPr>
            <p:cNvPr id="125972" name="AutoShape 21"/>
            <p:cNvCxnSpPr>
              <a:stCxn id="205842" idx="3"/>
              <a:endCxn id="205841" idx="1"/>
            </p:cNvCxnSpPr>
            <p:nvPr/>
          </p:nvCxnSpPr>
          <p:spPr>
            <a:xfrm>
              <a:off x="1976" y="2225"/>
              <a:ext cx="498" cy="6"/>
            </a:xfrm>
            <a:prstGeom prst="straightConnector1">
              <a:avLst/>
            </a:prstGeom>
            <a:ln w="28575" cap="flat" cmpd="sng">
              <a:solidFill>
                <a:schemeClr val="tx1"/>
              </a:solidFill>
              <a:prstDash val="solid"/>
              <a:round/>
              <a:headEnd type="none" w="med" len="med"/>
              <a:tailEnd type="none" w="med" len="med"/>
            </a:ln>
          </p:spPr>
        </p:cxnSp>
        <p:cxnSp>
          <p:nvCxnSpPr>
            <p:cNvPr id="125973" name="AutoShape 22"/>
            <p:cNvCxnSpPr>
              <a:stCxn id="205842" idx="0"/>
              <a:endCxn id="205843" idx="2"/>
            </p:cNvCxnSpPr>
            <p:nvPr/>
          </p:nvCxnSpPr>
          <p:spPr>
            <a:xfrm flipV="1">
              <a:off x="1559" y="1516"/>
              <a:ext cx="0" cy="388"/>
            </a:xfrm>
            <a:prstGeom prst="straightConnector1">
              <a:avLst/>
            </a:prstGeom>
            <a:ln w="28575" cap="flat" cmpd="sng">
              <a:solidFill>
                <a:schemeClr val="tx1"/>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828"/>
                                        </p:tgtEl>
                                        <p:attrNameLst>
                                          <p:attrName>style.visibility</p:attrName>
                                        </p:attrNameLst>
                                      </p:cBhvr>
                                      <p:to>
                                        <p:strVal val="visible"/>
                                      </p:to>
                                    </p:set>
                                    <p:animEffect transition="in" filter="wipe(down)">
                                      <p:cBhvr>
                                        <p:cTn id="7" dur="500"/>
                                        <p:tgtEl>
                                          <p:spTgt spid="205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模型设计要点</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endParaRPr>
          </a:p>
        </p:txBody>
      </p:sp>
      <p:sp>
        <p:nvSpPr>
          <p:cNvPr id="125954" name="Rectangle 3"/>
          <p:cNvSpPr>
            <a:spLocks noGrp="1"/>
          </p:cNvSpPr>
          <p:nvPr>
            <p:ph idx="1"/>
          </p:nvPr>
        </p:nvSpPr>
        <p:spPr>
          <a:xfrm>
            <a:off x="855663" y="1222375"/>
            <a:ext cx="7661275" cy="647700"/>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资助有起始时间，监督有截止时间</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grpSp>
        <p:nvGrpSpPr>
          <p:cNvPr id="126979" name="Group 4"/>
          <p:cNvGrpSpPr/>
          <p:nvPr/>
        </p:nvGrpSpPr>
        <p:grpSpPr>
          <a:xfrm>
            <a:off x="1557338" y="2047875"/>
            <a:ext cx="5832475" cy="4264025"/>
            <a:chOff x="900" y="1344"/>
            <a:chExt cx="3674" cy="2686"/>
          </a:xfrm>
        </p:grpSpPr>
        <p:sp>
          <p:nvSpPr>
            <p:cNvPr id="204805" name="Text Box 5"/>
            <p:cNvSpPr txBox="1">
              <a:spLocks noChangeArrowheads="1"/>
            </p:cNvSpPr>
            <p:nvPr/>
          </p:nvSpPr>
          <p:spPr bwMode="auto">
            <a:xfrm>
              <a:off x="1235" y="3044"/>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06" name="Text Box 6"/>
            <p:cNvSpPr txBox="1">
              <a:spLocks noChangeArrowheads="1"/>
            </p:cNvSpPr>
            <p:nvPr/>
          </p:nvSpPr>
          <p:spPr bwMode="auto">
            <a:xfrm>
              <a:off x="3662" y="3052"/>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部门</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07" name="AutoShape 7"/>
            <p:cNvSpPr>
              <a:spLocks noChangeArrowheads="1"/>
            </p:cNvSpPr>
            <p:nvPr/>
          </p:nvSpPr>
          <p:spPr bwMode="auto">
            <a:xfrm>
              <a:off x="2330" y="2871"/>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08" name="Text Box 8"/>
            <p:cNvSpPr txBox="1">
              <a:spLocks noChangeArrowheads="1"/>
            </p:cNvSpPr>
            <p:nvPr/>
          </p:nvSpPr>
          <p:spPr bwMode="auto">
            <a:xfrm>
              <a:off x="2426" y="1344"/>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雇员</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26984" name="AutoShape 9"/>
            <p:cNvCxnSpPr>
              <a:stCxn id="204805" idx="3"/>
              <a:endCxn id="204807" idx="1"/>
            </p:cNvCxnSpPr>
            <p:nvPr/>
          </p:nvCxnSpPr>
          <p:spPr>
            <a:xfrm>
              <a:off x="1868" y="3178"/>
              <a:ext cx="453" cy="5"/>
            </a:xfrm>
            <a:prstGeom prst="straightConnector1">
              <a:avLst/>
            </a:prstGeom>
            <a:ln w="28575" cap="flat" cmpd="sng">
              <a:solidFill>
                <a:schemeClr val="tx1"/>
              </a:solidFill>
              <a:prstDash val="solid"/>
              <a:round/>
              <a:headEnd type="none" w="med" len="med"/>
              <a:tailEnd type="none" w="med" len="med"/>
            </a:ln>
          </p:spPr>
        </p:cxnSp>
        <p:cxnSp>
          <p:nvCxnSpPr>
            <p:cNvPr id="126985" name="AutoShape 10"/>
            <p:cNvCxnSpPr>
              <a:stCxn id="204807" idx="3"/>
              <a:endCxn id="204806" idx="1"/>
            </p:cNvCxnSpPr>
            <p:nvPr/>
          </p:nvCxnSpPr>
          <p:spPr>
            <a:xfrm>
              <a:off x="3155" y="3183"/>
              <a:ext cx="498" cy="3"/>
            </a:xfrm>
            <a:prstGeom prst="straightConnector1">
              <a:avLst/>
            </a:prstGeom>
            <a:ln w="28575" cap="flat" cmpd="sng">
              <a:solidFill>
                <a:schemeClr val="tx1"/>
              </a:solidFill>
              <a:prstDash val="solid"/>
              <a:round/>
              <a:headEnd type="none" w="med" len="med"/>
              <a:tailEnd type="none" w="med" len="med"/>
            </a:ln>
          </p:spPr>
        </p:cxnSp>
        <p:sp>
          <p:nvSpPr>
            <p:cNvPr id="204811" name="AutoShape 11"/>
            <p:cNvSpPr>
              <a:spLocks noChangeArrowheads="1"/>
            </p:cNvSpPr>
            <p:nvPr/>
          </p:nvSpPr>
          <p:spPr bwMode="auto">
            <a:xfrm>
              <a:off x="2328" y="1944"/>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监督</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12" name="Oval 12"/>
            <p:cNvSpPr>
              <a:spLocks noChangeArrowheads="1"/>
            </p:cNvSpPr>
            <p:nvPr/>
          </p:nvSpPr>
          <p:spPr bwMode="auto">
            <a:xfrm>
              <a:off x="2373" y="3667"/>
              <a:ext cx="726" cy="272"/>
            </a:xfrm>
            <a:prstGeom prst="ellipse">
              <a:avLst/>
            </a:prstGeom>
            <a:solidFill>
              <a:schemeClr val="accent1"/>
            </a:solidFill>
            <a:ln w="28575">
              <a:solidFill>
                <a:schemeClr val="tx1"/>
              </a:solidFill>
              <a:round/>
            </a:ln>
            <a:effectLst/>
          </p:spPr>
          <p:txBody>
            <a:bodyPr wrap="none" lIns="90000" tIns="46800" rIns="90000" bIns="46800" anchor="ctr"/>
            <a:lstStyle/>
            <a:p>
              <a:pPr marL="342900" indent="-342900"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cs typeface="+mn-cs"/>
                </a:rPr>
                <a:t>起始时间</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sp>
          <p:nvSpPr>
            <p:cNvPr id="204813" name="Oval 13"/>
            <p:cNvSpPr>
              <a:spLocks noChangeArrowheads="1"/>
            </p:cNvSpPr>
            <p:nvPr/>
          </p:nvSpPr>
          <p:spPr bwMode="auto">
            <a:xfrm>
              <a:off x="3606" y="2125"/>
              <a:ext cx="726" cy="272"/>
            </a:xfrm>
            <a:prstGeom prst="ellipse">
              <a:avLst/>
            </a:prstGeom>
            <a:solidFill>
              <a:schemeClr val="accent1"/>
            </a:solidFill>
            <a:ln w="28575">
              <a:solidFill>
                <a:schemeClr val="tx1"/>
              </a:solidFill>
              <a:round/>
            </a:ln>
            <a:effectLst/>
          </p:spPr>
          <p:txBody>
            <a:bodyPr wrap="none" lIns="90000" tIns="46800" rIns="90000" bIns="46800" anchor="ctr"/>
            <a:lstStyle/>
            <a:p>
              <a:pPr marL="342900" indent="-342900"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cs typeface="+mn-cs"/>
                </a:rPr>
                <a:t>截至时间</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cxnSp>
          <p:nvCxnSpPr>
            <p:cNvPr id="126989" name="AutoShape 14"/>
            <p:cNvCxnSpPr>
              <a:stCxn id="204807" idx="2"/>
              <a:endCxn id="204812" idx="0"/>
            </p:cNvCxnSpPr>
            <p:nvPr/>
          </p:nvCxnSpPr>
          <p:spPr>
            <a:xfrm flipH="1">
              <a:off x="2736" y="3504"/>
              <a:ext cx="2" cy="154"/>
            </a:xfrm>
            <a:prstGeom prst="straightConnector1">
              <a:avLst/>
            </a:prstGeom>
            <a:ln w="28575" cap="flat" cmpd="sng">
              <a:solidFill>
                <a:schemeClr val="tx1"/>
              </a:solidFill>
              <a:prstDash val="solid"/>
              <a:round/>
              <a:headEnd type="none" w="med" len="med"/>
              <a:tailEnd type="none" w="med" len="med"/>
            </a:ln>
          </p:spPr>
        </p:cxnSp>
        <p:cxnSp>
          <p:nvCxnSpPr>
            <p:cNvPr id="126990" name="AutoShape 15"/>
            <p:cNvCxnSpPr>
              <a:stCxn id="204811" idx="3"/>
              <a:endCxn id="204813" idx="2"/>
            </p:cNvCxnSpPr>
            <p:nvPr/>
          </p:nvCxnSpPr>
          <p:spPr>
            <a:xfrm>
              <a:off x="3153" y="2256"/>
              <a:ext cx="444" cy="5"/>
            </a:xfrm>
            <a:prstGeom prst="straightConnector1">
              <a:avLst/>
            </a:prstGeom>
            <a:ln w="28575" cap="flat" cmpd="sng">
              <a:solidFill>
                <a:schemeClr val="tx1"/>
              </a:solidFill>
              <a:prstDash val="solid"/>
              <a:round/>
              <a:headEnd type="none" w="med" len="med"/>
              <a:tailEnd type="none" w="med" len="med"/>
            </a:ln>
          </p:spPr>
        </p:cxnSp>
        <p:sp>
          <p:nvSpPr>
            <p:cNvPr id="204816" name="Rectangle 16"/>
            <p:cNvSpPr>
              <a:spLocks noChangeArrowheads="1"/>
            </p:cNvSpPr>
            <p:nvPr/>
          </p:nvSpPr>
          <p:spPr bwMode="auto">
            <a:xfrm>
              <a:off x="900" y="2760"/>
              <a:ext cx="3674" cy="1270"/>
            </a:xfrm>
            <a:prstGeom prst="rect">
              <a:avLst/>
            </a:prstGeom>
            <a:noFill/>
            <a:ln w="28575">
              <a:solidFill>
                <a:schemeClr val="tx1"/>
              </a:solidFill>
              <a:miter lim="800000"/>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cxnSp>
          <p:nvCxnSpPr>
            <p:cNvPr id="126992" name="AutoShape 17"/>
            <p:cNvCxnSpPr>
              <a:stCxn id="204811" idx="2"/>
              <a:endCxn id="204816" idx="0"/>
            </p:cNvCxnSpPr>
            <p:nvPr/>
          </p:nvCxnSpPr>
          <p:spPr>
            <a:xfrm>
              <a:off x="2736" y="2577"/>
              <a:ext cx="1" cy="174"/>
            </a:xfrm>
            <a:prstGeom prst="straightConnector1">
              <a:avLst/>
            </a:prstGeom>
            <a:ln w="28575" cap="flat" cmpd="sng">
              <a:solidFill>
                <a:schemeClr val="tx1"/>
              </a:solidFill>
              <a:prstDash val="solid"/>
              <a:round/>
              <a:headEnd type="none" w="med" len="med"/>
              <a:tailEnd type="none" w="med" len="med"/>
            </a:ln>
          </p:spPr>
        </p:cxnSp>
        <p:cxnSp>
          <p:nvCxnSpPr>
            <p:cNvPr id="126993" name="AutoShape 18"/>
            <p:cNvCxnSpPr>
              <a:stCxn id="204811" idx="2"/>
              <a:endCxn id="204816" idx="0"/>
            </p:cNvCxnSpPr>
            <p:nvPr/>
          </p:nvCxnSpPr>
          <p:spPr>
            <a:xfrm flipH="1">
              <a:off x="2744" y="1626"/>
              <a:ext cx="2" cy="318"/>
            </a:xfrm>
            <a:prstGeom prst="straightConnector1">
              <a:avLst/>
            </a:prstGeom>
            <a:ln w="28575" cap="flat" cmpd="sng">
              <a:solidFill>
                <a:schemeClr val="tx1"/>
              </a:solidFill>
              <a:prstDash val="solid"/>
              <a:round/>
              <a:headEnd type="none" w="med" len="med"/>
              <a:tailEnd type="none" w="med" len="med"/>
            </a:ln>
          </p:spPr>
        </p:cxn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001" name="Group 2"/>
          <p:cNvGrpSpPr/>
          <p:nvPr/>
        </p:nvGrpSpPr>
        <p:grpSpPr>
          <a:xfrm>
            <a:off x="2484438" y="188913"/>
            <a:ext cx="4038600" cy="2211387"/>
            <a:chOff x="260" y="1798"/>
            <a:chExt cx="2544" cy="1393"/>
          </a:xfrm>
        </p:grpSpPr>
        <p:sp>
          <p:nvSpPr>
            <p:cNvPr id="206851" name="Text Box 3"/>
            <p:cNvSpPr txBox="1">
              <a:spLocks noChangeArrowheads="1"/>
            </p:cNvSpPr>
            <p:nvPr/>
          </p:nvSpPr>
          <p:spPr bwMode="auto">
            <a:xfrm>
              <a:off x="260" y="1809"/>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职工</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52" name="Text Box 4"/>
            <p:cNvSpPr txBox="1">
              <a:spLocks noChangeArrowheads="1"/>
            </p:cNvSpPr>
            <p:nvPr/>
          </p:nvSpPr>
          <p:spPr bwMode="auto">
            <a:xfrm>
              <a:off x="1940" y="1809"/>
              <a:ext cx="86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项目</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53" name="AutoShape 5"/>
            <p:cNvSpPr>
              <a:spLocks noChangeArrowheads="1"/>
            </p:cNvSpPr>
            <p:nvPr/>
          </p:nvSpPr>
          <p:spPr bwMode="auto">
            <a:xfrm>
              <a:off x="1051" y="1798"/>
              <a:ext cx="768" cy="960"/>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参加</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并</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使用</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endParaRPr>
            </a:p>
          </p:txBody>
        </p:sp>
        <p:sp>
          <p:nvSpPr>
            <p:cNvPr id="206854" name="Line 6"/>
            <p:cNvSpPr>
              <a:spLocks noChangeShapeType="1"/>
            </p:cNvSpPr>
            <p:nvPr/>
          </p:nvSpPr>
          <p:spPr bwMode="auto">
            <a:xfrm>
              <a:off x="566" y="2146"/>
              <a:ext cx="506"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55" name="Line 7"/>
            <p:cNvSpPr>
              <a:spLocks noChangeShapeType="1"/>
            </p:cNvSpPr>
            <p:nvPr/>
          </p:nvSpPr>
          <p:spPr bwMode="auto">
            <a:xfrm flipH="1">
              <a:off x="1810" y="2146"/>
              <a:ext cx="580"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56" name="Text Box 8"/>
            <p:cNvSpPr txBox="1">
              <a:spLocks noChangeArrowheads="1"/>
            </p:cNvSpPr>
            <p:nvPr/>
          </p:nvSpPr>
          <p:spPr bwMode="auto">
            <a:xfrm>
              <a:off x="1134" y="2923"/>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华文新魏" panose="02010800040101010101" charset="-122"/>
                  <a:ea typeface="幼圆" panose="02010509060101010101" pitchFamily="49" charset="-122"/>
                  <a:cs typeface="幼圆" panose="02010509060101010101" pitchFamily="49" charset="-122"/>
                </a:rPr>
                <a:t>机器</a:t>
              </a:r>
              <a:endParaRPr kumimoji="1" lang="zh-CN" altLang="en-US" sz="2000" kern="1200" cap="none" spc="0" normalizeH="0" baseline="0" noProof="0">
                <a:effectLst>
                  <a:outerShdw blurRad="38100" dist="38100" dir="2700000" algn="tl">
                    <a:srgbClr val="FFFFFF"/>
                  </a:outerShdw>
                </a:effectLst>
                <a:latin typeface="华文新魏" panose="02010800040101010101" charset="-122"/>
                <a:ea typeface="幼圆" panose="02010509060101010101" pitchFamily="49" charset="-122"/>
                <a:cs typeface="幼圆" panose="02010509060101010101" pitchFamily="49" charset="-122"/>
              </a:endParaRPr>
            </a:p>
          </p:txBody>
        </p:sp>
        <p:sp>
          <p:nvSpPr>
            <p:cNvPr id="206857" name="Line 9"/>
            <p:cNvSpPr>
              <a:spLocks noChangeShapeType="1"/>
            </p:cNvSpPr>
            <p:nvPr/>
          </p:nvSpPr>
          <p:spPr bwMode="auto">
            <a:xfrm>
              <a:off x="1450" y="2770"/>
              <a:ext cx="0" cy="144"/>
            </a:xfrm>
            <a:prstGeom prst="line">
              <a:avLst/>
            </a:prstGeom>
            <a:noFill/>
            <a:ln w="28575">
              <a:solidFill>
                <a:schemeClr val="tx1"/>
              </a:solidFill>
              <a:round/>
              <a:tailEnd type="triangle" w="med"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
        <p:nvSpPr>
          <p:cNvPr id="206858" name="Rectangle 10"/>
          <p:cNvSpPr>
            <a:spLocks noChangeArrowheads="1"/>
          </p:cNvSpPr>
          <p:nvPr/>
        </p:nvSpPr>
        <p:spPr bwMode="auto">
          <a:xfrm>
            <a:off x="179388" y="2854325"/>
            <a:ext cx="2808288" cy="503238"/>
          </a:xfrm>
          <a:prstGeom prst="rect">
            <a:avLst/>
          </a:prstGeom>
          <a:solidFill>
            <a:srgbClr val="99CCFF"/>
          </a:solidFill>
          <a:ln>
            <a:noFill/>
          </a:ln>
          <a:effectLst/>
        </p:spPr>
        <p:txBody>
          <a:bodyPr/>
          <a:lstStyle/>
          <a:p>
            <a:pPr marL="342900" indent="-342900" eaLnBrk="0" fontAlgn="base" hangingPunct="0">
              <a:spcBef>
                <a:spcPct val="35000"/>
              </a:spcBef>
              <a:buClr>
                <a:schemeClr val="tx2"/>
              </a:buClr>
              <a:buSzPct val="90000"/>
              <a:buFont typeface="Monotype Sorts"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职工只能使用一台机器</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nvGrpSpPr>
          <p:cNvPr id="128010" name="Group 11"/>
          <p:cNvGrpSpPr/>
          <p:nvPr/>
        </p:nvGrpSpPr>
        <p:grpSpPr>
          <a:xfrm>
            <a:off x="4284663" y="3644900"/>
            <a:ext cx="4751387" cy="2859088"/>
            <a:chOff x="2653" y="1525"/>
            <a:chExt cx="2993" cy="2023"/>
          </a:xfrm>
        </p:grpSpPr>
        <p:sp>
          <p:nvSpPr>
            <p:cNvPr id="206860" name="Text Box 12"/>
            <p:cNvSpPr txBox="1">
              <a:spLocks noChangeArrowheads="1"/>
            </p:cNvSpPr>
            <p:nvPr/>
          </p:nvSpPr>
          <p:spPr bwMode="auto">
            <a:xfrm>
              <a:off x="2877" y="1806"/>
              <a:ext cx="672" cy="30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职工</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6861" name="Text Box 13"/>
            <p:cNvSpPr txBox="1">
              <a:spLocks noChangeArrowheads="1"/>
            </p:cNvSpPr>
            <p:nvPr/>
          </p:nvSpPr>
          <p:spPr bwMode="auto">
            <a:xfrm>
              <a:off x="4614" y="1806"/>
              <a:ext cx="864" cy="30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6862" name="Line 14"/>
            <p:cNvSpPr>
              <a:spLocks noChangeShapeType="1"/>
            </p:cNvSpPr>
            <p:nvPr/>
          </p:nvSpPr>
          <p:spPr bwMode="auto">
            <a:xfrm flipV="1">
              <a:off x="3560" y="1954"/>
              <a:ext cx="307" cy="12"/>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3" name="Line 15"/>
            <p:cNvSpPr>
              <a:spLocks noChangeShapeType="1"/>
            </p:cNvSpPr>
            <p:nvPr/>
          </p:nvSpPr>
          <p:spPr bwMode="auto">
            <a:xfrm>
              <a:off x="4376" y="1954"/>
              <a:ext cx="227"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4" name="AutoShape 16"/>
            <p:cNvSpPr>
              <a:spLocks noChangeArrowheads="1"/>
            </p:cNvSpPr>
            <p:nvPr/>
          </p:nvSpPr>
          <p:spPr bwMode="auto">
            <a:xfrm>
              <a:off x="3816" y="1698"/>
              <a:ext cx="576" cy="528"/>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rPr>
                <a:t>参加</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206865" name="AutoShape 17"/>
            <p:cNvSpPr>
              <a:spLocks noChangeArrowheads="1"/>
            </p:cNvSpPr>
            <p:nvPr/>
          </p:nvSpPr>
          <p:spPr bwMode="auto">
            <a:xfrm>
              <a:off x="3816" y="2565"/>
              <a:ext cx="576" cy="528"/>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rPr>
                <a:t>使用</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endParaRPr>
            </a:p>
          </p:txBody>
        </p:sp>
        <p:sp>
          <p:nvSpPr>
            <p:cNvPr id="206866" name="Text Box 18"/>
            <p:cNvSpPr txBox="1">
              <a:spLocks noChangeArrowheads="1"/>
            </p:cNvSpPr>
            <p:nvPr/>
          </p:nvSpPr>
          <p:spPr bwMode="auto">
            <a:xfrm>
              <a:off x="3768" y="3247"/>
              <a:ext cx="672" cy="301"/>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Times New Roman" panose="02020603050405020304" charset="0"/>
                  <a:ea typeface="幼圆" panose="02010509060101010101" pitchFamily="49" charset="-122"/>
                  <a:cs typeface="幼圆" panose="02010509060101010101" pitchFamily="49" charset="-122"/>
                </a:rPr>
                <a:t>机器</a:t>
              </a:r>
              <a:endParaRPr kumimoji="1" lang="zh-CN" altLang="en-US" sz="2000" kern="1200" cap="none" spc="0" normalizeH="0" baseline="0" noProof="0">
                <a:effectLst>
                  <a:outerShdw blurRad="38100" dist="38100" dir="2700000" algn="tl">
                    <a:srgbClr val="FFFFFF"/>
                  </a:outerShdw>
                </a:effectLst>
                <a:latin typeface="Times New Roman" panose="02020603050405020304" charset="0"/>
                <a:ea typeface="幼圆" panose="02010509060101010101" pitchFamily="49" charset="-122"/>
                <a:cs typeface="幼圆" panose="02010509060101010101" pitchFamily="49" charset="-122"/>
              </a:endParaRPr>
            </a:p>
          </p:txBody>
        </p:sp>
        <p:sp>
          <p:nvSpPr>
            <p:cNvPr id="206867" name="Line 19"/>
            <p:cNvSpPr>
              <a:spLocks noChangeShapeType="1"/>
            </p:cNvSpPr>
            <p:nvPr/>
          </p:nvSpPr>
          <p:spPr bwMode="auto">
            <a:xfrm>
              <a:off x="4104" y="3093"/>
              <a:ext cx="0" cy="144"/>
            </a:xfrm>
            <a:prstGeom prst="line">
              <a:avLst/>
            </a:prstGeom>
            <a:noFill/>
            <a:ln w="28575">
              <a:solidFill>
                <a:schemeClr val="tx1"/>
              </a:solidFill>
              <a:round/>
              <a:tailEnd type="triangle" w="med"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8" name="Rectangle 20"/>
            <p:cNvSpPr>
              <a:spLocks noChangeArrowheads="1"/>
            </p:cNvSpPr>
            <p:nvPr/>
          </p:nvSpPr>
          <p:spPr bwMode="auto">
            <a:xfrm>
              <a:off x="2653" y="1525"/>
              <a:ext cx="2993" cy="800"/>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9" name="Line 21"/>
            <p:cNvSpPr>
              <a:spLocks noChangeShapeType="1"/>
            </p:cNvSpPr>
            <p:nvPr/>
          </p:nvSpPr>
          <p:spPr bwMode="auto">
            <a:xfrm>
              <a:off x="4104" y="2325"/>
              <a:ext cx="0" cy="24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pSp>
        <p:nvGrpSpPr>
          <p:cNvPr id="128021" name="Group 22"/>
          <p:cNvGrpSpPr/>
          <p:nvPr/>
        </p:nvGrpSpPr>
        <p:grpSpPr>
          <a:xfrm>
            <a:off x="107950" y="3919538"/>
            <a:ext cx="3998913" cy="2413000"/>
            <a:chOff x="68" y="2469"/>
            <a:chExt cx="2519" cy="1520"/>
          </a:xfrm>
        </p:grpSpPr>
        <p:sp>
          <p:nvSpPr>
            <p:cNvPr id="206871" name="Text Box 23"/>
            <p:cNvSpPr txBox="1">
              <a:spLocks noChangeArrowheads="1"/>
            </p:cNvSpPr>
            <p:nvPr/>
          </p:nvSpPr>
          <p:spPr bwMode="auto">
            <a:xfrm>
              <a:off x="68" y="2541"/>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职工</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72" name="Text Box 24"/>
            <p:cNvSpPr txBox="1">
              <a:spLocks noChangeArrowheads="1"/>
            </p:cNvSpPr>
            <p:nvPr/>
          </p:nvSpPr>
          <p:spPr bwMode="auto">
            <a:xfrm>
              <a:off x="1723" y="2541"/>
              <a:ext cx="86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项目</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73" name="AutoShape 25"/>
            <p:cNvSpPr>
              <a:spLocks noChangeArrowheads="1"/>
            </p:cNvSpPr>
            <p:nvPr/>
          </p:nvSpPr>
          <p:spPr bwMode="auto">
            <a:xfrm>
              <a:off x="816" y="2469"/>
              <a:ext cx="768" cy="499"/>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参加</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endParaRPr>
            </a:p>
          </p:txBody>
        </p:sp>
        <p:sp>
          <p:nvSpPr>
            <p:cNvPr id="206874" name="Text Box 26"/>
            <p:cNvSpPr txBox="1">
              <a:spLocks noChangeArrowheads="1"/>
            </p:cNvSpPr>
            <p:nvPr/>
          </p:nvSpPr>
          <p:spPr bwMode="auto">
            <a:xfrm>
              <a:off x="942" y="3721"/>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华文新魏" panose="02010800040101010101" charset="-122"/>
                  <a:ea typeface="幼圆" panose="02010509060101010101" pitchFamily="49" charset="-122"/>
                  <a:cs typeface="幼圆" panose="02010509060101010101" pitchFamily="49" charset="-122"/>
                </a:rPr>
                <a:t>机器</a:t>
              </a:r>
              <a:endParaRPr kumimoji="1" lang="zh-CN" altLang="en-US" sz="2000" kern="1200" cap="none" spc="0" normalizeH="0" baseline="0" noProof="0">
                <a:effectLst>
                  <a:outerShdw blurRad="38100" dist="38100" dir="2700000" algn="tl">
                    <a:srgbClr val="FFFFFF"/>
                  </a:outerShdw>
                </a:effectLst>
                <a:latin typeface="华文新魏" panose="02010800040101010101" charset="-122"/>
                <a:ea typeface="幼圆" panose="02010509060101010101" pitchFamily="49" charset="-122"/>
                <a:cs typeface="幼圆" panose="02010509060101010101" pitchFamily="49" charset="-122"/>
              </a:endParaRPr>
            </a:p>
          </p:txBody>
        </p:sp>
        <p:sp>
          <p:nvSpPr>
            <p:cNvPr id="206875" name="AutoShape 27"/>
            <p:cNvSpPr>
              <a:spLocks noChangeArrowheads="1"/>
            </p:cNvSpPr>
            <p:nvPr/>
          </p:nvSpPr>
          <p:spPr bwMode="auto">
            <a:xfrm>
              <a:off x="317" y="3159"/>
              <a:ext cx="768" cy="461"/>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使用</a:t>
              </a:r>
              <a:endPar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endParaRPr>
            </a:p>
          </p:txBody>
        </p:sp>
        <p:cxnSp>
          <p:nvCxnSpPr>
            <p:cNvPr id="128027" name="AutoShape 28"/>
            <p:cNvCxnSpPr>
              <a:stCxn id="206873" idx="1"/>
              <a:endCxn id="206871" idx="3"/>
            </p:cNvCxnSpPr>
            <p:nvPr/>
          </p:nvCxnSpPr>
          <p:spPr>
            <a:xfrm flipH="1" flipV="1">
              <a:off x="701" y="2714"/>
              <a:ext cx="106" cy="5"/>
            </a:xfrm>
            <a:prstGeom prst="straightConnector1">
              <a:avLst/>
            </a:prstGeom>
            <a:ln w="28575" cap="flat" cmpd="sng">
              <a:solidFill>
                <a:schemeClr val="tx1"/>
              </a:solidFill>
              <a:prstDash val="solid"/>
              <a:round/>
              <a:headEnd type="none" w="med" len="med"/>
              <a:tailEnd type="none" w="med" len="med"/>
            </a:ln>
          </p:spPr>
        </p:cxnSp>
        <p:cxnSp>
          <p:nvCxnSpPr>
            <p:cNvPr id="128028" name="AutoShape 29"/>
            <p:cNvCxnSpPr>
              <a:stCxn id="206873" idx="3"/>
              <a:endCxn id="206872" idx="1"/>
            </p:cNvCxnSpPr>
            <p:nvPr/>
          </p:nvCxnSpPr>
          <p:spPr>
            <a:xfrm flipV="1">
              <a:off x="1593" y="2714"/>
              <a:ext cx="121" cy="5"/>
            </a:xfrm>
            <a:prstGeom prst="straightConnector1">
              <a:avLst/>
            </a:prstGeom>
            <a:ln w="28575" cap="flat" cmpd="sng">
              <a:solidFill>
                <a:schemeClr val="tx1"/>
              </a:solidFill>
              <a:prstDash val="solid"/>
              <a:round/>
              <a:headEnd type="none" w="med" len="med"/>
              <a:tailEnd type="none" w="med" len="med"/>
            </a:ln>
          </p:spPr>
        </p:cxnSp>
        <p:cxnSp>
          <p:nvCxnSpPr>
            <p:cNvPr id="128029" name="AutoShape 30"/>
            <p:cNvCxnSpPr>
              <a:stCxn id="206875" idx="3"/>
              <a:endCxn id="206874" idx="0"/>
            </p:cNvCxnSpPr>
            <p:nvPr/>
          </p:nvCxnSpPr>
          <p:spPr>
            <a:xfrm>
              <a:off x="1094" y="3390"/>
              <a:ext cx="160" cy="322"/>
            </a:xfrm>
            <a:prstGeom prst="straightConnector1">
              <a:avLst/>
            </a:prstGeom>
            <a:ln w="28575" cap="flat" cmpd="sng">
              <a:solidFill>
                <a:schemeClr val="tx1"/>
              </a:solidFill>
              <a:prstDash val="solid"/>
              <a:round/>
              <a:headEnd type="none" w="med" len="med"/>
              <a:tailEnd type="triangle" w="med" len="med"/>
            </a:ln>
          </p:spPr>
        </p:cxnSp>
        <p:cxnSp>
          <p:nvCxnSpPr>
            <p:cNvPr id="128030" name="AutoShape 31"/>
            <p:cNvCxnSpPr>
              <a:stCxn id="206871" idx="2"/>
              <a:endCxn id="206875" idx="1"/>
            </p:cNvCxnSpPr>
            <p:nvPr/>
          </p:nvCxnSpPr>
          <p:spPr>
            <a:xfrm flipH="1">
              <a:off x="308" y="2895"/>
              <a:ext cx="72" cy="495"/>
            </a:xfrm>
            <a:prstGeom prst="straightConnector1">
              <a:avLst/>
            </a:prstGeom>
            <a:ln w="28575" cap="flat" cmpd="sng">
              <a:solidFill>
                <a:schemeClr val="tx1"/>
              </a:solidFill>
              <a:prstDash val="solid"/>
              <a:round/>
              <a:headEnd type="none" w="med" len="med"/>
              <a:tailEnd type="none" w="med" len="med"/>
            </a:ln>
          </p:spPr>
        </p:cxnSp>
      </p:grpSp>
      <p:sp>
        <p:nvSpPr>
          <p:cNvPr id="206880" name="Rectangle 32"/>
          <p:cNvSpPr>
            <a:spLocks noChangeArrowheads="1"/>
          </p:cNvSpPr>
          <p:nvPr/>
        </p:nvSpPr>
        <p:spPr bwMode="auto">
          <a:xfrm>
            <a:off x="4348163" y="2852738"/>
            <a:ext cx="4400550" cy="431800"/>
          </a:xfrm>
          <a:prstGeom prst="rect">
            <a:avLst/>
          </a:prstGeom>
          <a:solidFill>
            <a:srgbClr val="99CCFF"/>
          </a:solidFill>
          <a:ln>
            <a:noFill/>
          </a:ln>
          <a:effectLst/>
        </p:spPr>
        <p:txBody>
          <a:bodyPr/>
          <a:lstStyle/>
          <a:p>
            <a:pPr marL="342900" indent="-342900" algn="ctr" eaLnBrk="0" fontAlgn="base" hangingPunct="0">
              <a:spcBef>
                <a:spcPct val="35000"/>
              </a:spcBef>
              <a:buClr>
                <a:schemeClr val="tx2"/>
              </a:buClr>
              <a:buSzPct val="90000"/>
              <a:buFont typeface="Monotype Sorts"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职工参加一个项目最多使用一台机器</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p:cNvSpPr>
            <a:spLocks noGrp="1"/>
          </p:cNvSpPr>
          <p:nvPr>
            <p:ph type="title"/>
          </p:nvPr>
        </p:nvSpPr>
        <p:spPr>
          <a:xfrm>
            <a:off x="768350" y="168275"/>
            <a:ext cx="8056563" cy="544513"/>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sp>
        <p:nvSpPr>
          <p:cNvPr id="227331" name="Rectangle 3"/>
          <p:cNvSpPr>
            <a:spLocks noGrp="1" noChangeArrowheads="1"/>
          </p:cNvSpPr>
          <p:nvPr>
            <p:ph idx="1"/>
          </p:nvPr>
        </p:nvSpPr>
        <p:spPr>
          <a:xfrm>
            <a:off x="190500" y="1243013"/>
            <a:ext cx="8740775" cy="736600"/>
          </a:xfrm>
        </p:spPr>
        <p:txBody>
          <a:bodyPr vert="horz" wrap="square" lIns="91440" tIns="45720" rIns="91440" bIns="45720" numCol="1" anchor="t" anchorCtr="0" compatLnSpc="1"/>
          <a:lstStyle/>
          <a:p>
            <a:pPr marL="342900" marR="0" indent="-342900" algn="l" defTabSz="914400" rtl="0" eaLnBrk="0" fontAlgn="base" latinLnBrk="0" hangingPunct="0">
              <a:lnSpc>
                <a:spcPct val="9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聚集</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实体集</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与</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B</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以及它们的联系</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R</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被看成实体集</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C，C</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与另一实体集</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D</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构成联系</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S，</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则</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S</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所对应的关系的码由</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R</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和</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D</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的码构成</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grpSp>
        <p:nvGrpSpPr>
          <p:cNvPr id="186371" name="Group 4"/>
          <p:cNvGrpSpPr/>
          <p:nvPr/>
        </p:nvGrpSpPr>
        <p:grpSpPr>
          <a:xfrm>
            <a:off x="928688" y="2208213"/>
            <a:ext cx="7315200" cy="4016375"/>
            <a:chOff x="576" y="1614"/>
            <a:chExt cx="4608" cy="2622"/>
          </a:xfrm>
        </p:grpSpPr>
        <p:sp>
          <p:nvSpPr>
            <p:cNvPr id="186372" name="Text Box 5"/>
            <p:cNvSpPr txBox="1"/>
            <p:nvPr/>
          </p:nvSpPr>
          <p:spPr>
            <a:xfrm>
              <a:off x="1344" y="2439"/>
              <a:ext cx="672" cy="358"/>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职工</a:t>
              </a:r>
              <a:endParaRPr lang="zh-CN" altLang="en-US" sz="2400" dirty="0">
                <a:latin typeface="Times New Roman" panose="02020603050405020304" charset="0"/>
                <a:ea typeface="华文新魏" panose="02010800040101010101" charset="-122"/>
              </a:endParaRPr>
            </a:p>
          </p:txBody>
        </p:sp>
        <p:sp>
          <p:nvSpPr>
            <p:cNvPr id="186373" name="Text Box 6"/>
            <p:cNvSpPr txBox="1"/>
            <p:nvPr/>
          </p:nvSpPr>
          <p:spPr>
            <a:xfrm>
              <a:off x="3792" y="2439"/>
              <a:ext cx="864" cy="358"/>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项目</a:t>
              </a:r>
              <a:endParaRPr lang="zh-CN" altLang="en-US" sz="2400" dirty="0">
                <a:latin typeface="Times New Roman" panose="02020603050405020304" charset="0"/>
                <a:ea typeface="华文新魏" panose="02010800040101010101" charset="-122"/>
              </a:endParaRPr>
            </a:p>
          </p:txBody>
        </p:sp>
        <p:sp>
          <p:nvSpPr>
            <p:cNvPr id="227335" name="Line 7"/>
            <p:cNvSpPr>
              <a:spLocks noChangeShapeType="1"/>
            </p:cNvSpPr>
            <p:nvPr/>
          </p:nvSpPr>
          <p:spPr bwMode="auto">
            <a:xfrm>
              <a:off x="2016" y="2574"/>
              <a:ext cx="672"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36" name="Line 8"/>
            <p:cNvSpPr>
              <a:spLocks noChangeShapeType="1"/>
            </p:cNvSpPr>
            <p:nvPr/>
          </p:nvSpPr>
          <p:spPr bwMode="auto">
            <a:xfrm>
              <a:off x="3120" y="2574"/>
              <a:ext cx="672"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37" name="AutoShape 9"/>
            <p:cNvSpPr>
              <a:spLocks noChangeArrowheads="1"/>
            </p:cNvSpPr>
            <p:nvPr/>
          </p:nvSpPr>
          <p:spPr bwMode="auto">
            <a:xfrm>
              <a:off x="2592" y="2286"/>
              <a:ext cx="576" cy="53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参加</a:t>
              </a:r>
              <a:endPar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27338" name="Oval 10" descr="Large confetti"/>
            <p:cNvSpPr>
              <a:spLocks noChangeArrowheads="1"/>
            </p:cNvSpPr>
            <p:nvPr/>
          </p:nvSpPr>
          <p:spPr bwMode="auto">
            <a:xfrm>
              <a:off x="1200" y="1758"/>
              <a:ext cx="480" cy="383"/>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4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姓名</a:t>
              </a:r>
              <a:endParaRPr kumimoji="1" lang="zh-CN" altLang="en-US" sz="24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186378" name="Oval 11" descr="Large confetti"/>
            <p:cNvSpPr/>
            <p:nvPr/>
          </p:nvSpPr>
          <p:spPr>
            <a:xfrm>
              <a:off x="1728" y="1758"/>
              <a:ext cx="480"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dirty="0">
                  <a:solidFill>
                    <a:schemeClr val="tx2"/>
                  </a:solidFill>
                  <a:latin typeface="Times New Roman" panose="02020603050405020304" charset="0"/>
                  <a:ea typeface="华文新魏" panose="02010800040101010101" charset="-122"/>
                </a:rPr>
                <a:t>工种</a:t>
              </a:r>
              <a:endParaRPr lang="zh-CN" altLang="en-US" sz="2400" dirty="0">
                <a:solidFill>
                  <a:schemeClr val="tx2"/>
                </a:solidFill>
                <a:latin typeface="Times New Roman" panose="02020603050405020304" charset="0"/>
                <a:ea typeface="华文新魏" panose="02010800040101010101" charset="-122"/>
              </a:endParaRPr>
            </a:p>
          </p:txBody>
        </p:sp>
        <p:sp>
          <p:nvSpPr>
            <p:cNvPr id="186379" name="Oval 12" descr="Large confetti"/>
            <p:cNvSpPr/>
            <p:nvPr/>
          </p:nvSpPr>
          <p:spPr>
            <a:xfrm>
              <a:off x="3312" y="1758"/>
              <a:ext cx="812"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u="sng" dirty="0">
                  <a:solidFill>
                    <a:schemeClr val="tx2"/>
                  </a:solidFill>
                  <a:latin typeface="Times New Roman" panose="02020603050405020304" charset="0"/>
                  <a:ea typeface="华文新魏" panose="02010800040101010101" charset="-122"/>
                </a:rPr>
                <a:t>项目名称</a:t>
              </a:r>
              <a:endParaRPr lang="zh-CN" altLang="en-US" sz="2400" u="sng" dirty="0">
                <a:solidFill>
                  <a:schemeClr val="tx2"/>
                </a:solidFill>
                <a:latin typeface="Times New Roman" panose="02020603050405020304" charset="0"/>
                <a:ea typeface="华文新魏" panose="02010800040101010101" charset="-122"/>
              </a:endParaRPr>
            </a:p>
          </p:txBody>
        </p:sp>
        <p:sp>
          <p:nvSpPr>
            <p:cNvPr id="186380" name="Oval 13" descr="Large confetti"/>
            <p:cNvSpPr/>
            <p:nvPr/>
          </p:nvSpPr>
          <p:spPr>
            <a:xfrm>
              <a:off x="4176" y="1758"/>
              <a:ext cx="524"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dirty="0">
                  <a:solidFill>
                    <a:schemeClr val="tx2"/>
                  </a:solidFill>
                  <a:latin typeface="Times New Roman" panose="02020603050405020304" charset="0"/>
                  <a:ea typeface="华文新魏" panose="02010800040101010101" charset="-122"/>
                </a:rPr>
                <a:t>类型</a:t>
              </a:r>
              <a:endParaRPr lang="zh-CN" altLang="en-US" sz="2400" dirty="0">
                <a:solidFill>
                  <a:schemeClr val="tx2"/>
                </a:solidFill>
                <a:latin typeface="Times New Roman" panose="02020603050405020304" charset="0"/>
                <a:ea typeface="华文新魏" panose="02010800040101010101" charset="-122"/>
              </a:endParaRPr>
            </a:p>
          </p:txBody>
        </p:sp>
        <p:sp>
          <p:nvSpPr>
            <p:cNvPr id="227342" name="Oval 14" descr="Large confetti"/>
            <p:cNvSpPr>
              <a:spLocks noChangeArrowheads="1"/>
            </p:cNvSpPr>
            <p:nvPr/>
          </p:nvSpPr>
          <p:spPr bwMode="auto">
            <a:xfrm>
              <a:off x="1584" y="3822"/>
              <a:ext cx="672" cy="380"/>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4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机器名</a:t>
              </a:r>
              <a:endParaRPr kumimoji="1" lang="zh-CN" altLang="en-US" sz="24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27343" name="Oval 15" descr="Large confetti"/>
            <p:cNvSpPr>
              <a:spLocks noChangeArrowheads="1"/>
            </p:cNvSpPr>
            <p:nvPr/>
          </p:nvSpPr>
          <p:spPr bwMode="auto">
            <a:xfrm>
              <a:off x="3508" y="3822"/>
              <a:ext cx="524" cy="380"/>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4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型号</a:t>
              </a:r>
              <a:endParaRPr kumimoji="1" lang="zh-CN" altLang="en-US" sz="24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227344" name="Line 16"/>
            <p:cNvSpPr>
              <a:spLocks noChangeShapeType="1"/>
            </p:cNvSpPr>
            <p:nvPr/>
          </p:nvSpPr>
          <p:spPr bwMode="auto">
            <a:xfrm flipH="1" flipV="1">
              <a:off x="1488" y="2142"/>
              <a:ext cx="96"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45" name="Line 17"/>
            <p:cNvSpPr>
              <a:spLocks noChangeShapeType="1"/>
            </p:cNvSpPr>
            <p:nvPr/>
          </p:nvSpPr>
          <p:spPr bwMode="auto">
            <a:xfrm flipV="1">
              <a:off x="1824" y="2142"/>
              <a:ext cx="144"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46" name="Line 18"/>
            <p:cNvSpPr>
              <a:spLocks noChangeShapeType="1"/>
            </p:cNvSpPr>
            <p:nvPr/>
          </p:nvSpPr>
          <p:spPr bwMode="auto">
            <a:xfrm flipH="1" flipV="1">
              <a:off x="3888" y="2142"/>
              <a:ext cx="192"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47" name="Line 19"/>
            <p:cNvSpPr>
              <a:spLocks noChangeShapeType="1"/>
            </p:cNvSpPr>
            <p:nvPr/>
          </p:nvSpPr>
          <p:spPr bwMode="auto">
            <a:xfrm flipV="1">
              <a:off x="4272" y="2142"/>
              <a:ext cx="192"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6387" name="Oval 20" descr="Large confetti"/>
            <p:cNvSpPr/>
            <p:nvPr/>
          </p:nvSpPr>
          <p:spPr>
            <a:xfrm>
              <a:off x="2592" y="1758"/>
              <a:ext cx="524"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dirty="0">
                  <a:solidFill>
                    <a:schemeClr val="tx2"/>
                  </a:solidFill>
                  <a:latin typeface="Times New Roman" panose="02020603050405020304" charset="0"/>
                  <a:ea typeface="华文新魏" panose="02010800040101010101" charset="-122"/>
                </a:rPr>
                <a:t>工时</a:t>
              </a:r>
              <a:endParaRPr lang="zh-CN" altLang="en-US" sz="2400" dirty="0">
                <a:solidFill>
                  <a:schemeClr val="tx2"/>
                </a:solidFill>
                <a:latin typeface="Times New Roman" panose="02020603050405020304" charset="0"/>
                <a:ea typeface="华文新魏" panose="02010800040101010101" charset="-122"/>
              </a:endParaRPr>
            </a:p>
          </p:txBody>
        </p:sp>
        <p:sp>
          <p:nvSpPr>
            <p:cNvPr id="227349" name="Line 21"/>
            <p:cNvSpPr>
              <a:spLocks noChangeShapeType="1"/>
            </p:cNvSpPr>
            <p:nvPr/>
          </p:nvSpPr>
          <p:spPr bwMode="auto">
            <a:xfrm>
              <a:off x="2880" y="2142"/>
              <a:ext cx="0"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0" name="AutoShape 22"/>
            <p:cNvSpPr>
              <a:spLocks noChangeArrowheads="1"/>
            </p:cNvSpPr>
            <p:nvPr/>
          </p:nvSpPr>
          <p:spPr bwMode="auto">
            <a:xfrm>
              <a:off x="2592" y="3198"/>
              <a:ext cx="576" cy="53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使用</a:t>
              </a:r>
              <a:endPar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endParaRPr>
            </a:p>
          </p:txBody>
        </p:sp>
        <p:sp>
          <p:nvSpPr>
            <p:cNvPr id="186390" name="Text Box 23"/>
            <p:cNvSpPr txBox="1"/>
            <p:nvPr/>
          </p:nvSpPr>
          <p:spPr>
            <a:xfrm>
              <a:off x="2544" y="3879"/>
              <a:ext cx="672" cy="357"/>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机器</a:t>
              </a:r>
              <a:endParaRPr lang="zh-CN" altLang="en-US" sz="2400">
                <a:latin typeface="Times New Roman" panose="02020603050405020304" charset="0"/>
                <a:ea typeface="华文新魏" panose="02010800040101010101" charset="-122"/>
              </a:endParaRPr>
            </a:p>
          </p:txBody>
        </p:sp>
        <p:sp>
          <p:nvSpPr>
            <p:cNvPr id="227352" name="Line 24"/>
            <p:cNvSpPr>
              <a:spLocks noChangeShapeType="1"/>
            </p:cNvSpPr>
            <p:nvPr/>
          </p:nvSpPr>
          <p:spPr bwMode="auto">
            <a:xfrm flipH="1">
              <a:off x="2256" y="4014"/>
              <a:ext cx="28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3" name="Line 25"/>
            <p:cNvSpPr>
              <a:spLocks noChangeShapeType="1"/>
            </p:cNvSpPr>
            <p:nvPr/>
          </p:nvSpPr>
          <p:spPr bwMode="auto">
            <a:xfrm flipH="1">
              <a:off x="3220" y="4014"/>
              <a:ext cx="28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4" name="Line 26"/>
            <p:cNvSpPr>
              <a:spLocks noChangeShapeType="1"/>
            </p:cNvSpPr>
            <p:nvPr/>
          </p:nvSpPr>
          <p:spPr bwMode="auto">
            <a:xfrm>
              <a:off x="2880" y="3726"/>
              <a:ext cx="0"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5" name="Rectangle 27"/>
            <p:cNvSpPr>
              <a:spLocks noChangeArrowheads="1"/>
            </p:cNvSpPr>
            <p:nvPr/>
          </p:nvSpPr>
          <p:spPr bwMode="auto">
            <a:xfrm>
              <a:off x="576" y="1614"/>
              <a:ext cx="4608" cy="1344"/>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6" name="Line 28"/>
            <p:cNvSpPr>
              <a:spLocks noChangeShapeType="1"/>
            </p:cNvSpPr>
            <p:nvPr/>
          </p:nvSpPr>
          <p:spPr bwMode="auto">
            <a:xfrm>
              <a:off x="2880" y="2958"/>
              <a:ext cx="0" cy="23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endPar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endParaRPr>
          </a:p>
        </p:txBody>
      </p:sp>
      <p:graphicFrame>
        <p:nvGraphicFramePr>
          <p:cNvPr id="186370" name="内容占位符 186369"/>
          <p:cNvGraphicFramePr>
            <a:graphicFrameLocks noGrp="1"/>
          </p:cNvGraphicFramePr>
          <p:nvPr>
            <p:ph sz="half" idx="1"/>
          </p:nvPr>
        </p:nvGraphicFramePr>
        <p:xfrm>
          <a:off x="6769100" y="4000500"/>
          <a:ext cx="1784350" cy="675508"/>
        </p:xfrm>
        <a:graphic>
          <a:graphicData uri="http://schemas.openxmlformats.org/drawingml/2006/table">
            <a:tbl>
              <a:tblPr/>
              <a:tblGrid>
                <a:gridCol w="1135063"/>
                <a:gridCol w="649287"/>
              </a:tblGrid>
              <a:tr h="3381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项目</a:t>
                      </a:r>
                      <a:endParaRPr lang="zh-CN" altLang="en-US" dirty="0">
                        <a:solidFill>
                          <a:schemeClr val="hlink"/>
                        </a:solidFill>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项目名称</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类型</a:t>
                      </a:r>
                      <a:endParaRPr lang="zh-CN" altLang="en-US" dirty="0">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86380" name="表格 186379"/>
          <p:cNvGraphicFramePr/>
          <p:nvPr/>
        </p:nvGraphicFramePr>
        <p:xfrm>
          <a:off x="1709738" y="3979863"/>
          <a:ext cx="1858963" cy="706438"/>
        </p:xfrm>
        <a:graphic>
          <a:graphicData uri="http://schemas.openxmlformats.org/drawingml/2006/table">
            <a:tbl>
              <a:tblPr/>
              <a:tblGrid>
                <a:gridCol w="1206500"/>
                <a:gridCol w="652463"/>
              </a:tblGrid>
              <a:tr h="3381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职工</a:t>
                      </a:r>
                      <a:endParaRPr lang="zh-CN" altLang="en-US" dirty="0">
                        <a:solidFill>
                          <a:schemeClr val="hlink"/>
                        </a:solidFill>
                        <a:latin typeface="Helvetica" charset="0"/>
                        <a:ea typeface="宋体" panose="02010600030101010101" pitchFamily="2" charset="-122"/>
                      </a:endParaRPr>
                    </a:p>
                  </a:txBody>
                  <a:tcPr marL="90000" marR="90000" marT="46846" marB="4684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830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职工姓名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846" marB="4684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工种</a:t>
                      </a:r>
                      <a:endParaRPr lang="zh-CN" altLang="en-US" dirty="0">
                        <a:latin typeface="Helvetica" charset="0"/>
                        <a:ea typeface="宋体" panose="02010600030101010101" pitchFamily="2" charset="-122"/>
                      </a:endParaRPr>
                    </a:p>
                  </a:txBody>
                  <a:tcPr marL="90000" marR="90000" marT="46846" marB="4684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86390" name="内容占位符 186389"/>
          <p:cNvGraphicFramePr>
            <a:graphicFrameLocks noGrp="1"/>
          </p:cNvGraphicFramePr>
          <p:nvPr>
            <p:ph sz="half" idx="2"/>
          </p:nvPr>
        </p:nvGraphicFramePr>
        <p:xfrm>
          <a:off x="693738" y="4989513"/>
          <a:ext cx="2890838" cy="675508"/>
        </p:xfrm>
        <a:graphic>
          <a:graphicData uri="http://schemas.openxmlformats.org/drawingml/2006/table">
            <a:tbl>
              <a:tblPr/>
              <a:tblGrid>
                <a:gridCol w="1138238"/>
                <a:gridCol w="1087437"/>
                <a:gridCol w="665163"/>
              </a:tblGrid>
              <a:tr h="33813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参加</a:t>
                      </a:r>
                      <a:endParaRPr lang="zh-CN" altLang="en-US" dirty="0">
                        <a:solidFill>
                          <a:schemeClr val="hlink"/>
                        </a:solidFill>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职工姓名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项目名称</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工时</a:t>
                      </a:r>
                      <a:endParaRPr lang="zh-CN" altLang="en-US" dirty="0">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28446" name="Group 94"/>
          <p:cNvGraphicFramePr>
            <a:graphicFrameLocks noGrp="1"/>
          </p:cNvGraphicFramePr>
          <p:nvPr/>
        </p:nvGraphicFramePr>
        <p:xfrm>
          <a:off x="6804025" y="5002213"/>
          <a:ext cx="1571625" cy="674740"/>
        </p:xfrm>
        <a:graphic>
          <a:graphicData uri="http://schemas.openxmlformats.org/drawingml/2006/table">
            <a:tbl>
              <a:tblPr/>
              <a:tblGrid>
                <a:gridCol w="966788"/>
                <a:gridCol w="604837"/>
              </a:tblGrid>
              <a:tr h="337344">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机器</a:t>
                      </a:r>
                      <a:endParaRPr kumimoji="1" lang="zh-CN" altLang="en-US" sz="1600" b="0" i="0" u="none" strike="noStrike" cap="none" normalizeH="0" baseline="0">
                        <a:ln>
                          <a:noFill/>
                        </a:ln>
                        <a:solidFill>
                          <a:schemeClr val="hlink"/>
                        </a:solidFill>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机器名</a:t>
                      </a:r>
                      <a:endPar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endParaRP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型号</a:t>
                      </a:r>
                      <a:endParaRPr kumimoji="1" lang="zh-CN" altLang="en-US" sz="1600" b="0" i="0" u="none" strike="noStrike" cap="none" normalizeH="0" baseline="0">
                        <a:ln>
                          <a:noFill/>
                        </a:ln>
                        <a:solidFill>
                          <a:schemeClr val="tx1"/>
                        </a:solidFill>
                        <a:effectLst/>
                        <a:latin typeface="Helvetica" charset="0"/>
                        <a:ea typeface="宋体" panose="02010600030101010101" pitchFamily="2" charset="-122"/>
                      </a:endParaRP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86412" name="表格 186411"/>
          <p:cNvGraphicFramePr/>
          <p:nvPr/>
        </p:nvGraphicFramePr>
        <p:xfrm>
          <a:off x="3763963" y="6007100"/>
          <a:ext cx="2919413" cy="675508"/>
        </p:xfrm>
        <a:graphic>
          <a:graphicData uri="http://schemas.openxmlformats.org/drawingml/2006/table">
            <a:tbl>
              <a:tblPr/>
              <a:tblGrid>
                <a:gridCol w="1120775"/>
                <a:gridCol w="1003300"/>
                <a:gridCol w="795338"/>
              </a:tblGrid>
              <a:tr h="33813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使用</a:t>
                      </a:r>
                      <a:endParaRPr lang="zh-CN" altLang="en-US" dirty="0">
                        <a:solidFill>
                          <a:schemeClr val="hlink"/>
                        </a:solidFill>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职工姓名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项目名称</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机器名</a:t>
                      </a:r>
                      <a:endPar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endParaRP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87448" name="AutoShape 57"/>
          <p:cNvCxnSpPr/>
          <p:nvPr/>
        </p:nvCxnSpPr>
        <p:spPr>
          <a:xfrm rot="-10800000" flipH="1">
            <a:off x="693738" y="4500563"/>
            <a:ext cx="1016000" cy="993775"/>
          </a:xfrm>
          <a:prstGeom prst="curvedConnector3">
            <a:avLst>
              <a:gd name="adj1" fmla="val -22500"/>
            </a:avLst>
          </a:prstGeom>
          <a:ln w="9525" cap="flat" cmpd="sng">
            <a:solidFill>
              <a:schemeClr val="tx1"/>
            </a:solidFill>
            <a:prstDash val="dash"/>
            <a:round/>
            <a:headEnd type="oval" w="med" len="med"/>
            <a:tailEnd type="triangle" w="med" len="med"/>
          </a:ln>
        </p:spPr>
      </p:cxnSp>
      <p:cxnSp>
        <p:nvCxnSpPr>
          <p:cNvPr id="187449" name="AutoShape 58"/>
          <p:cNvCxnSpPr/>
          <p:nvPr/>
        </p:nvCxnSpPr>
        <p:spPr>
          <a:xfrm rot="-5400000">
            <a:off x="4162425" y="2719388"/>
            <a:ext cx="820738" cy="4392612"/>
          </a:xfrm>
          <a:prstGeom prst="curvedConnector2">
            <a:avLst/>
          </a:prstGeom>
          <a:ln w="9525" cap="flat" cmpd="sng">
            <a:solidFill>
              <a:schemeClr val="tx1"/>
            </a:solidFill>
            <a:prstDash val="dash"/>
            <a:round/>
            <a:headEnd type="oval" w="med" len="med"/>
            <a:tailEnd type="triangle" w="med" len="med"/>
          </a:ln>
        </p:spPr>
      </p:cxnSp>
      <p:cxnSp>
        <p:nvCxnSpPr>
          <p:cNvPr id="187450" name="AutoShape 59"/>
          <p:cNvCxnSpPr/>
          <p:nvPr/>
        </p:nvCxnSpPr>
        <p:spPr>
          <a:xfrm rot="5400000" flipH="1">
            <a:off x="2489200" y="4508500"/>
            <a:ext cx="1658938" cy="2011363"/>
          </a:xfrm>
          <a:prstGeom prst="curvedConnector3">
            <a:avLst>
              <a:gd name="adj1" fmla="val 49954"/>
            </a:avLst>
          </a:prstGeom>
          <a:ln w="9525" cap="flat" cmpd="sng">
            <a:solidFill>
              <a:schemeClr val="tx1"/>
            </a:solidFill>
            <a:prstDash val="dash"/>
            <a:round/>
            <a:headEnd type="oval" w="med" len="med"/>
            <a:tailEnd type="triangle" w="med" len="med"/>
          </a:ln>
        </p:spPr>
      </p:cxnSp>
      <p:cxnSp>
        <p:nvCxnSpPr>
          <p:cNvPr id="187451" name="AutoShape 60"/>
          <p:cNvCxnSpPr/>
          <p:nvPr/>
        </p:nvCxnSpPr>
        <p:spPr>
          <a:xfrm rot="-5400000">
            <a:off x="5526088" y="4532313"/>
            <a:ext cx="1670050" cy="1949450"/>
          </a:xfrm>
          <a:prstGeom prst="curvedConnector3">
            <a:avLst>
              <a:gd name="adj1" fmla="val 50000"/>
            </a:avLst>
          </a:prstGeom>
          <a:ln w="9525" cap="flat" cmpd="sng">
            <a:solidFill>
              <a:schemeClr val="tx1"/>
            </a:solidFill>
            <a:prstDash val="dash"/>
            <a:round/>
            <a:headEnd type="oval" w="med" len="med"/>
            <a:tailEnd type="triangle" w="med" len="med"/>
          </a:ln>
        </p:spPr>
      </p:cxnSp>
      <p:cxnSp>
        <p:nvCxnSpPr>
          <p:cNvPr id="187452" name="AutoShape 61"/>
          <p:cNvCxnSpPr/>
          <p:nvPr/>
        </p:nvCxnSpPr>
        <p:spPr>
          <a:xfrm rot="-5400000">
            <a:off x="6453188" y="5508625"/>
            <a:ext cx="668337" cy="1001713"/>
          </a:xfrm>
          <a:prstGeom prst="curvedConnector3">
            <a:avLst>
              <a:gd name="adj1" fmla="val 49880"/>
            </a:avLst>
          </a:prstGeom>
          <a:ln w="9525" cap="flat" cmpd="sng">
            <a:solidFill>
              <a:schemeClr val="tx1"/>
            </a:solidFill>
            <a:prstDash val="dash"/>
            <a:round/>
            <a:headEnd type="oval" w="med" len="med"/>
            <a:tailEnd type="triangle" w="med" len="med"/>
          </a:ln>
        </p:spPr>
      </p:cxnSp>
      <p:grpSp>
        <p:nvGrpSpPr>
          <p:cNvPr id="187453" name="Group 95"/>
          <p:cNvGrpSpPr/>
          <p:nvPr/>
        </p:nvGrpSpPr>
        <p:grpSpPr>
          <a:xfrm>
            <a:off x="1665288" y="1306513"/>
            <a:ext cx="6091237" cy="2378075"/>
            <a:chOff x="576" y="1614"/>
            <a:chExt cx="4608" cy="2676"/>
          </a:xfrm>
        </p:grpSpPr>
        <p:sp>
          <p:nvSpPr>
            <p:cNvPr id="228448" name="Text Box 96"/>
            <p:cNvSpPr txBox="1">
              <a:spLocks noChangeArrowheads="1"/>
            </p:cNvSpPr>
            <p:nvPr/>
          </p:nvSpPr>
          <p:spPr bwMode="auto">
            <a:xfrm>
              <a:off x="1345" y="2439"/>
              <a:ext cx="671" cy="41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noProof="1">
                  <a:effectLst>
                    <a:outerShdw blurRad="38100" dist="38100" dir="2700000">
                      <a:srgbClr val="C0C0C0"/>
                    </a:outerShdw>
                  </a:effectLst>
                  <a:latin typeface="Arial" panose="020B0604020202020204" pitchFamily="34" charset="0"/>
                  <a:ea typeface="幼圆" panose="02010509060101010101" pitchFamily="49" charset="-122"/>
                  <a:cs typeface="+mn-cs"/>
                </a:rPr>
                <a:t>职工</a:t>
              </a:r>
              <a:endParaRPr lang="zh-CN" altLang="en-US"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49" name="Text Box 97"/>
            <p:cNvSpPr txBox="1">
              <a:spLocks noChangeArrowheads="1"/>
            </p:cNvSpPr>
            <p:nvPr/>
          </p:nvSpPr>
          <p:spPr bwMode="auto">
            <a:xfrm>
              <a:off x="3792" y="2439"/>
              <a:ext cx="863" cy="41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0" name="Line 98"/>
            <p:cNvSpPr>
              <a:spLocks noChangeShapeType="1"/>
            </p:cNvSpPr>
            <p:nvPr/>
          </p:nvSpPr>
          <p:spPr bwMode="auto">
            <a:xfrm>
              <a:off x="2016" y="2573"/>
              <a:ext cx="673"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51" name="Line 99"/>
            <p:cNvSpPr>
              <a:spLocks noChangeShapeType="1"/>
            </p:cNvSpPr>
            <p:nvPr/>
          </p:nvSpPr>
          <p:spPr bwMode="auto">
            <a:xfrm>
              <a:off x="3120" y="2573"/>
              <a:ext cx="675"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52" name="AutoShape 100"/>
            <p:cNvSpPr>
              <a:spLocks noChangeArrowheads="1"/>
            </p:cNvSpPr>
            <p:nvPr/>
          </p:nvSpPr>
          <p:spPr bwMode="auto">
            <a:xfrm>
              <a:off x="2592" y="2286"/>
              <a:ext cx="574" cy="529"/>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参加</a:t>
              </a:r>
              <a:endParaRPr kumimoji="1" lang="zh-CN" altLang="en-US" sz="1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8453" name="Oval 101" descr="Large confetti"/>
            <p:cNvSpPr>
              <a:spLocks noChangeArrowheads="1"/>
            </p:cNvSpPr>
            <p:nvPr/>
          </p:nvSpPr>
          <p:spPr bwMode="auto">
            <a:xfrm>
              <a:off x="1200" y="1759"/>
              <a:ext cx="478"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sng"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1" lang="zh-CN" altLang="en-US" sz="1600" b="0" i="0" u="sng"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8454" name="Oval 102" descr="Large confetti"/>
            <p:cNvSpPr>
              <a:spLocks noChangeArrowheads="1"/>
            </p:cNvSpPr>
            <p:nvPr/>
          </p:nvSpPr>
          <p:spPr bwMode="auto">
            <a:xfrm>
              <a:off x="1728" y="1759"/>
              <a:ext cx="480"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工种</a:t>
              </a:r>
              <a:endPar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5" name="Oval 103" descr="Large confetti"/>
            <p:cNvSpPr>
              <a:spLocks noChangeArrowheads="1"/>
            </p:cNvSpPr>
            <p:nvPr/>
          </p:nvSpPr>
          <p:spPr bwMode="auto">
            <a:xfrm>
              <a:off x="3312" y="1759"/>
              <a:ext cx="812"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u="sng"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项目名称</a:t>
              </a:r>
              <a:endParaRPr lang="zh-CN" altLang="en-US" u="sng"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6" name="Oval 104" descr="Large confetti"/>
            <p:cNvSpPr>
              <a:spLocks noChangeArrowheads="1"/>
            </p:cNvSpPr>
            <p:nvPr/>
          </p:nvSpPr>
          <p:spPr bwMode="auto">
            <a:xfrm>
              <a:off x="4176" y="1759"/>
              <a:ext cx="524"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类型</a:t>
              </a:r>
              <a:endPar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7" name="Oval 105" descr="Large confetti"/>
            <p:cNvSpPr>
              <a:spLocks noChangeArrowheads="1"/>
            </p:cNvSpPr>
            <p:nvPr/>
          </p:nvSpPr>
          <p:spPr bwMode="auto">
            <a:xfrm>
              <a:off x="1584" y="3822"/>
              <a:ext cx="675"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sng"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机器名</a:t>
              </a:r>
              <a:endParaRPr kumimoji="1" lang="zh-CN" altLang="en-US" sz="1600" b="0" i="0" u="sng"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8458" name="Oval 106" descr="Large confetti"/>
            <p:cNvSpPr>
              <a:spLocks noChangeArrowheads="1"/>
            </p:cNvSpPr>
            <p:nvPr/>
          </p:nvSpPr>
          <p:spPr bwMode="auto">
            <a:xfrm>
              <a:off x="3507" y="3822"/>
              <a:ext cx="525"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型号</a:t>
              </a:r>
              <a:endParaRPr kumimoji="1" lang="zh-CN" altLang="en-US" sz="16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8459" name="Line 107"/>
            <p:cNvSpPr>
              <a:spLocks noChangeShapeType="1"/>
            </p:cNvSpPr>
            <p:nvPr/>
          </p:nvSpPr>
          <p:spPr bwMode="auto">
            <a:xfrm flipH="1" flipV="1">
              <a:off x="1488" y="2143"/>
              <a:ext cx="96"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0" name="Line 108"/>
            <p:cNvSpPr>
              <a:spLocks noChangeShapeType="1"/>
            </p:cNvSpPr>
            <p:nvPr/>
          </p:nvSpPr>
          <p:spPr bwMode="auto">
            <a:xfrm flipV="1">
              <a:off x="1824" y="2143"/>
              <a:ext cx="144"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1" name="Line 109"/>
            <p:cNvSpPr>
              <a:spLocks noChangeShapeType="1"/>
            </p:cNvSpPr>
            <p:nvPr/>
          </p:nvSpPr>
          <p:spPr bwMode="auto">
            <a:xfrm flipH="1" flipV="1">
              <a:off x="3888" y="2143"/>
              <a:ext cx="192"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2" name="Line 110"/>
            <p:cNvSpPr>
              <a:spLocks noChangeShapeType="1"/>
            </p:cNvSpPr>
            <p:nvPr/>
          </p:nvSpPr>
          <p:spPr bwMode="auto">
            <a:xfrm flipV="1">
              <a:off x="4272" y="2143"/>
              <a:ext cx="191"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3" name="Oval 111" descr="Large confetti"/>
            <p:cNvSpPr>
              <a:spLocks noChangeArrowheads="1"/>
            </p:cNvSpPr>
            <p:nvPr/>
          </p:nvSpPr>
          <p:spPr bwMode="auto">
            <a:xfrm>
              <a:off x="2592" y="1759"/>
              <a:ext cx="524"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工时</a:t>
              </a:r>
              <a:endPar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64" name="Line 112"/>
            <p:cNvSpPr>
              <a:spLocks noChangeShapeType="1"/>
            </p:cNvSpPr>
            <p:nvPr/>
          </p:nvSpPr>
          <p:spPr bwMode="auto">
            <a:xfrm>
              <a:off x="2881" y="2143"/>
              <a:ext cx="0" cy="143"/>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5" name="AutoShape 113"/>
            <p:cNvSpPr>
              <a:spLocks noChangeArrowheads="1"/>
            </p:cNvSpPr>
            <p:nvPr/>
          </p:nvSpPr>
          <p:spPr bwMode="auto">
            <a:xfrm>
              <a:off x="2592" y="3199"/>
              <a:ext cx="574" cy="527"/>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使用</a:t>
              </a:r>
              <a:endParaRPr kumimoji="1" lang="zh-CN" altLang="en-US" sz="1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8466" name="Text Box 114"/>
            <p:cNvSpPr txBox="1">
              <a:spLocks noChangeArrowheads="1"/>
            </p:cNvSpPr>
            <p:nvPr/>
          </p:nvSpPr>
          <p:spPr bwMode="auto">
            <a:xfrm>
              <a:off x="2544" y="3879"/>
              <a:ext cx="670" cy="411"/>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机器</a:t>
              </a:r>
              <a:endParaRPr kumimoji="1" lang="zh-CN" altLang="en-US"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endParaRPr>
            </a:p>
          </p:txBody>
        </p:sp>
        <p:sp>
          <p:nvSpPr>
            <p:cNvPr id="228467" name="Line 115"/>
            <p:cNvSpPr>
              <a:spLocks noChangeShapeType="1"/>
            </p:cNvSpPr>
            <p:nvPr/>
          </p:nvSpPr>
          <p:spPr bwMode="auto">
            <a:xfrm flipH="1">
              <a:off x="2256" y="4013"/>
              <a:ext cx="28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8" name="Line 116"/>
            <p:cNvSpPr>
              <a:spLocks noChangeShapeType="1"/>
            </p:cNvSpPr>
            <p:nvPr/>
          </p:nvSpPr>
          <p:spPr bwMode="auto">
            <a:xfrm flipH="1">
              <a:off x="3220" y="4013"/>
              <a:ext cx="287"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9" name="Line 117"/>
            <p:cNvSpPr>
              <a:spLocks noChangeShapeType="1"/>
            </p:cNvSpPr>
            <p:nvPr/>
          </p:nvSpPr>
          <p:spPr bwMode="auto">
            <a:xfrm>
              <a:off x="2881" y="3726"/>
              <a:ext cx="0" cy="145"/>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70" name="Rectangle 118"/>
            <p:cNvSpPr>
              <a:spLocks noChangeArrowheads="1"/>
            </p:cNvSpPr>
            <p:nvPr/>
          </p:nvSpPr>
          <p:spPr bwMode="auto">
            <a:xfrm>
              <a:off x="576" y="1614"/>
              <a:ext cx="4608" cy="1343"/>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71" name="Line 119"/>
            <p:cNvSpPr>
              <a:spLocks noChangeShapeType="1"/>
            </p:cNvSpPr>
            <p:nvPr/>
          </p:nvSpPr>
          <p:spPr bwMode="auto">
            <a:xfrm>
              <a:off x="2881" y="2957"/>
              <a:ext cx="0" cy="241"/>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ctrTitle"/>
          </p:nvPr>
        </p:nvSpPr>
        <p:spPr/>
        <p:txBody>
          <a:bodyPr vert="horz" wrap="square" lIns="91440" tIns="45720" rIns="91440" bIns="45720" numCol="1" anchor="b" anchorCtr="0" compatLnSpc="1"/>
          <a:lstStyle/>
          <a:p>
            <a:pPr>
              <a:buClrTx/>
              <a:buSzTx/>
              <a:buFontTx/>
            </a:pPr>
            <a:r>
              <a:rPr kumimoji="1" lang="en-US" altLang="zh-CN">
                <a:solidFill>
                  <a:srgbClr val="CC3300"/>
                </a:solidFill>
                <a:effectLst>
                  <a:outerShdw blurRad="38100" dist="38100" dir="2700000">
                    <a:srgbClr val="C0C0C0"/>
                  </a:outerShdw>
                </a:effectLst>
                <a:latin typeface="Helvetica" charset="0"/>
                <a:ea typeface="宋体" panose="02010600030101010101" pitchFamily="2" charset="-122"/>
                <a:cs typeface="Arial" panose="020B0604020202020204"/>
              </a:rPr>
              <a:t>End of  Chapter  6</a:t>
            </a:r>
            <a:br>
              <a:rPr kumimoji="1" lang="en-US" altLang="zh-CN">
                <a:solidFill>
                  <a:srgbClr val="CC3300"/>
                </a:solidFill>
                <a:effectLst>
                  <a:outerShdw blurRad="38100" dist="38100" dir="2700000">
                    <a:srgbClr val="C0C0C0"/>
                  </a:outerShdw>
                </a:effectLst>
                <a:latin typeface="Helvetica" charset="0"/>
                <a:ea typeface="宋体" panose="02010600030101010101" pitchFamily="2" charset="-122"/>
                <a:cs typeface="Arial" panose="020B0604020202020204"/>
              </a:rPr>
            </a:br>
            <a:endParaRPr kumimoji="1" lang="en-US" altLang="zh-CN">
              <a:solidFill>
                <a:srgbClr val="CC3300"/>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Tree>
  </p:cSld>
  <p:clrMapOvr>
    <a:masterClrMapping/>
  </p:clrMapOvr>
</p:sld>
</file>

<file path=ppt/tags/tag1.xml><?xml version="1.0" encoding="utf-8"?>
<p:tagLst xmlns:p="http://schemas.openxmlformats.org/presentationml/2006/main">
  <p:tag name="KSO_WM_UNIT_PLACING_PICTURE_USER_VIEWPORT" val="{&quot;height&quot;:9074,&quot;width&quot;:14166}"/>
</p:tagLst>
</file>

<file path=ppt/tags/tag2.xml><?xml version="1.0" encoding="utf-8"?>
<p:tagLst xmlns:p="http://schemas.openxmlformats.org/presentationml/2006/main">
  <p:tag name="KSO_WM_UNIT_PLACING_PICTURE_USER_VIEWPORT" val="{&quot;height&quot;:9074,&quot;width&quot;:14166}"/>
</p:tagLst>
</file>

<file path=ppt/tags/tag3.xml><?xml version="1.0" encoding="utf-8"?>
<p:tagLst xmlns:p="http://schemas.openxmlformats.org/presentationml/2006/main">
  <p:tag name="KSO_WM_UNIT_PLACING_PICTURE_USER_VIEWPORT" val="{&quot;height&quot;:9074,&quot;width&quot;:14166}"/>
</p:tagLst>
</file>

<file path=ppt/tags/tag4.xml><?xml version="1.0" encoding="utf-8"?>
<p:tagLst xmlns:p="http://schemas.openxmlformats.org/presentationml/2006/main">
  <p:tag name="KSO_WM_UNIT_PLACING_PICTURE_USER_VIEWPORT" val="{&quot;height&quot;:3482.6,&quot;width&quot;:10262.68031496063}"/>
</p:tagLst>
</file>

<file path=ppt/tags/tag5.xml><?xml version="1.0" encoding="utf-8"?>
<p:tagLst xmlns:p="http://schemas.openxmlformats.org/presentationml/2006/main">
  <p:tag name="KSO_WM_UNIT_PLACING_PICTURE_USER_VIEWPORT" val="{&quot;height&quot;:3482.6,&quot;width&quot;:10262.68031496063}"/>
</p:tagLst>
</file>

<file path=ppt/tags/tag6.xml><?xml version="1.0" encoding="utf-8"?>
<p:tagLst xmlns:p="http://schemas.openxmlformats.org/presentationml/2006/main">
  <p:tag name="COMMONDATA" val="eyJoZGlkIjoiZWIxYzZkM2FmYTk4YjgyMWQyYjQ4MGI5NDkwOGIwYmYifQ=="/>
  <p:tag name="KSO_WPP_MARK_KEY" val="e1ab0921-ab67-4e71-8ce6-0c8247fcb79b"/>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25954</Words>
  <Application>WPS 演示</Application>
  <PresentationFormat>全屏显示(4:3)</PresentationFormat>
  <Paragraphs>1458</Paragraphs>
  <Slides>104</Slides>
  <Notes>74</Notes>
  <HiddenSlides>5</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1</vt:i4>
      </vt:variant>
      <vt:variant>
        <vt:lpstr>幻灯片标题</vt:lpstr>
      </vt:variant>
      <vt:variant>
        <vt:i4>104</vt:i4>
      </vt:variant>
    </vt:vector>
  </HeadingPairs>
  <TitlesOfParts>
    <vt:vector size="132" baseType="lpstr">
      <vt:lpstr>Arial</vt:lpstr>
      <vt:lpstr>宋体</vt:lpstr>
      <vt:lpstr>Wingdings</vt:lpstr>
      <vt:lpstr>Helvetica</vt:lpstr>
      <vt:lpstr>MS PGothic</vt:lpstr>
      <vt:lpstr>MS PGothic</vt:lpstr>
      <vt:lpstr>Arial</vt:lpstr>
      <vt:lpstr>Monotype Sorts</vt:lpstr>
      <vt:lpstr>Webdings</vt:lpstr>
      <vt:lpstr>Times New Roman</vt:lpstr>
      <vt:lpstr>Monotype Sorts</vt:lpstr>
      <vt:lpstr>Symbol</vt:lpstr>
      <vt:lpstr>Wingdings</vt:lpstr>
      <vt:lpstr>微软雅黑</vt:lpstr>
      <vt:lpstr>Arial Unicode MS</vt:lpstr>
      <vt:lpstr>Webdings</vt:lpstr>
      <vt:lpstr>黑体</vt:lpstr>
      <vt:lpstr>隶书</vt:lpstr>
      <vt:lpstr>幼圆</vt:lpstr>
      <vt:lpstr>楷体_GB2312</vt:lpstr>
      <vt:lpstr>新宋体</vt:lpstr>
      <vt:lpstr>Courier New</vt:lpstr>
      <vt:lpstr>仿宋_GB2312</vt:lpstr>
      <vt:lpstr>Tahoma</vt:lpstr>
      <vt:lpstr>华文新魏</vt:lpstr>
      <vt:lpstr>仿宋</vt:lpstr>
      <vt:lpstr>2_db-5-grey</vt:lpstr>
      <vt:lpstr>MS_ClipArt_Gallery.2</vt:lpstr>
      <vt:lpstr>Chapter 6: Entity-Relationship Model</vt:lpstr>
      <vt:lpstr>Chapter 6:  Entity-Relationship Model</vt:lpstr>
      <vt:lpstr>Design Phases</vt:lpstr>
      <vt:lpstr>Design Phases (Cont.)</vt:lpstr>
      <vt:lpstr>Design Approaches</vt:lpstr>
      <vt:lpstr>Outline of the ER Model</vt:lpstr>
      <vt:lpstr>ER model -- Database Modeling</vt:lpstr>
      <vt:lpstr>Entity Sets</vt:lpstr>
      <vt:lpstr>Entity Sets -- instructor and student</vt:lpstr>
      <vt:lpstr>Relationship Sets</vt:lpstr>
      <vt:lpstr>Relationship Set advisor</vt:lpstr>
      <vt:lpstr>Relationship Sets (Cont.)</vt:lpstr>
      <vt:lpstr>Degree of a Relationship Set</vt:lpstr>
      <vt:lpstr>Mapping Cardinality Constraints</vt:lpstr>
      <vt:lpstr>Mapping Cardinalities</vt:lpstr>
      <vt:lpstr>Mapping Cardinalities </vt:lpstr>
      <vt:lpstr>Complex Attributes</vt:lpstr>
      <vt:lpstr>Composite Attributes</vt:lpstr>
      <vt:lpstr>Redundant Attributes</vt:lpstr>
      <vt:lpstr>Weak Entity Sets</vt:lpstr>
      <vt:lpstr>Weak Entity Sets (Cont.)</vt:lpstr>
      <vt:lpstr>Weak Entity Sets (Cont.)</vt:lpstr>
      <vt:lpstr>Weak Entity Sets (Cont.)</vt:lpstr>
      <vt:lpstr>E-R Diagrams</vt:lpstr>
      <vt:lpstr>Entity Sets</vt:lpstr>
      <vt:lpstr>Relationship  Sets</vt:lpstr>
      <vt:lpstr>Relationship Sets with Attributes</vt:lpstr>
      <vt:lpstr>Roles</vt:lpstr>
      <vt:lpstr>Cardinality Constraints</vt:lpstr>
      <vt:lpstr>One-to-Many Relationship</vt:lpstr>
      <vt:lpstr>Many-to-One Relationships</vt:lpstr>
      <vt:lpstr>Many-to-Many Relationship</vt:lpstr>
      <vt:lpstr>一个实体集内的递归联系</vt:lpstr>
      <vt:lpstr>Total  and Partial Participation</vt:lpstr>
      <vt:lpstr>Notation for Expressing More Complex Constraints</vt:lpstr>
      <vt:lpstr>Notation to Express Entity with Complex Attributes</vt:lpstr>
      <vt:lpstr>Expressing Weak Entity Sets</vt:lpstr>
      <vt:lpstr>E-R Diagram for a University Enterprise</vt:lpstr>
      <vt:lpstr>Schema Diagram for University Database</vt:lpstr>
      <vt:lpstr>Reduction to Relation Schemas</vt:lpstr>
      <vt:lpstr>Reduction to Relation Schemas</vt:lpstr>
      <vt:lpstr>Representing Entity Sets</vt:lpstr>
      <vt:lpstr>Representing Relationship Sets</vt:lpstr>
      <vt:lpstr>Representation of Entity Sets with Composite Attributes</vt:lpstr>
      <vt:lpstr>Representation of Entity Sets with Multivalued Attributes</vt:lpstr>
      <vt:lpstr>Redundancy of Schemas</vt:lpstr>
      <vt:lpstr>Redundancy of Schemas (Cont.)</vt:lpstr>
      <vt:lpstr>Redundancy of Schemas (Cont.)</vt:lpstr>
      <vt:lpstr>Advanced Topics</vt:lpstr>
      <vt:lpstr>Non-binary Relationship Sets</vt:lpstr>
      <vt:lpstr>Cardinality Constraints on Ternary Relationship</vt:lpstr>
      <vt:lpstr>Specialization</vt:lpstr>
      <vt:lpstr>Representing Specialization via Schemas</vt:lpstr>
      <vt:lpstr>Representing Specialization as Schemas (Cont.)</vt:lpstr>
      <vt:lpstr>Generalization</vt:lpstr>
      <vt:lpstr>Design Constraints on a Specialization/Generalization</vt:lpstr>
      <vt:lpstr>Aggregation</vt:lpstr>
      <vt:lpstr>Aggregation (Cont.)</vt:lpstr>
      <vt:lpstr>Aggregation (Cont.)</vt:lpstr>
      <vt:lpstr>Representing Aggregation via Schemas</vt:lpstr>
      <vt:lpstr>Design Issues</vt:lpstr>
      <vt:lpstr>Entities vs. Attributes</vt:lpstr>
      <vt:lpstr>Entities vs. Relationship sets</vt:lpstr>
      <vt:lpstr>Binary Vs. Non-Binary Relationships</vt:lpstr>
      <vt:lpstr>Converting Non-Binary Relationships to Binary Form</vt:lpstr>
      <vt:lpstr>PowerPoint 演示文稿</vt:lpstr>
      <vt:lpstr>Converting Non-Binary Relationships (Cont.)</vt:lpstr>
      <vt:lpstr>Converting Non-Binary Relationships (Cont.)</vt:lpstr>
      <vt:lpstr>E-R Design Decisions</vt:lpstr>
      <vt:lpstr>Summary of Symbols Used in E-R Notation</vt:lpstr>
      <vt:lpstr>Symbols Used in E-R Notation (Cont.)</vt:lpstr>
      <vt:lpstr>Alternative ER Notations</vt:lpstr>
      <vt:lpstr>Alternative ER Notations</vt:lpstr>
      <vt:lpstr>UML	</vt:lpstr>
      <vt:lpstr>ER vs. UML Class Diagrams</vt:lpstr>
      <vt:lpstr>ER vs. UML Class Diagrams</vt:lpstr>
      <vt:lpstr>UML Class Diagrams (Cont.)</vt:lpstr>
      <vt:lpstr>概念数据库设计过程</vt:lpstr>
      <vt:lpstr>概念数据库设计过程</vt:lpstr>
      <vt:lpstr>概念数据库设计过程——消除冲突</vt:lpstr>
      <vt:lpstr>概念数据库设计过程——消除冲突</vt:lpstr>
      <vt:lpstr>概念数据库设计过程</vt:lpstr>
      <vt:lpstr>PowerPoint 演示文稿</vt:lpstr>
      <vt:lpstr>设计实例</vt:lpstr>
      <vt:lpstr>设计实例</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E-R模型设计要点</vt:lpstr>
      <vt:lpstr>E-R模型设计要点</vt:lpstr>
      <vt:lpstr>E-R模型设计要点</vt:lpstr>
      <vt:lpstr>PowerPoint 演示文稿</vt:lpstr>
      <vt:lpstr>E-R模型向关系模式的转换</vt:lpstr>
      <vt:lpstr>E-R模型向关系模式的转换</vt:lpstr>
      <vt:lpstr>End of  Chapter  6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康辉</cp:lastModifiedBy>
  <cp:revision>589</cp:revision>
  <cp:lastPrinted>2005-01-10T21:51:00Z</cp:lastPrinted>
  <dcterms:created xsi:type="dcterms:W3CDTF">2009-12-21T15:40:00Z</dcterms:created>
  <dcterms:modified xsi:type="dcterms:W3CDTF">2026-04-23T06:14:35Z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072A175F011D493D9B4E01CB1C041BCC</vt:lpwstr>
  </property>
</Properties>
</file>