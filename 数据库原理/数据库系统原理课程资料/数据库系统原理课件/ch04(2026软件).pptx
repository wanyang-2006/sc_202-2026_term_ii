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5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65" r:id="rId13"/>
    <p:sldId id="266" r:id="rId14"/>
    <p:sldId id="350" r:id="rId15"/>
    <p:sldId id="267" r:id="rId16"/>
    <p:sldId id="268" r:id="rId17"/>
    <p:sldId id="269" r:id="rId18"/>
    <p:sldId id="302" r:id="rId19"/>
    <p:sldId id="303" r:id="rId20"/>
    <p:sldId id="270" r:id="rId21"/>
    <p:sldId id="271" r:id="rId22"/>
    <p:sldId id="272" r:id="rId23"/>
    <p:sldId id="273" r:id="rId24"/>
    <p:sldId id="304" r:id="rId25"/>
    <p:sldId id="318" r:id="rId26"/>
    <p:sldId id="308" r:id="rId27"/>
    <p:sldId id="277" r:id="rId28"/>
    <p:sldId id="278" r:id="rId29"/>
    <p:sldId id="279" r:id="rId30"/>
    <p:sldId id="281" r:id="rId31"/>
    <p:sldId id="283" r:id="rId32"/>
    <p:sldId id="286" r:id="rId33"/>
    <p:sldId id="309" r:id="rId34"/>
    <p:sldId id="310" r:id="rId35"/>
    <p:sldId id="349" r:id="rId36"/>
    <p:sldId id="305" r:id="rId37"/>
    <p:sldId id="311" r:id="rId38"/>
    <p:sldId id="418" r:id="rId39"/>
    <p:sldId id="306" r:id="rId40"/>
    <p:sldId id="394" r:id="rId41"/>
    <p:sldId id="395" r:id="rId42"/>
    <p:sldId id="396" r:id="rId43"/>
    <p:sldId id="397" r:id="rId44"/>
    <p:sldId id="398" r:id="rId45"/>
    <p:sldId id="312" r:id="rId46"/>
    <p:sldId id="307" r:id="rId47"/>
    <p:sldId id="291" r:id="rId48"/>
    <p:sldId id="292" r:id="rId49"/>
    <p:sldId id="293" r:id="rId50"/>
    <p:sldId id="294" r:id="rId51"/>
    <p:sldId id="313" r:id="rId52"/>
    <p:sldId id="314" r:id="rId53"/>
    <p:sldId id="315" r:id="rId54"/>
    <p:sldId id="351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16" r:id="rId63"/>
    <p:sldId id="317" r:id="rId64"/>
  </p:sldIdLst>
  <p:sldSz cx="9144000" cy="6858000" type="screen4x3"/>
  <p:notesSz cx="6997700" cy="9283700"/>
  <p:custShowLst>
    <p:custShow name="Custom Show 1" id="0">
      <p:sldLst>
        <p:sld r:id="rId6"/>
        <p:sld r:id="rId28"/>
        <p:sld r:id="rId9"/>
        <p:sld r:id="rId12"/>
        <p:sld r:id="rId33"/>
        <p:sld r:id="rId13"/>
        <p:sld r:id="rId53"/>
        <p:sld r:id="rId30"/>
        <p:sld r:id="rId30"/>
        <p:sld r:id="rId35"/>
        <p:sld r:id="rId52"/>
        <p:sld r:id="rId18"/>
        <p:sld r:id="rId57"/>
        <p:sld r:id="rId58"/>
        <p:sld r:id="rId38"/>
        <p:sld r:id="rId46"/>
      </p:sldLst>
    </p:custShow>
  </p:custShow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9" userDrawn="1">
          <p15:clr>
            <a:srgbClr val="A4A3A4"/>
          </p15:clr>
        </p15:guide>
        <p15:guide id="2" pos="5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3"/>
    <p:restoredTop sz="94725"/>
  </p:normalViewPr>
  <p:slideViewPr>
    <p:cSldViewPr snapToGrid="0" showGuides="1">
      <p:cViewPr varScale="1">
        <p:scale>
          <a:sx n="91" d="100"/>
          <a:sy n="91" d="100"/>
        </p:scale>
        <p:origin x="96" y="120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12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handoutMaster" Target="handoutMasters/handoutMaster1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defTabSz="930275">
              <a:defRPr sz="12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algn="r" defTabSz="930275">
              <a:defRPr sz="1200"/>
            </a:lvl1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>
            <a:lvl1pPr defTabSz="930275">
              <a:defRPr sz="12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/>
          <a:p>
            <a:pPr lvl="0" algn="r" defTabSz="930275"/>
            <a:fld id="{9A0DB2DC-4C9A-4742-B13C-FB6460FD3503}" type="slidenum">
              <a:rPr lang="en-US" sz="1200"/>
            </a:fld>
            <a:endParaRPr 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defTabSz="930275">
              <a:defRPr sz="12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algn="r" defTabSz="930275">
              <a:defRPr sz="1200"/>
            </a:lvl1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1434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77925" y="696913"/>
            <a:ext cx="4641850" cy="34813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0075"/>
            <a:ext cx="5130800" cy="417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>
            <a:lvl1pPr defTabSz="930275">
              <a:defRPr sz="12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63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8435" name="Rectangle 2"/>
          <p:cNvSpPr/>
          <p:nvPr/>
        </p:nvSpPr>
        <p:spPr>
          <a:xfrm>
            <a:off x="3965575" y="0"/>
            <a:ext cx="3032125" cy="463550"/>
          </a:xfrm>
          <a:prstGeom prst="rect">
            <a:avLst/>
          </a:prstGeom>
          <a:noFill/>
          <a:ln w="12700">
            <a:noFill/>
          </a:ln>
        </p:spPr>
        <p:txBody>
          <a:bodyPr wrap="none" anchor="ctr"/>
          <a:lstStyle/>
          <a:p>
            <a:pPr lvl="0"/>
            <a:endParaRPr dirty="0"/>
          </a:p>
        </p:txBody>
      </p:sp>
      <p:sp>
        <p:nvSpPr>
          <p:cNvPr id="18436" name="Rectangle 3"/>
          <p:cNvSpPr/>
          <p:nvPr/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12700">
            <a:noFill/>
          </a:ln>
        </p:spPr>
        <p:txBody>
          <a:bodyPr wrap="none" lIns="92058" tIns="45221" rIns="92058" bIns="45221" anchor="b"/>
          <a:lstStyle/>
          <a:p>
            <a:pPr lvl="0" algn="r" defTabSz="930275"/>
            <a:r>
              <a:rPr lang="en-US" altLang="zh-CN" sz="1300" dirty="0">
                <a:latin typeface="Times New Roman" panose="02020603050405020304" pitchFamily="18" charset="0"/>
              </a:rPr>
              <a:t>1</a:t>
            </a:r>
            <a:endParaRPr lang="en-US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8437" name="Rectangle 4"/>
          <p:cNvSpPr/>
          <p:nvPr/>
        </p:nvSpPr>
        <p:spPr>
          <a:xfrm>
            <a:off x="0" y="8820150"/>
            <a:ext cx="3032125" cy="463550"/>
          </a:xfrm>
          <a:prstGeom prst="rect">
            <a:avLst/>
          </a:prstGeom>
          <a:noFill/>
          <a:ln w="12700">
            <a:noFill/>
          </a:ln>
        </p:spPr>
        <p:txBody>
          <a:bodyPr wrap="none" anchor="ctr"/>
          <a:lstStyle/>
          <a:p>
            <a:pPr lvl="0"/>
            <a:endParaRPr dirty="0"/>
          </a:p>
        </p:txBody>
      </p:sp>
      <p:sp>
        <p:nvSpPr>
          <p:cNvPr id="18438" name="Rectangle 5"/>
          <p:cNvSpPr/>
          <p:nvPr/>
        </p:nvSpPr>
        <p:spPr>
          <a:xfrm>
            <a:off x="0" y="0"/>
            <a:ext cx="3032125" cy="463550"/>
          </a:xfrm>
          <a:prstGeom prst="rect">
            <a:avLst/>
          </a:prstGeom>
          <a:noFill/>
          <a:ln w="12700">
            <a:noFill/>
          </a:ln>
        </p:spPr>
        <p:txBody>
          <a:bodyPr wrap="none" anchor="ctr"/>
          <a:lstStyle/>
          <a:p>
            <a:pPr lvl="0"/>
            <a:endParaRPr dirty="0"/>
          </a:p>
        </p:txBody>
      </p:sp>
      <p:sp>
        <p:nvSpPr>
          <p:cNvPr id="18439" name="Rectangle 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/>
        </p:spPr>
      </p:sp>
      <p:sp>
        <p:nvSpPr>
          <p:cNvPr id="18440" name="Rectangle 7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2058" tIns="45221" rIns="92058" bIns="45221" anchor="ctr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253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2532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457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662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867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277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481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686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891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301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710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915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5120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5325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5734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5939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59396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6144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144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6349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3492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6553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5540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6758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如何约束：一位教师在同一学期同一时间段内只能讲授一门课程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168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475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74756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782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7782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987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8192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8397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8601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 this required?</a:t>
            </a:r>
            <a:endParaRPr lang="en-US" altLang="zh-CN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子表上的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和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有可能限制父表上的操作</a:t>
            </a:r>
            <a:endParaRPr lang="en-US" altLang="zh-CN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9113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91140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931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952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9728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9933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0137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0342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0547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0752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image" Target="../media/image1.jpeg"/><Relationship Id="rId3" Type="http://schemas.openxmlformats.org/officeDocument/2006/relationships/hyperlink" Target="http://www.db-book.com/" TargetMode="External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546" name="对象 108545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2" imgW="0" imgH="0" progId="MS_ClipArt_Gallery.2">
                  <p:embed/>
                </p:oleObj>
              </mc:Choice>
              <mc:Fallback>
                <p:oleObj name="" r:id="rId2" imgW="0" imgH="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3" cy="793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b="1">
                <a:solidFill>
                  <a:srgbClr val="CC3300"/>
                </a:solidFill>
                <a:latin typeface="Helvetica" charset="0"/>
              </a:rPr>
              <a:t>Database System Concepts, 6</a:t>
            </a:r>
            <a:r>
              <a:rPr lang="en-US" altLang="zh-CN" b="1" baseline="30000">
                <a:solidFill>
                  <a:srgbClr val="CC3300"/>
                </a:solidFill>
                <a:latin typeface="Helvetica" charset="0"/>
              </a:rPr>
              <a:t>th</a:t>
            </a:r>
            <a:r>
              <a:rPr lang="en-US" altLang="zh-CN" b="1">
                <a:solidFill>
                  <a:srgbClr val="CC3300"/>
                </a:solidFill>
                <a:latin typeface="Helvetica" charset="0"/>
              </a:rPr>
              <a:t> Ed</a:t>
            </a:r>
            <a:r>
              <a:rPr lang="en-US" altLang="zh-CN">
                <a:solidFill>
                  <a:srgbClr val="CC3300"/>
                </a:solidFill>
                <a:latin typeface="Helvetica" charset="0"/>
              </a:rPr>
              <a:t>.</a:t>
            </a:r>
            <a:endParaRPr lang="en-US" altLang="zh-CN">
              <a:solidFill>
                <a:srgbClr val="CC3300"/>
              </a:solidFill>
              <a:latin typeface="Helvetica" charset="0"/>
            </a:endParaRPr>
          </a:p>
          <a:p>
            <a:pPr lvl="0" algn="ctr">
              <a:spcBef>
                <a:spcPct val="50000"/>
              </a:spcBef>
            </a:pPr>
            <a:r>
              <a:rPr lang="en-US" altLang="zh-CN" sz="1200" b="1" err="1">
                <a:solidFill>
                  <a:srgbClr val="CC3300"/>
                </a:solidFill>
                <a:latin typeface="Helvetica" charset="0"/>
              </a:rPr>
              <a:t>©Silberschatz, Korth and Sudarshan</a:t>
            </a:r>
            <a:br>
              <a:rPr lang="en-US" altLang="zh-CN" sz="1200" b="1" err="1">
                <a:solidFill>
                  <a:srgbClr val="CC3300"/>
                </a:solidFill>
                <a:latin typeface="Helvetica" charset="0"/>
              </a:rPr>
            </a:br>
            <a:r>
              <a:rPr lang="en-US" altLang="zh-CN" sz="1200" b="1" err="1">
                <a:solidFill>
                  <a:srgbClr val="CC3300"/>
                </a:solidFill>
                <a:latin typeface="Helvetica" charset="0"/>
              </a:rPr>
              <a:t>See </a:t>
            </a:r>
            <a:r>
              <a:rPr lang="en-US" altLang="zh-CN" sz="1200" b="1" err="1">
                <a:solidFill>
                  <a:srgbClr val="CC3300"/>
                </a:solidFill>
                <a:latin typeface="Helvetica" charset="0"/>
                <a:hlinkClick r:id="rId3"/>
              </a:rPr>
              <a:t>www.db-book.com</a:t>
            </a:r>
            <a:r>
              <a:rPr lang="en-US" altLang="zh-CN" sz="1200" b="1">
                <a:solidFill>
                  <a:srgbClr val="CC3300"/>
                </a:solidFill>
                <a:latin typeface="Helvetica" charset="0"/>
              </a:rPr>
              <a:t> for conditions on re-use </a:t>
            </a:r>
            <a:endParaRPr lang="en-US" altLang="zh-CN" sz="1200" b="1">
              <a:solidFill>
                <a:srgbClr val="CC3300"/>
              </a:solidFill>
              <a:latin typeface="Helvetica" charset="0"/>
            </a:endParaRPr>
          </a:p>
        </p:txBody>
      </p:sp>
      <p:pic>
        <p:nvPicPr>
          <p:cNvPr id="108548" name="Picture 8" descr="Cover-6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92238" cy="1700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290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90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3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96063" y="6218238"/>
            <a:ext cx="1905000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en-US">
                <a:solidFill>
                  <a:srgbClr val="578963"/>
                </a:solidFill>
                <a:latin typeface="Times New Roman" panose="02020603050405020304" pitchFamily="18" charset="0"/>
              </a:rPr>
            </a:fld>
            <a:endParaRPr lang="en-US">
              <a:solidFill>
                <a:srgbClr val="57896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charset="2"/>
              <a:buNone/>
              <a:defRPr/>
            </a:pPr>
            <a:endParaRPr kumimoji="1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body" idx="1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42803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  <p:sp>
        <p:nvSpPr>
          <p:cNvPr id="428036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sz="1000" b="1" err="1">
                <a:solidFill>
                  <a:schemeClr val="tx2"/>
                </a:solidFill>
                <a:latin typeface="Helvetica" charset="0"/>
              </a:rPr>
              <a:t>©Silberschatz, Korth</a:t>
            </a:r>
            <a:r>
              <a:rPr lang="en-US" altLang="zh-CN" sz="1000" b="1">
                <a:solidFill>
                  <a:schemeClr val="tx2"/>
                </a:solidFill>
                <a:latin typeface="Helvetica" charset="0"/>
              </a:rPr>
              <a:t> and Sudarshan</a:t>
            </a:r>
            <a:endParaRPr lang="en-US" altLang="zh-CN" sz="1000" b="1">
              <a:solidFill>
                <a:schemeClr val="tx2"/>
              </a:solidFill>
              <a:latin typeface="Helvetica" charset="0"/>
            </a:endParaRPr>
          </a:p>
        </p:txBody>
      </p:sp>
      <p:sp>
        <p:nvSpPr>
          <p:cNvPr id="428037" name="Text Box 5"/>
          <p:cNvSpPr txBox="1">
            <a:spLocks noChangeArrowheads="1"/>
          </p:cNvSpPr>
          <p:nvPr/>
        </p:nvSpPr>
        <p:spPr bwMode="auto">
          <a:xfrm>
            <a:off x="4481513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sz="1000" b="1">
                <a:solidFill>
                  <a:schemeClr val="tx2"/>
                </a:solidFill>
                <a:latin typeface="Helvetica" charset="0"/>
              </a:rPr>
              <a:t>4.</a:t>
            </a:r>
            <a:fld id="{9A0DB2DC-4C9A-4742-B13C-FB6460FD3503}" type="slidenum">
              <a:rPr lang="en-US" sz="1000" b="1">
                <a:solidFill>
                  <a:schemeClr val="tx2"/>
                </a:solidFill>
                <a:latin typeface="Helvetica" charset="0"/>
              </a:rPr>
            </a:fld>
            <a:endParaRPr lang="en-US" sz="1000" b="1">
              <a:solidFill>
                <a:schemeClr val="tx2"/>
              </a:solidFill>
              <a:latin typeface="Helvetica" charset="0"/>
            </a:endParaRPr>
          </a:p>
        </p:txBody>
      </p:sp>
      <p:sp>
        <p:nvSpPr>
          <p:cNvPr id="42803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8039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Database System Concepts - 6</a:t>
            </a:r>
            <a:r>
              <a:rPr kumimoji="0" lang="en-US" sz="1000" b="1" i="0" u="none" strike="noStrike" kern="1200" cap="none" spc="0" normalizeH="0" baseline="30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th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 Edition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428040" name="Freeform 8"/>
          <p:cNvSpPr/>
          <p:nvPr/>
        </p:nvSpPr>
        <p:spPr bwMode="auto">
          <a:xfrm>
            <a:off x="8916988" y="5445125"/>
            <a:ext cx="227013" cy="47625"/>
          </a:xfrm>
          <a:custGeom>
            <a:avLst/>
            <a:gdLst/>
            <a:ahLst/>
            <a:cxnLst>
              <a:cxn ang="0">
                <a:pos x="0" y="59"/>
              </a:cxn>
              <a:cxn ang="0">
                <a:pos x="2" y="48"/>
              </a:cxn>
              <a:cxn ang="0">
                <a:pos x="9" y="34"/>
              </a:cxn>
              <a:cxn ang="0">
                <a:pos x="17" y="25"/>
              </a:cxn>
              <a:cxn ang="0">
                <a:pos x="30" y="17"/>
              </a:cxn>
              <a:cxn ang="0">
                <a:pos x="45" y="10"/>
              </a:cxn>
              <a:cxn ang="0">
                <a:pos x="57" y="6"/>
              </a:cxn>
              <a:cxn ang="0">
                <a:pos x="70" y="2"/>
              </a:cxn>
              <a:cxn ang="0">
                <a:pos x="85" y="0"/>
              </a:cxn>
              <a:cxn ang="0">
                <a:pos x="100" y="0"/>
              </a:cxn>
              <a:cxn ang="0">
                <a:pos x="118" y="0"/>
              </a:cxn>
              <a:cxn ang="0">
                <a:pos x="137" y="0"/>
              </a:cxn>
              <a:cxn ang="0">
                <a:pos x="154" y="2"/>
              </a:cxn>
              <a:cxn ang="0">
                <a:pos x="173" y="6"/>
              </a:cxn>
              <a:cxn ang="0">
                <a:pos x="192" y="8"/>
              </a:cxn>
              <a:cxn ang="0">
                <a:pos x="209" y="12"/>
              </a:cxn>
              <a:cxn ang="0">
                <a:pos x="224" y="15"/>
              </a:cxn>
              <a:cxn ang="0">
                <a:pos x="239" y="19"/>
              </a:cxn>
              <a:cxn ang="0">
                <a:pos x="254" y="23"/>
              </a:cxn>
              <a:cxn ang="0">
                <a:pos x="266" y="25"/>
              </a:cxn>
              <a:cxn ang="0">
                <a:pos x="273" y="27"/>
              </a:cxn>
              <a:cxn ang="0">
                <a:pos x="283" y="31"/>
              </a:cxn>
              <a:cxn ang="0">
                <a:pos x="279" y="44"/>
              </a:cxn>
              <a:cxn ang="0">
                <a:pos x="273" y="42"/>
              </a:cxn>
              <a:cxn ang="0">
                <a:pos x="260" y="40"/>
              </a:cxn>
              <a:cxn ang="0">
                <a:pos x="241" y="36"/>
              </a:cxn>
              <a:cxn ang="0">
                <a:pos x="230" y="34"/>
              </a:cxn>
              <a:cxn ang="0">
                <a:pos x="218" y="32"/>
              </a:cxn>
              <a:cxn ang="0">
                <a:pos x="207" y="31"/>
              </a:cxn>
              <a:cxn ang="0">
                <a:pos x="196" y="29"/>
              </a:cxn>
              <a:cxn ang="0">
                <a:pos x="182" y="27"/>
              </a:cxn>
              <a:cxn ang="0">
                <a:pos x="173" y="25"/>
              </a:cxn>
              <a:cxn ang="0">
                <a:pos x="163" y="23"/>
              </a:cxn>
              <a:cxn ang="0">
                <a:pos x="154" y="21"/>
              </a:cxn>
              <a:cxn ang="0">
                <a:pos x="142" y="19"/>
              </a:cxn>
              <a:cxn ang="0">
                <a:pos x="110" y="15"/>
              </a:cxn>
              <a:cxn ang="0">
                <a:pos x="83" y="21"/>
              </a:cxn>
              <a:cxn ang="0">
                <a:pos x="59" y="29"/>
              </a:cxn>
              <a:cxn ang="0">
                <a:pos x="53" y="31"/>
              </a:cxn>
              <a:cxn ang="0">
                <a:pos x="43" y="34"/>
              </a:cxn>
              <a:cxn ang="0">
                <a:pos x="32" y="38"/>
              </a:cxn>
              <a:cxn ang="0">
                <a:pos x="23" y="44"/>
              </a:cxn>
              <a:cxn ang="0">
                <a:pos x="7" y="55"/>
              </a:cxn>
              <a:cxn ang="0">
                <a:pos x="2" y="61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pic>
        <p:nvPicPr>
          <p:cNvPr id="1033" name="Picture 9" descr="Cover-6E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175" y="0"/>
            <a:ext cx="668338" cy="8159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7.jpeg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Chapter 4: Intermediate SQL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Chapter 4:  Intermediate SQL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809625" y="1104900"/>
            <a:ext cx="7413625" cy="4732338"/>
          </a:xfrm>
        </p:spPr>
        <p:txBody>
          <a:bodyPr vert="horz" wrap="square" lIns="90488" tIns="44450" rIns="90488" bIns="44450" anchor="t"/>
          <a:lstStyle/>
          <a:p>
            <a:r>
              <a:rPr lang="en-US" altLang="zh-CN" sz="2000"/>
              <a:t>Join  Expressions</a:t>
            </a:r>
            <a:endParaRPr lang="en-US" altLang="zh-CN"/>
          </a:p>
          <a:p>
            <a:r>
              <a:rPr lang="en-US" altLang="zh-CN" sz="2000"/>
              <a:t>Views</a:t>
            </a:r>
            <a:endParaRPr lang="en-US" altLang="zh-CN"/>
          </a:p>
          <a:p>
            <a:r>
              <a:rPr lang="en-US" altLang="zh-CN" sz="2000"/>
              <a:t>Transactions</a:t>
            </a:r>
            <a:endParaRPr lang="en-US" altLang="zh-CN"/>
          </a:p>
          <a:p>
            <a:r>
              <a:rPr lang="en-US" altLang="zh-CN" sz="2000"/>
              <a:t>Integrity Constraints</a:t>
            </a:r>
            <a:endParaRPr lang="en-US" altLang="zh-CN"/>
          </a:p>
          <a:p>
            <a:r>
              <a:rPr lang="en-US" altLang="zh-CN" sz="2000"/>
              <a:t>SQL Data Types and Schemas</a:t>
            </a:r>
            <a:endParaRPr lang="en-US" altLang="zh-CN"/>
          </a:p>
          <a:p>
            <a:r>
              <a:rPr lang="en-US" altLang="zh-CN" sz="2000"/>
              <a:t>Authorization</a:t>
            </a:r>
            <a:endParaRPr lang="en-US" altLang="zh-CN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Joined Relations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235585" y="1177925"/>
            <a:ext cx="8390255" cy="357505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>
                <a:solidFill>
                  <a:srgbClr val="000099"/>
                </a:solidFill>
              </a:rPr>
              <a:t>Join operations</a:t>
            </a:r>
            <a:r>
              <a:rPr lang="en-US" altLang="zh-CN" sz="2400"/>
              <a:t> take two relations and return as a result another relation.</a:t>
            </a:r>
            <a:endParaRPr lang="en-US" altLang="zh-CN" sz="2400"/>
          </a:p>
          <a:p>
            <a:r>
              <a:rPr lang="en-US" altLang="zh-CN" sz="2400"/>
              <a:t>A join operation is a </a:t>
            </a:r>
            <a:r>
              <a:rPr lang="en-US" altLang="zh-CN" sz="2400">
                <a:solidFill>
                  <a:srgbClr val="C00000"/>
                </a:solidFill>
              </a:rPr>
              <a:t>Cartesian product</a:t>
            </a:r>
            <a:r>
              <a:rPr lang="en-US" altLang="zh-CN" sz="2400"/>
              <a:t> which requires that tuples in the two relations match (under some condition).  </a:t>
            </a:r>
            <a:endParaRPr lang="en-US" altLang="zh-CN" sz="2400"/>
          </a:p>
          <a:p>
            <a:pPr lvl="1"/>
            <a:r>
              <a:rPr lang="en-US" altLang="zh-CN" sz="2400"/>
              <a:t>It also specifies the attributes that are present in the result of the join </a:t>
            </a:r>
            <a:endParaRPr lang="en-US" altLang="zh-CN" sz="2400"/>
          </a:p>
          <a:p>
            <a:r>
              <a:rPr lang="en-US" altLang="zh-CN" sz="2400"/>
              <a:t>The</a:t>
            </a:r>
            <a:r>
              <a:rPr lang="en-US" altLang="zh-CN" sz="2400" b="1">
                <a:solidFill>
                  <a:srgbClr val="000099"/>
                </a:solidFill>
              </a:rPr>
              <a:t> join operations</a:t>
            </a:r>
            <a:r>
              <a:rPr lang="en-US" altLang="zh-CN" sz="2400"/>
              <a:t> are typically used </a:t>
            </a:r>
            <a:r>
              <a:rPr lang="en-US" altLang="zh-CN" sz="2400">
                <a:solidFill>
                  <a:srgbClr val="C00000"/>
                </a:solidFill>
              </a:rPr>
              <a:t>as subquery expressions in the </a:t>
            </a:r>
            <a:r>
              <a:rPr lang="en-US" altLang="zh-CN" sz="2400" b="1">
                <a:solidFill>
                  <a:srgbClr val="C00000"/>
                </a:solidFill>
              </a:rPr>
              <a:t>from </a:t>
            </a:r>
            <a:r>
              <a:rPr lang="en-US" altLang="zh-CN" sz="2400">
                <a:solidFill>
                  <a:srgbClr val="C00000"/>
                </a:solidFill>
              </a:rPr>
              <a:t>clause</a:t>
            </a:r>
            <a:endParaRPr lang="en-US" altLang="zh-CN" sz="2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C0C0C0"/>
                  </a:outerShdw>
                </a:effectLst>
              </a:rPr>
              <a:t>Join operations – Example</a:t>
            </a:r>
            <a:endParaRPr lang="en-US" altLang="zh-CN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798513" y="1077913"/>
            <a:ext cx="6861175" cy="487362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000"/>
              <a:t>Relation </a:t>
            </a:r>
            <a:r>
              <a:rPr lang="en-US" altLang="zh-CN" sz="2000" i="1"/>
              <a:t>course</a:t>
            </a:r>
            <a:endParaRPr lang="en-US" altLang="zh-CN"/>
          </a:p>
        </p:txBody>
      </p:sp>
      <p:sp>
        <p:nvSpPr>
          <p:cNvPr id="21508" name="Rectangle 4"/>
          <p:cNvSpPr/>
          <p:nvPr/>
        </p:nvSpPr>
        <p:spPr>
          <a:xfrm>
            <a:off x="798513" y="3175000"/>
            <a:ext cx="7029450" cy="485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000">
                <a:latin typeface="Helvetica" charset="0"/>
              </a:rPr>
              <a:t>Relation </a:t>
            </a:r>
            <a:r>
              <a:rPr lang="en-US" altLang="zh-CN" sz="2000" i="1" err="1">
                <a:latin typeface="Helvetica" charset="0"/>
              </a:rPr>
              <a:t>prereq</a:t>
            </a:r>
            <a:endParaRPr lang="en-US" altLang="zh-CN" sz="1800">
              <a:latin typeface="Helvetica" charset="0"/>
            </a:endParaRPr>
          </a:p>
        </p:txBody>
      </p:sp>
      <p:sp>
        <p:nvSpPr>
          <p:cNvPr id="21509" name="Rectangle 5"/>
          <p:cNvSpPr/>
          <p:nvPr/>
        </p:nvSpPr>
        <p:spPr>
          <a:xfrm>
            <a:off x="852488" y="5395913"/>
            <a:ext cx="8291512" cy="1219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r>
              <a:rPr lang="en-US" altLang="zh-CN" sz="2000">
                <a:latin typeface="Helvetica" charset="0"/>
              </a:rPr>
              <a:t>   Observe that </a:t>
            </a:r>
            <a:endParaRPr lang="en-US" altLang="zh-CN" sz="2000">
              <a:latin typeface="Helvetica" charset="0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</a:pPr>
            <a:r>
              <a:rPr lang="en-US" altLang="zh-CN" sz="2000">
                <a:latin typeface="Helvetica" charset="0"/>
              </a:rPr>
              <a:t>         </a:t>
            </a:r>
            <a:r>
              <a:rPr lang="en-US" altLang="zh-CN" sz="1800">
                <a:latin typeface="Helvetica" charset="0"/>
              </a:rPr>
              <a:t> </a:t>
            </a:r>
            <a:r>
              <a:rPr lang="en-US" altLang="zh-CN" sz="2000" err="1">
                <a:latin typeface="Helvetica" charset="0"/>
              </a:rPr>
              <a:t>prereq</a:t>
            </a:r>
            <a:r>
              <a:rPr lang="en-US" altLang="zh-CN" sz="2000">
                <a:latin typeface="Helvetica" charset="0"/>
              </a:rPr>
              <a:t> information</a:t>
            </a:r>
            <a:r>
              <a:rPr lang="en-US" altLang="zh-CN" sz="1800">
                <a:latin typeface="Helvetica" charset="0"/>
              </a:rPr>
              <a:t> </a:t>
            </a:r>
            <a:r>
              <a:rPr lang="en-US" altLang="zh-CN" sz="2000">
                <a:latin typeface="Helvetica" charset="0"/>
              </a:rPr>
              <a:t>is missing for CS-315 and</a:t>
            </a:r>
            <a:r>
              <a:rPr lang="en-US" altLang="zh-CN" sz="1800">
                <a:latin typeface="Helvetica" charset="0"/>
              </a:rPr>
              <a:t> </a:t>
            </a:r>
            <a:endParaRPr lang="en-US" altLang="zh-CN" sz="2000">
              <a:latin typeface="Helvetica" charset="0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</a:pPr>
            <a:r>
              <a:rPr lang="en-US" altLang="zh-CN" sz="2000">
                <a:latin typeface="Helvetica" charset="0"/>
              </a:rPr>
              <a:t>          course</a:t>
            </a:r>
            <a:r>
              <a:rPr lang="en-US" altLang="zh-CN" sz="1800">
                <a:latin typeface="Helvetica" charset="0"/>
              </a:rPr>
              <a:t> </a:t>
            </a:r>
            <a:r>
              <a:rPr lang="en-US" altLang="zh-CN" sz="2000">
                <a:latin typeface="Helvetica" charset="0"/>
              </a:rPr>
              <a:t>information</a:t>
            </a:r>
            <a:r>
              <a:rPr lang="en-US" altLang="zh-CN" sz="1800">
                <a:latin typeface="Helvetica" charset="0"/>
              </a:rPr>
              <a:t> </a:t>
            </a:r>
            <a:r>
              <a:rPr lang="en-US" altLang="zh-CN" sz="2000">
                <a:latin typeface="Helvetica" charset="0"/>
              </a:rPr>
              <a:t>is missing  for  CS-437</a:t>
            </a:r>
            <a:endParaRPr lang="en-US" altLang="zh-CN" sz="2000">
              <a:latin typeface="Helvetica" charset="0"/>
            </a:endParaRPr>
          </a:p>
        </p:txBody>
      </p:sp>
      <p:pic>
        <p:nvPicPr>
          <p:cNvPr id="21510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9925" y="1739900"/>
            <a:ext cx="4329113" cy="11985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1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088" y="3744913"/>
            <a:ext cx="2598737" cy="13858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椭圆 1"/>
          <p:cNvSpPr/>
          <p:nvPr/>
        </p:nvSpPr>
        <p:spPr bwMode="auto">
          <a:xfrm>
            <a:off x="1939925" y="2638269"/>
            <a:ext cx="968167" cy="271618"/>
          </a:xfrm>
          <a:prstGeom prst="ellips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2792048" y="4781862"/>
            <a:ext cx="1120384" cy="348938"/>
          </a:xfrm>
          <a:prstGeom prst="ellips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Outer Join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xfrm>
            <a:off x="449706" y="1249363"/>
            <a:ext cx="8395844" cy="48768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dirty="0">
                <a:solidFill>
                  <a:srgbClr val="000099"/>
                </a:solidFill>
              </a:rPr>
              <a:t>An extension of the join operation that avoids loss of information.</a:t>
            </a:r>
            <a:endParaRPr lang="en-US" altLang="zh-CN" sz="2800" dirty="0">
              <a:solidFill>
                <a:srgbClr val="000099"/>
              </a:solidFill>
            </a:endParaRPr>
          </a:p>
          <a:p>
            <a:r>
              <a:rPr lang="en-US" altLang="zh-CN" sz="2800" dirty="0"/>
              <a:t>Computes the join and then adds tuples form one relation that does not match tuples in the other relation to the result of the join. </a:t>
            </a:r>
            <a:endParaRPr lang="en-US" altLang="zh-CN" sz="2800" dirty="0"/>
          </a:p>
          <a:p>
            <a:r>
              <a:rPr lang="en-US" altLang="zh-CN" sz="2800" dirty="0">
                <a:solidFill>
                  <a:srgbClr val="C00000"/>
                </a:solidFill>
              </a:rPr>
              <a:t>Uses </a:t>
            </a:r>
            <a:r>
              <a:rPr lang="en-US" altLang="zh-CN" sz="2800" i="1" dirty="0">
                <a:solidFill>
                  <a:srgbClr val="C00000"/>
                </a:solidFill>
              </a:rPr>
              <a:t>null</a:t>
            </a:r>
            <a:r>
              <a:rPr lang="en-US" altLang="zh-CN" sz="2800" dirty="0">
                <a:solidFill>
                  <a:srgbClr val="C00000"/>
                </a:solidFill>
              </a:rPr>
              <a:t> values.</a:t>
            </a:r>
            <a:endParaRPr lang="en-US" altLang="zh-CN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Left Outer Join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603" name="Rectangle 3"/>
          <p:cNvSpPr/>
          <p:nvPr/>
        </p:nvSpPr>
        <p:spPr>
          <a:xfrm>
            <a:off x="149150" y="1312863"/>
            <a:ext cx="8186737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800" i="1" dirty="0">
                <a:latin typeface="Helvetica" charset="0"/>
              </a:rPr>
              <a:t>  course</a:t>
            </a:r>
            <a:r>
              <a:rPr lang="en-US" altLang="zh-CN" sz="2800" dirty="0">
                <a:latin typeface="Helvetica" charset="0"/>
              </a:rPr>
              <a:t> </a:t>
            </a:r>
            <a:r>
              <a:rPr lang="en-US" altLang="zh-CN" sz="2800" b="1" dirty="0">
                <a:solidFill>
                  <a:srgbClr val="000099"/>
                </a:solidFill>
                <a:latin typeface="Helvetica" charset="0"/>
              </a:rPr>
              <a:t>natural left outer join</a:t>
            </a:r>
            <a:r>
              <a:rPr lang="en-US" altLang="zh-CN" sz="2800" dirty="0">
                <a:latin typeface="Helvetica" charset="0"/>
              </a:rPr>
              <a:t> </a:t>
            </a:r>
            <a:r>
              <a:rPr lang="en-US" altLang="zh-CN" sz="2800" i="1" dirty="0" err="1">
                <a:latin typeface="Helvetica" charset="0"/>
              </a:rPr>
              <a:t>prereq</a:t>
            </a:r>
            <a:endParaRPr lang="en-US" altLang="zh-CN" sz="2800" dirty="0">
              <a:latin typeface="Helvetica" charset="0"/>
            </a:endParaRPr>
          </a:p>
        </p:txBody>
      </p:sp>
      <p:pic>
        <p:nvPicPr>
          <p:cNvPr id="2560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965" y="2112963"/>
            <a:ext cx="8681141" cy="1964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椭圆 5"/>
          <p:cNvSpPr/>
          <p:nvPr/>
        </p:nvSpPr>
        <p:spPr bwMode="auto">
          <a:xfrm>
            <a:off x="7215503" y="3612629"/>
            <a:ext cx="1120384" cy="348938"/>
          </a:xfrm>
          <a:prstGeom prst="ellips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Right Outer Join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651" name="Rectangle 3"/>
          <p:cNvSpPr/>
          <p:nvPr/>
        </p:nvSpPr>
        <p:spPr>
          <a:xfrm>
            <a:off x="239843" y="1287463"/>
            <a:ext cx="7689953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800" dirty="0">
                <a:latin typeface="Helvetica" charset="0"/>
              </a:rPr>
              <a:t> </a:t>
            </a:r>
            <a:r>
              <a:rPr lang="en-US" altLang="zh-CN" sz="2800" i="1" dirty="0">
                <a:latin typeface="Helvetica" charset="0"/>
              </a:rPr>
              <a:t> course</a:t>
            </a:r>
            <a:r>
              <a:rPr lang="en-US" altLang="zh-CN" sz="2800" dirty="0">
                <a:latin typeface="Helvetica" charset="0"/>
              </a:rPr>
              <a:t> </a:t>
            </a:r>
            <a:r>
              <a:rPr lang="en-US" altLang="zh-CN" sz="2800" b="1" dirty="0">
                <a:solidFill>
                  <a:srgbClr val="000099"/>
                </a:solidFill>
                <a:latin typeface="Helvetica" charset="0"/>
              </a:rPr>
              <a:t>natural right outer join</a:t>
            </a:r>
            <a:r>
              <a:rPr lang="en-US" altLang="zh-CN" sz="2800" dirty="0">
                <a:latin typeface="Helvetica" charset="0"/>
              </a:rPr>
              <a:t> </a:t>
            </a:r>
            <a:r>
              <a:rPr lang="en-US" altLang="zh-CN" sz="2800" i="1" dirty="0" err="1">
                <a:latin typeface="Helvetica" charset="0"/>
              </a:rPr>
              <a:t>prereq</a:t>
            </a:r>
            <a:endParaRPr lang="en-US" altLang="zh-CN" sz="2800" i="1" dirty="0">
              <a:latin typeface="Helvetica" charset="0"/>
            </a:endParaRPr>
          </a:p>
        </p:txBody>
      </p:sp>
      <p:pic>
        <p:nvPicPr>
          <p:cNvPr id="2765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793" y="2311399"/>
            <a:ext cx="8665316" cy="196079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椭圆 5"/>
          <p:cNvSpPr/>
          <p:nvPr/>
        </p:nvSpPr>
        <p:spPr bwMode="auto">
          <a:xfrm>
            <a:off x="1862658" y="3762530"/>
            <a:ext cx="5407572" cy="509665"/>
          </a:xfrm>
          <a:prstGeom prst="ellips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Joined Relations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134911" y="896628"/>
            <a:ext cx="9009089" cy="357505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dirty="0">
                <a:solidFill>
                  <a:srgbClr val="000099"/>
                </a:solidFill>
              </a:rPr>
              <a:t>Join operations</a:t>
            </a:r>
            <a:r>
              <a:rPr lang="en-US" altLang="zh-CN" sz="2400" dirty="0"/>
              <a:t> take two relations and return as a result another relation.</a:t>
            </a:r>
            <a:endParaRPr lang="en-US" altLang="zh-CN" sz="2400" dirty="0"/>
          </a:p>
          <a:p>
            <a:r>
              <a:rPr lang="en-US" altLang="zh-CN" sz="2400" dirty="0"/>
              <a:t>These additional operations are typically used as subquery expressions in the </a:t>
            </a:r>
            <a:r>
              <a:rPr lang="en-US" altLang="zh-CN" sz="2400" b="1" dirty="0"/>
              <a:t>from </a:t>
            </a:r>
            <a:r>
              <a:rPr lang="en-US" altLang="zh-CN" sz="2400" dirty="0"/>
              <a:t>clause</a:t>
            </a:r>
            <a:endParaRPr lang="en-US" altLang="zh-CN" sz="2400" dirty="0"/>
          </a:p>
          <a:p>
            <a:r>
              <a:rPr lang="en-US" altLang="zh-CN" sz="2400" b="1" dirty="0">
                <a:solidFill>
                  <a:srgbClr val="000099"/>
                </a:solidFill>
              </a:rPr>
              <a:t>Join condition</a:t>
            </a:r>
            <a:r>
              <a:rPr lang="en-US" altLang="zh-CN" sz="2400" dirty="0"/>
              <a:t> – defines which tuples in the two relations match, and what attributes are present in the result of the join.</a:t>
            </a:r>
            <a:endParaRPr lang="en-US" altLang="zh-CN" sz="2400" dirty="0"/>
          </a:p>
          <a:p>
            <a:r>
              <a:rPr lang="en-US" altLang="zh-CN" sz="2400" b="1" dirty="0">
                <a:solidFill>
                  <a:srgbClr val="000099"/>
                </a:solidFill>
              </a:rPr>
              <a:t>Join type</a:t>
            </a:r>
            <a:r>
              <a:rPr lang="en-US" altLang="zh-CN" sz="2400" dirty="0"/>
              <a:t> – defines how tuples in each relation that do not match any tuple in the other relation (based on the join condition) are treated.</a:t>
            </a:r>
            <a:endParaRPr lang="en-US" altLang="zh-CN" sz="2400" dirty="0"/>
          </a:p>
        </p:txBody>
      </p:sp>
      <p:pic>
        <p:nvPicPr>
          <p:cNvPr id="31748" name="Picture 4"/>
          <p:cNvPicPr>
            <a:picLocks noChangeAspect="1"/>
          </p:cNvPicPr>
          <p:nvPr/>
        </p:nvPicPr>
        <p:blipFill>
          <a:blip r:embed="rId1"/>
          <a:srcRect l="375" t="32004" r="375" b="31503"/>
          <a:stretch>
            <a:fillRect/>
          </a:stretch>
        </p:blipFill>
        <p:spPr>
          <a:xfrm>
            <a:off x="1122363" y="4780949"/>
            <a:ext cx="7085012" cy="1954212"/>
          </a:xfrm>
          <a:prstGeom prst="rect">
            <a:avLst/>
          </a:prstGeom>
          <a:noFill/>
          <a:ln w="3810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Full Outer Join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699" name="Rectangle 3"/>
          <p:cNvSpPr/>
          <p:nvPr/>
        </p:nvSpPr>
        <p:spPr>
          <a:xfrm>
            <a:off x="147957" y="1160673"/>
            <a:ext cx="7272181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800" dirty="0">
                <a:latin typeface="Helvetica" charset="0"/>
              </a:rPr>
              <a:t> </a:t>
            </a:r>
            <a:r>
              <a:rPr lang="en-US" altLang="zh-CN" sz="2800" i="1" dirty="0">
                <a:latin typeface="Helvetica" charset="0"/>
              </a:rPr>
              <a:t> course</a:t>
            </a:r>
            <a:r>
              <a:rPr lang="en-US" altLang="zh-CN" sz="2800" dirty="0">
                <a:latin typeface="Helvetica" charset="0"/>
              </a:rPr>
              <a:t> </a:t>
            </a:r>
            <a:r>
              <a:rPr lang="en-US" altLang="zh-CN" sz="2800" b="1" dirty="0">
                <a:solidFill>
                  <a:srgbClr val="000099"/>
                </a:solidFill>
                <a:latin typeface="Helvetica" charset="0"/>
              </a:rPr>
              <a:t>natural full outer join</a:t>
            </a:r>
            <a:r>
              <a:rPr lang="en-US" altLang="zh-CN" sz="2800" dirty="0">
                <a:latin typeface="Helvetica" charset="0"/>
              </a:rPr>
              <a:t> </a:t>
            </a:r>
            <a:r>
              <a:rPr lang="en-US" altLang="zh-CN" sz="2800" i="1" dirty="0" err="1">
                <a:latin typeface="Helvetica" charset="0"/>
              </a:rPr>
              <a:t>prereq</a:t>
            </a:r>
            <a:endParaRPr lang="en-US" altLang="zh-CN" sz="2800" i="1" dirty="0">
              <a:latin typeface="Helvetica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87597" y="1964128"/>
            <a:ext cx="7762825" cy="2023256"/>
            <a:chOff x="687597" y="1964128"/>
            <a:chExt cx="7762825" cy="2023256"/>
          </a:xfrm>
        </p:grpSpPr>
        <p:pic>
          <p:nvPicPr>
            <p:cNvPr id="29700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597" y="1964128"/>
              <a:ext cx="7762825" cy="202325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9701" name="Picture 7"/>
            <p:cNvPicPr>
              <a:picLocks noChangeAspect="1"/>
            </p:cNvPicPr>
            <p:nvPr/>
          </p:nvPicPr>
          <p:blipFill>
            <a:blip r:embed="rId2"/>
            <a:srcRect l="52229" t="4582" r="6110" b="71706"/>
            <a:stretch>
              <a:fillRect/>
            </a:stretch>
          </p:blipFill>
          <p:spPr>
            <a:xfrm>
              <a:off x="7092424" y="2072521"/>
              <a:ext cx="1216824" cy="369393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rcRect l="375" t="32004" r="375" b="31503"/>
          <a:stretch>
            <a:fillRect/>
          </a:stretch>
        </p:blipFill>
        <p:spPr>
          <a:xfrm>
            <a:off x="1384404" y="4345223"/>
            <a:ext cx="6375192" cy="1758427"/>
          </a:xfrm>
          <a:prstGeom prst="rect">
            <a:avLst/>
          </a:prstGeom>
          <a:noFill/>
          <a:ln w="3810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6667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C0C0C0"/>
                  </a:outerShdw>
                </a:effectLst>
              </a:rPr>
              <a:t>Joined Relations – Examples </a:t>
            </a:r>
            <a:endParaRPr lang="en-US" altLang="zh-CN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74951" y="1098550"/>
            <a:ext cx="9009089" cy="68897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200" i="1" dirty="0"/>
              <a:t>course </a:t>
            </a:r>
            <a:r>
              <a:rPr lang="en-US" altLang="zh-CN" sz="2200" b="1" dirty="0">
                <a:solidFill>
                  <a:srgbClr val="C00000"/>
                </a:solidFill>
              </a:rPr>
              <a:t>inner join </a:t>
            </a:r>
            <a:r>
              <a:rPr lang="en-US" altLang="zh-CN" sz="2200" i="1" dirty="0" err="1"/>
              <a:t>prereq</a:t>
            </a:r>
            <a:r>
              <a:rPr lang="en-US" altLang="zh-CN" sz="2200" i="1" dirty="0"/>
              <a:t> </a:t>
            </a:r>
            <a:r>
              <a:rPr lang="en-US" altLang="zh-CN" sz="2200" b="1" dirty="0">
                <a:solidFill>
                  <a:srgbClr val="C00000"/>
                </a:solidFill>
              </a:rPr>
              <a:t>on</a:t>
            </a:r>
            <a:r>
              <a:rPr lang="en-US" altLang="zh-CN" sz="2200" b="1" dirty="0"/>
              <a:t> </a:t>
            </a:r>
            <a:r>
              <a:rPr lang="en-US" altLang="zh-CN" sz="2200" i="1" dirty="0" err="1"/>
              <a:t>course.course_id</a:t>
            </a:r>
            <a:r>
              <a:rPr lang="en-US" altLang="zh-CN" sz="2200" i="1" dirty="0"/>
              <a:t> = </a:t>
            </a:r>
            <a:r>
              <a:rPr lang="en-US" altLang="zh-CN" sz="2200" i="1" dirty="0" err="1"/>
              <a:t>prereq.course_id</a:t>
            </a:r>
            <a:endParaRPr lang="en-US" altLang="zh-CN" sz="2200" i="1" dirty="0"/>
          </a:p>
        </p:txBody>
      </p:sp>
      <p:sp>
        <p:nvSpPr>
          <p:cNvPr id="33796" name="Rectangle 4"/>
          <p:cNvSpPr/>
          <p:nvPr/>
        </p:nvSpPr>
        <p:spPr>
          <a:xfrm>
            <a:off x="1" y="3300413"/>
            <a:ext cx="9218951" cy="1266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r>
              <a:rPr lang="en-US" altLang="zh-CN" sz="2200" dirty="0">
                <a:solidFill>
                  <a:srgbClr val="000099"/>
                </a:solidFill>
                <a:latin typeface="Helvetica" charset="0"/>
              </a:rPr>
              <a:t>What is the difference </a:t>
            </a:r>
            <a:r>
              <a:rPr lang="en-US" altLang="zh-CN" sz="2200" dirty="0">
                <a:latin typeface="Helvetica" charset="0"/>
              </a:rPr>
              <a:t>between the above, and a </a:t>
            </a:r>
            <a:r>
              <a:rPr lang="en-US" altLang="zh-CN" sz="2200" dirty="0">
                <a:solidFill>
                  <a:srgbClr val="C00000"/>
                </a:solidFill>
                <a:latin typeface="Helvetica" charset="0"/>
              </a:rPr>
              <a:t>natural join</a:t>
            </a:r>
            <a:r>
              <a:rPr lang="en-US" altLang="zh-CN" sz="2200" dirty="0">
                <a:latin typeface="Helvetica" charset="0"/>
              </a:rPr>
              <a:t>? </a:t>
            </a:r>
            <a:endParaRPr lang="en-US" altLang="zh-CN" sz="2200" dirty="0">
              <a:latin typeface="Helvetica" charset="0"/>
            </a:endParaRP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r>
              <a:rPr lang="en-US" altLang="zh-CN" sz="2200" i="1" dirty="0">
                <a:latin typeface="Helvetica" charset="0"/>
              </a:rPr>
              <a:t>course </a:t>
            </a:r>
            <a:r>
              <a:rPr lang="en-US" altLang="zh-CN" sz="2200" b="1" dirty="0">
                <a:solidFill>
                  <a:srgbClr val="C00000"/>
                </a:solidFill>
                <a:latin typeface="Helvetica" charset="0"/>
              </a:rPr>
              <a:t>left outer join</a:t>
            </a:r>
            <a:r>
              <a:rPr lang="en-US" altLang="zh-CN" sz="2200" i="1" dirty="0">
                <a:solidFill>
                  <a:srgbClr val="C00000"/>
                </a:solidFill>
                <a:latin typeface="Helvetica" charset="0"/>
              </a:rPr>
              <a:t> </a:t>
            </a:r>
            <a:r>
              <a:rPr lang="en-US" altLang="zh-CN" sz="2200" i="1" dirty="0" err="1">
                <a:latin typeface="Helvetica" charset="0"/>
              </a:rPr>
              <a:t>prereq</a:t>
            </a:r>
            <a:r>
              <a:rPr lang="en-US" altLang="zh-CN" sz="2200" i="1" dirty="0">
                <a:latin typeface="Helvetica" charset="0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Helvetica" charset="0"/>
              </a:rPr>
              <a:t>on</a:t>
            </a:r>
            <a:r>
              <a:rPr lang="en-US" altLang="zh-CN" sz="2200" b="1" dirty="0">
                <a:latin typeface="Helvetica" charset="0"/>
              </a:rPr>
              <a:t> </a:t>
            </a:r>
            <a:r>
              <a:rPr lang="en-US" altLang="zh-CN" sz="2200" i="1" dirty="0" err="1">
                <a:latin typeface="Helvetica" charset="0"/>
              </a:rPr>
              <a:t>course.course_id</a:t>
            </a:r>
            <a:r>
              <a:rPr lang="en-US" altLang="zh-CN" sz="2200" i="1" dirty="0">
                <a:latin typeface="Helvetica" charset="0"/>
              </a:rPr>
              <a:t> = </a:t>
            </a:r>
            <a:r>
              <a:rPr lang="en-US" altLang="zh-CN" sz="2200" i="1" dirty="0" err="1">
                <a:latin typeface="Helvetica" charset="0"/>
              </a:rPr>
              <a:t>prereq.course_id</a:t>
            </a:r>
            <a:endParaRPr lang="en-US" altLang="zh-CN" sz="2200" i="1" dirty="0">
              <a:latin typeface="Helvetica" charset="0"/>
            </a:endParaRP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endParaRPr lang="en-US" altLang="zh-CN" sz="2200" i="1" dirty="0">
              <a:latin typeface="Helvetica" charset="0"/>
            </a:endParaRPr>
          </a:p>
        </p:txBody>
      </p:sp>
      <p:pic>
        <p:nvPicPr>
          <p:cNvPr id="33797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13" y="2065338"/>
            <a:ext cx="6464300" cy="1003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8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3" y="4610100"/>
            <a:ext cx="6589712" cy="1266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9" name="Picture 7"/>
          <p:cNvPicPr>
            <a:picLocks noChangeAspect="1"/>
          </p:cNvPicPr>
          <p:nvPr/>
        </p:nvPicPr>
        <p:blipFill>
          <a:blip r:embed="rId3"/>
          <a:srcRect l="52229" t="4582" r="6110" b="71706"/>
          <a:stretch>
            <a:fillRect/>
          </a:stretch>
        </p:blipFill>
        <p:spPr>
          <a:xfrm>
            <a:off x="5864225" y="2127250"/>
            <a:ext cx="985838" cy="3000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800" name="Picture 7"/>
          <p:cNvPicPr>
            <a:picLocks noChangeAspect="1"/>
          </p:cNvPicPr>
          <p:nvPr/>
        </p:nvPicPr>
        <p:blipFill>
          <a:blip r:embed="rId3"/>
          <a:srcRect l="52229" t="4582" r="6110" b="71706"/>
          <a:stretch>
            <a:fillRect/>
          </a:stretch>
        </p:blipFill>
        <p:spPr>
          <a:xfrm>
            <a:off x="5984875" y="4662488"/>
            <a:ext cx="985838" cy="300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椭圆 1"/>
          <p:cNvSpPr/>
          <p:nvPr/>
        </p:nvSpPr>
        <p:spPr bwMode="auto">
          <a:xfrm>
            <a:off x="6775554" y="2087325"/>
            <a:ext cx="1225967" cy="1003301"/>
          </a:xfrm>
          <a:prstGeom prst="ellips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5984875" y="5502173"/>
            <a:ext cx="2016646" cy="369888"/>
          </a:xfrm>
          <a:prstGeom prst="ellips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C0C0C0"/>
                  </a:outerShdw>
                </a:effectLst>
              </a:rPr>
              <a:t>Joined Relations – Examples</a:t>
            </a:r>
            <a:endParaRPr lang="en-US" altLang="zh-CN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35843" name="Rectangle 3"/>
          <p:cNvSpPr/>
          <p:nvPr/>
        </p:nvSpPr>
        <p:spPr>
          <a:xfrm>
            <a:off x="742950" y="1047750"/>
            <a:ext cx="6800850" cy="485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r>
              <a:rPr lang="en-US" altLang="zh-CN" sz="2000" i="1" dirty="0">
                <a:latin typeface="Helvetica" charset="0"/>
              </a:rPr>
              <a:t>course</a:t>
            </a:r>
            <a:r>
              <a:rPr lang="en-US" altLang="zh-CN" sz="2000" b="1" dirty="0">
                <a:latin typeface="Helvetica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Helvetica" charset="0"/>
              </a:rPr>
              <a:t>natural right outer join </a:t>
            </a:r>
            <a:r>
              <a:rPr lang="en-US" altLang="zh-CN" sz="2000" i="1" dirty="0" err="1">
                <a:latin typeface="Helvetica" charset="0"/>
              </a:rPr>
              <a:t>prereq</a:t>
            </a:r>
            <a:endParaRPr lang="en-US" altLang="zh-CN" sz="1800" b="1" dirty="0">
              <a:latin typeface="Helvetica" charset="0"/>
            </a:endParaRPr>
          </a:p>
        </p:txBody>
      </p:sp>
      <p:pic>
        <p:nvPicPr>
          <p:cNvPr id="3584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675" y="1776413"/>
            <a:ext cx="6257925" cy="1416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5" name="Rectangle 5"/>
          <p:cNvSpPr/>
          <p:nvPr/>
        </p:nvSpPr>
        <p:spPr>
          <a:xfrm>
            <a:off x="904875" y="4464050"/>
            <a:ext cx="3365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sz="1800" b="1">
              <a:latin typeface="Helvetica" charset="0"/>
            </a:endParaRPr>
          </a:p>
        </p:txBody>
      </p:sp>
      <p:sp>
        <p:nvSpPr>
          <p:cNvPr id="35846" name="Rectangle 6"/>
          <p:cNvSpPr/>
          <p:nvPr/>
        </p:nvSpPr>
        <p:spPr>
          <a:xfrm>
            <a:off x="790575" y="3363913"/>
            <a:ext cx="66865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r>
              <a:rPr lang="en-US" altLang="zh-CN" sz="1800" i="1" dirty="0">
                <a:latin typeface="Helvetica" charset="0"/>
              </a:rPr>
              <a:t>   </a:t>
            </a:r>
            <a:r>
              <a:rPr lang="en-US" altLang="zh-CN" sz="2000" i="1" dirty="0">
                <a:latin typeface="Helvetica" charset="0"/>
              </a:rPr>
              <a:t>course</a:t>
            </a:r>
            <a:r>
              <a:rPr lang="en-US" altLang="zh-CN" b="1" dirty="0">
                <a:latin typeface="Helvetica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Helvetica" charset="0"/>
              </a:rPr>
              <a:t>full</a:t>
            </a:r>
            <a:r>
              <a:rPr lang="en-US" altLang="zh-CN" sz="1800" b="1" dirty="0">
                <a:solidFill>
                  <a:srgbClr val="C00000"/>
                </a:solidFill>
                <a:latin typeface="Helvetica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Helvetica" charset="0"/>
              </a:rPr>
              <a:t>outer join </a:t>
            </a:r>
            <a:r>
              <a:rPr lang="en-US" altLang="zh-CN" sz="2000" i="1" dirty="0" err="1">
                <a:latin typeface="Helvetica" charset="0"/>
              </a:rPr>
              <a:t>prereq</a:t>
            </a:r>
            <a:r>
              <a:rPr lang="en-US" altLang="zh-CN" sz="2000" i="1" dirty="0">
                <a:latin typeface="Helvetica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Helvetica" charset="0"/>
              </a:rPr>
              <a:t>using</a:t>
            </a:r>
            <a:r>
              <a:rPr lang="en-US" altLang="zh-CN" sz="1800" b="1" dirty="0">
                <a:latin typeface="Helvetica" charset="0"/>
              </a:rPr>
              <a:t> </a:t>
            </a:r>
            <a:r>
              <a:rPr lang="en-US" altLang="zh-CN" sz="2000" dirty="0">
                <a:latin typeface="Helvetica" charset="0"/>
              </a:rPr>
              <a:t>(</a:t>
            </a:r>
            <a:r>
              <a:rPr lang="en-US" altLang="zh-CN" sz="2000" i="1" dirty="0" err="1">
                <a:latin typeface="Helvetica" charset="0"/>
              </a:rPr>
              <a:t>course_id</a:t>
            </a:r>
            <a:r>
              <a:rPr lang="en-US" altLang="zh-CN" sz="2000" dirty="0">
                <a:latin typeface="Helvetica" charset="0"/>
              </a:rPr>
              <a:t>)</a:t>
            </a:r>
            <a:endParaRPr lang="en-US" altLang="zh-CN" sz="1800" dirty="0">
              <a:latin typeface="Helvetica" charset="0"/>
            </a:endParaRPr>
          </a:p>
        </p:txBody>
      </p:sp>
      <p:pic>
        <p:nvPicPr>
          <p:cNvPr id="3584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4059238"/>
            <a:ext cx="5859463" cy="1527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8" name="Picture 7"/>
          <p:cNvPicPr>
            <a:picLocks noChangeAspect="1"/>
          </p:cNvPicPr>
          <p:nvPr/>
        </p:nvPicPr>
        <p:blipFill>
          <a:blip r:embed="rId3"/>
          <a:srcRect l="52229" t="4582" r="6110" b="71706"/>
          <a:stretch>
            <a:fillRect/>
          </a:stretch>
        </p:blipFill>
        <p:spPr>
          <a:xfrm>
            <a:off x="6867525" y="1870075"/>
            <a:ext cx="985838" cy="3000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9" name="Picture 7"/>
          <p:cNvPicPr>
            <a:picLocks noChangeAspect="1"/>
          </p:cNvPicPr>
          <p:nvPr/>
        </p:nvPicPr>
        <p:blipFill>
          <a:blip r:embed="rId3"/>
          <a:srcRect l="52229" t="4582" r="6110" b="71706"/>
          <a:stretch>
            <a:fillRect/>
          </a:stretch>
        </p:blipFill>
        <p:spPr>
          <a:xfrm>
            <a:off x="6437313" y="4129088"/>
            <a:ext cx="985837" cy="300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连接的三种写法</a:t>
            </a:r>
            <a:endParaRPr lang="zh-CN" altLang="en-US" dirty="0"/>
          </a:p>
        </p:txBody>
      </p:sp>
      <p:sp>
        <p:nvSpPr>
          <p:cNvPr id="4" name="内容占位符 2"/>
          <p:cNvSpPr txBox="1">
            <a:spLocks noGrp="1"/>
          </p:cNvSpPr>
          <p:nvPr>
            <p:ph idx="1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</p:spPr>
        <p:txBody>
          <a:bodyPr/>
          <a:lstStyle>
            <a:lvl1pPr marL="3162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kumimoji="1" sz="3200" b="0">
                <a:solidFill>
                  <a:schemeClr val="tx1"/>
                </a:solidFill>
                <a:effectLst/>
                <a:latin typeface="Arial" panose="020B0604020202020204"/>
                <a:ea typeface="黑体" panose="02010609060101010101" charset="-122"/>
                <a:cs typeface="Arial" panose="020B0604020202020204"/>
              </a:defRPr>
            </a:lvl1pPr>
            <a:lvl2pPr marL="685800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Arial" panose="020B0604020202020204"/>
                <a:ea typeface="黑体" panose="02010609060101010101" charset="-122"/>
                <a:cs typeface="Arial" panose="020B0604020202020204"/>
              </a:defRPr>
            </a:lvl2pPr>
            <a:lvl3pPr marL="1055370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Arial" panose="020B0604020202020204"/>
                <a:ea typeface="黑体" panose="02010609060101010101" charset="-122"/>
                <a:cs typeface="Arial" panose="020B0604020202020204"/>
              </a:defRPr>
            </a:lvl3pPr>
            <a:lvl4pPr marL="1477010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189928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32092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00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47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11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SELECT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Student.Sno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Course.Cno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Grade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FROM Student,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Course,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SC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WHERE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Student.Sno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=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SC.Sno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AND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Course.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Cno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=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SC.Cno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AND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Sname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=“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李博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”</a:t>
            </a: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SELECT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Student.Sno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Course.Cno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Grade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FROM ((Student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         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INNER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JOIN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SC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on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Student.Sno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=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SC.Sno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)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         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INNER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JOIN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Course ON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Course.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Cno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=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SC.Cno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)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WHERE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Sname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=“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李博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”</a:t>
            </a: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SELECT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Student.Sno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Course.Cno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Grade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FROM ((Student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         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INNER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JOIN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SC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USING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(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))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//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同名字段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         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INNER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JOIN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Course </a:t>
            </a:r>
            <a:r>
              <a:rPr lang="en-US" altLang="zh-CN" sz="2000" kern="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USING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(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Cno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))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WHERE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Sname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=“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李博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”</a:t>
            </a: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Views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139701" y="1106488"/>
            <a:ext cx="8884378" cy="5399243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3205480" algn="ctr"/>
              </a:tabLst>
            </a:pPr>
            <a:r>
              <a:rPr lang="en-US" altLang="zh-CN" sz="2400" dirty="0"/>
              <a:t>In some cases, it is not desirable for all users to see the entire logical model (that is, all the actual relations stored in the database.)</a:t>
            </a:r>
            <a:endParaRPr lang="en-US" altLang="zh-CN" sz="2400" dirty="0"/>
          </a:p>
          <a:p>
            <a:pPr defTabSz="914400">
              <a:tabLst>
                <a:tab pos="3205480" algn="ctr"/>
              </a:tabLst>
            </a:pPr>
            <a:r>
              <a:rPr lang="en-US" altLang="zh-CN" sz="2400" dirty="0"/>
              <a:t>Consider a person who needs to know an instructors name and department, but not the salary.  This person should see a relation described, in SQL, by 		</a:t>
            </a:r>
            <a:endParaRPr lang="en-US" altLang="zh-CN" sz="2400" dirty="0"/>
          </a:p>
          <a:p>
            <a:pPr marL="0" indent="0" defTabSz="914400">
              <a:buNone/>
              <a:tabLst>
                <a:tab pos="3205480" algn="ctr"/>
              </a:tabLst>
            </a:pPr>
            <a:br>
              <a:rPr lang="en-US" altLang="zh-CN" sz="2400" b="1" dirty="0"/>
            </a:br>
            <a:r>
              <a:rPr lang="en-US" altLang="zh-CN" sz="2400" b="1" dirty="0"/>
              <a:t>             select </a:t>
            </a:r>
            <a:r>
              <a:rPr lang="en-US" altLang="zh-CN" sz="2400" i="1" dirty="0"/>
              <a:t>ID</a:t>
            </a:r>
            <a:r>
              <a:rPr lang="en-US" altLang="zh-CN" sz="2400" dirty="0"/>
              <a:t>, </a:t>
            </a:r>
            <a:r>
              <a:rPr lang="en-US" altLang="zh-CN" sz="2400" i="1" dirty="0"/>
              <a:t>name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dept_name</a:t>
            </a:r>
            <a:br>
              <a:rPr lang="en-US" altLang="zh-CN" sz="2400" i="1" dirty="0"/>
            </a:br>
            <a:r>
              <a:rPr lang="en-US" altLang="zh-CN" sz="2400" i="1" dirty="0"/>
              <a:t>             </a:t>
            </a:r>
            <a:r>
              <a:rPr lang="en-US" altLang="zh-CN" sz="2400" b="1" dirty="0"/>
              <a:t>from </a:t>
            </a:r>
            <a:r>
              <a:rPr lang="en-US" altLang="zh-CN" sz="2400" i="1" dirty="0"/>
              <a:t>instructor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defTabSz="914400">
              <a:tabLst>
                <a:tab pos="3205480" algn="ctr"/>
              </a:tabLst>
            </a:pPr>
            <a:r>
              <a:rPr lang="en-US" altLang="zh-CN" sz="2400" dirty="0"/>
              <a:t>A </a:t>
            </a:r>
            <a:r>
              <a:rPr lang="en-US" altLang="zh-CN" sz="2400" b="1" dirty="0">
                <a:solidFill>
                  <a:srgbClr val="000099"/>
                </a:solidFill>
              </a:rPr>
              <a:t>view</a:t>
            </a:r>
            <a:r>
              <a:rPr lang="en-US" altLang="zh-CN" sz="2400" dirty="0"/>
              <a:t> provides a mechanism 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hide certain data from the view of certain users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defTabSz="914400">
              <a:tabLst>
                <a:tab pos="3205480" algn="ctr"/>
              </a:tabLst>
            </a:pPr>
            <a:r>
              <a:rPr lang="en-US" altLang="zh-CN" sz="2400" dirty="0"/>
              <a:t>Any relation that is not of the conceptual model but is made visible to a user as a “virtual relation” is called a </a:t>
            </a:r>
            <a:r>
              <a:rPr lang="en-US" altLang="zh-CN" sz="2400" b="1" dirty="0">
                <a:solidFill>
                  <a:srgbClr val="000099"/>
                </a:solidFill>
              </a:rPr>
              <a:t>view</a:t>
            </a:r>
            <a:r>
              <a:rPr lang="en-US" altLang="zh-CN" sz="2400" dirty="0"/>
              <a:t>.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View Definition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>
          <a:xfrm>
            <a:off x="134912" y="1093788"/>
            <a:ext cx="8859186" cy="5486894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3432175" algn="ctr"/>
              </a:tabLst>
            </a:pPr>
            <a:r>
              <a:rPr lang="en-US" altLang="zh-CN" sz="2400" dirty="0"/>
              <a:t>A view is defined using the </a:t>
            </a:r>
            <a:r>
              <a:rPr lang="en-US" altLang="zh-CN" sz="2400" b="1" dirty="0">
                <a:solidFill>
                  <a:srgbClr val="000099"/>
                </a:solidFill>
              </a:rPr>
              <a:t>create view </a:t>
            </a:r>
            <a:r>
              <a:rPr lang="en-US" altLang="zh-CN" sz="2400" dirty="0"/>
              <a:t>statement which has the form</a:t>
            </a:r>
            <a:endParaRPr lang="en-US" altLang="zh-CN" sz="2400" dirty="0"/>
          </a:p>
          <a:p>
            <a:pPr defTabSz="914400">
              <a:lnSpc>
                <a:spcPct val="40000"/>
              </a:lnSpc>
              <a:tabLst>
                <a:tab pos="3432175" algn="ctr"/>
              </a:tabLst>
            </a:pPr>
            <a:endParaRPr lang="en-US" altLang="zh-CN" sz="2400" dirty="0"/>
          </a:p>
          <a:p>
            <a:pPr defTabSz="914400">
              <a:lnSpc>
                <a:spcPct val="40000"/>
              </a:lnSpc>
              <a:buNone/>
              <a:tabLst>
                <a:tab pos="3432175" algn="ctr"/>
              </a:tabLst>
            </a:pPr>
            <a:r>
              <a:rPr lang="en-US" altLang="zh-CN" sz="2400" dirty="0"/>
              <a:t>		</a:t>
            </a:r>
            <a:r>
              <a:rPr lang="en-US" altLang="zh-CN" sz="2400" b="1" dirty="0">
                <a:solidFill>
                  <a:srgbClr val="000099"/>
                </a:solidFill>
              </a:rPr>
              <a:t>create view </a:t>
            </a:r>
            <a:r>
              <a:rPr lang="en-US" altLang="zh-CN" sz="2400" i="1" dirty="0"/>
              <a:t>v </a:t>
            </a:r>
            <a:r>
              <a:rPr lang="en-US" altLang="zh-CN" sz="2400" b="1" dirty="0">
                <a:solidFill>
                  <a:srgbClr val="000099"/>
                </a:solidFill>
              </a:rPr>
              <a:t>as</a:t>
            </a:r>
            <a:r>
              <a:rPr lang="en-US" altLang="zh-CN" sz="2400" b="1" dirty="0"/>
              <a:t> </a:t>
            </a:r>
            <a:r>
              <a:rPr lang="en-US" altLang="zh-CN" sz="2400" i="1" dirty="0"/>
              <a:t>&lt; </a:t>
            </a:r>
            <a:r>
              <a:rPr lang="en-US" altLang="zh-CN" sz="2400" dirty="0"/>
              <a:t>query expression &gt;</a:t>
            </a:r>
            <a:endParaRPr lang="en-US" altLang="zh-CN" sz="2400" dirty="0"/>
          </a:p>
          <a:p>
            <a:pPr defTabSz="914400">
              <a:lnSpc>
                <a:spcPct val="20000"/>
              </a:lnSpc>
              <a:buNone/>
              <a:tabLst>
                <a:tab pos="3432175" algn="ctr"/>
              </a:tabLst>
            </a:pPr>
            <a:endParaRPr lang="en-US" altLang="zh-CN" sz="2400" dirty="0"/>
          </a:p>
          <a:p>
            <a:pPr defTabSz="914400">
              <a:buNone/>
              <a:tabLst>
                <a:tab pos="3432175" algn="ctr"/>
              </a:tabLst>
            </a:pPr>
            <a:r>
              <a:rPr lang="en-US" altLang="zh-CN" sz="2400" dirty="0"/>
              <a:t>	where &lt;query expression&gt; is any </a:t>
            </a:r>
            <a:r>
              <a:rPr lang="en-US" altLang="zh-CN" sz="2400" dirty="0">
                <a:solidFill>
                  <a:srgbClr val="000099"/>
                </a:solidFill>
              </a:rPr>
              <a:t>legal SQL expression</a:t>
            </a:r>
            <a:r>
              <a:rPr lang="en-US" altLang="zh-CN" sz="2400" dirty="0"/>
              <a:t>.  The view name is represented by </a:t>
            </a:r>
            <a:r>
              <a:rPr lang="en-US" altLang="zh-CN" sz="2400" i="1" dirty="0"/>
              <a:t>v.</a:t>
            </a:r>
            <a:endParaRPr lang="en-US" altLang="zh-CN" sz="2400" dirty="0"/>
          </a:p>
          <a:p>
            <a:pPr defTabSz="914400">
              <a:tabLst>
                <a:tab pos="3432175" algn="ctr"/>
              </a:tabLst>
            </a:pPr>
            <a:r>
              <a:rPr lang="en-US" altLang="zh-CN" sz="2400" b="1" dirty="0">
                <a:solidFill>
                  <a:srgbClr val="C00000"/>
                </a:solidFill>
              </a:rPr>
              <a:t>Once a view is defined, the view name can be used to refer to the virtual relation that the view generates.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defTabSz="914400">
              <a:tabLst>
                <a:tab pos="3432175" algn="ctr"/>
              </a:tabLst>
            </a:pPr>
            <a:r>
              <a:rPr lang="en-US" altLang="zh-CN" sz="2400" dirty="0">
                <a:solidFill>
                  <a:srgbClr val="000099"/>
                </a:solidFill>
              </a:rPr>
              <a:t>View definition is not the same as creating a new relation by evaluating the query expression 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lvl="1" defTabSz="914400">
              <a:tabLst>
                <a:tab pos="3432175" algn="ctr"/>
              </a:tabLst>
            </a:pPr>
            <a:r>
              <a:rPr lang="en-US" altLang="zh-CN" sz="2400" dirty="0"/>
              <a:t>Rather, a view definition causes the saving of an expression; the expression is substituted into queries using the view.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Example Views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149902" y="941597"/>
            <a:ext cx="8994098" cy="5634037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1370330" algn="l"/>
              </a:tabLst>
            </a:pPr>
            <a:r>
              <a:rPr lang="en-US" altLang="zh-CN" sz="2400" dirty="0"/>
              <a:t>A view of instructors without their salary</a:t>
            </a:r>
            <a:br>
              <a:rPr lang="en-US" altLang="zh-CN" sz="2400" dirty="0"/>
            </a:br>
            <a:r>
              <a:rPr lang="en-US" altLang="zh-CN" sz="2400" dirty="0"/>
              <a:t> </a:t>
            </a:r>
            <a:r>
              <a:rPr lang="en-US" altLang="zh-CN" sz="2400" b="1" dirty="0"/>
              <a:t>create view </a:t>
            </a:r>
            <a:r>
              <a:rPr lang="en-US" altLang="zh-CN" sz="2400" b="1" i="1" dirty="0">
                <a:solidFill>
                  <a:srgbClr val="C00000"/>
                </a:solidFill>
              </a:rPr>
              <a:t>faculty</a:t>
            </a:r>
            <a:r>
              <a:rPr lang="en-US" altLang="zh-CN" sz="2400" i="1" dirty="0"/>
              <a:t> </a:t>
            </a:r>
            <a:r>
              <a:rPr lang="en-US" altLang="zh-CN" sz="2400" b="1" dirty="0"/>
              <a:t>as </a:t>
            </a:r>
            <a:br>
              <a:rPr lang="en-US" altLang="zh-CN" sz="2400" b="1" dirty="0"/>
            </a:br>
            <a:r>
              <a:rPr lang="en-US" altLang="zh-CN" sz="2400" b="1" dirty="0"/>
              <a:t>    select </a:t>
            </a:r>
            <a:r>
              <a:rPr lang="en-US" altLang="zh-CN" sz="2400" i="1" dirty="0"/>
              <a:t>ID</a:t>
            </a:r>
            <a:r>
              <a:rPr lang="en-US" altLang="zh-CN" sz="2400" dirty="0"/>
              <a:t>, </a:t>
            </a:r>
            <a:r>
              <a:rPr lang="en-US" altLang="zh-CN" sz="2400" i="1" dirty="0"/>
              <a:t>name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dept_name</a:t>
            </a:r>
            <a:br>
              <a:rPr lang="en-US" altLang="zh-CN" sz="2400" i="1" dirty="0"/>
            </a:br>
            <a:r>
              <a:rPr lang="en-US" altLang="zh-CN" sz="2400" i="1" dirty="0"/>
              <a:t>    </a:t>
            </a:r>
            <a:r>
              <a:rPr lang="en-US" altLang="zh-CN" sz="2400" b="1" dirty="0"/>
              <a:t>from </a:t>
            </a:r>
            <a:r>
              <a:rPr lang="en-US" altLang="zh-CN" sz="2400" i="1" dirty="0"/>
              <a:t>instructor</a:t>
            </a:r>
            <a:endParaRPr lang="en-US" altLang="zh-CN" sz="2400" dirty="0"/>
          </a:p>
          <a:p>
            <a:pPr defTabSz="914400">
              <a:tabLst>
                <a:tab pos="1370330" algn="l"/>
              </a:tabLst>
            </a:pPr>
            <a:r>
              <a:rPr lang="en-US" altLang="zh-CN" sz="2400" dirty="0"/>
              <a:t>Find all instructors in the Biology department</a:t>
            </a:r>
            <a:br>
              <a:rPr lang="en-US" altLang="zh-CN" sz="2400" dirty="0"/>
            </a:br>
            <a:r>
              <a:rPr lang="en-US" altLang="zh-CN" sz="2400" dirty="0"/>
              <a:t> </a:t>
            </a:r>
            <a:r>
              <a:rPr lang="en-US" altLang="zh-CN" sz="2400" b="1" dirty="0"/>
              <a:t>select </a:t>
            </a:r>
            <a:r>
              <a:rPr lang="en-US" altLang="zh-CN" sz="2400" i="1" dirty="0"/>
              <a:t>name</a:t>
            </a:r>
            <a:br>
              <a:rPr lang="en-US" altLang="zh-CN" sz="2400" i="1" dirty="0"/>
            </a:br>
            <a:r>
              <a:rPr lang="en-US" altLang="zh-CN" sz="2400" i="1" dirty="0"/>
              <a:t> </a:t>
            </a:r>
            <a:r>
              <a:rPr lang="en-US" altLang="zh-CN" sz="2400" b="1" dirty="0"/>
              <a:t>from </a:t>
            </a:r>
            <a:r>
              <a:rPr lang="en-US" altLang="zh-CN" sz="2400" b="1" i="1" dirty="0">
                <a:solidFill>
                  <a:srgbClr val="C00000"/>
                </a:solidFill>
              </a:rPr>
              <a:t>faculty</a:t>
            </a:r>
            <a:br>
              <a:rPr lang="en-US" altLang="zh-CN" sz="2400" i="1" dirty="0"/>
            </a:br>
            <a:r>
              <a:rPr lang="en-US" altLang="zh-CN" sz="2400" i="1" dirty="0"/>
              <a:t> </a:t>
            </a:r>
            <a:r>
              <a:rPr lang="en-US" altLang="zh-CN" sz="2400" b="1" dirty="0"/>
              <a:t>where </a:t>
            </a:r>
            <a:r>
              <a:rPr lang="en-US" altLang="zh-CN" sz="2400" i="1" dirty="0" err="1"/>
              <a:t>dept_name</a:t>
            </a:r>
            <a:r>
              <a:rPr lang="en-US" altLang="zh-CN" sz="2400" i="1" dirty="0"/>
              <a:t> = </a:t>
            </a:r>
            <a:r>
              <a:rPr lang="en-US" altLang="zh-CN" sz="2400" dirty="0"/>
              <a:t>‘Biology’</a:t>
            </a:r>
            <a:endParaRPr lang="en-US" altLang="zh-CN" sz="2400" dirty="0"/>
          </a:p>
          <a:p>
            <a:pPr defTabSz="914400">
              <a:tabLst>
                <a:tab pos="1370330" algn="l"/>
              </a:tabLst>
            </a:pPr>
            <a:r>
              <a:rPr lang="en-US" altLang="zh-CN" sz="2400" dirty="0"/>
              <a:t>Create a view of department salary totals</a:t>
            </a:r>
            <a:br>
              <a:rPr lang="en-US" altLang="zh-CN" sz="2400" dirty="0"/>
            </a:br>
            <a:r>
              <a:rPr lang="en-US" altLang="zh-CN" sz="2400" dirty="0"/>
              <a:t>  </a:t>
            </a:r>
            <a:r>
              <a:rPr lang="en-US" altLang="zh-CN" sz="2400" b="1" dirty="0"/>
              <a:t>create view </a:t>
            </a:r>
            <a:r>
              <a:rPr lang="en-US" altLang="zh-CN" sz="2400" i="1" dirty="0" err="1"/>
              <a:t>departments_total_salary</a:t>
            </a:r>
            <a:r>
              <a:rPr lang="en-US" altLang="zh-CN" sz="2400" dirty="0"/>
              <a:t>( </a:t>
            </a:r>
            <a:r>
              <a:rPr lang="en-US" altLang="zh-CN" sz="2400" i="1" dirty="0" err="1"/>
              <a:t>dept_name</a:t>
            </a:r>
            <a:r>
              <a:rPr lang="en-US" altLang="zh-CN" sz="2400" dirty="0"/>
              <a:t>, </a:t>
            </a:r>
            <a:endParaRPr lang="en-US" altLang="zh-CN" sz="2400" dirty="0"/>
          </a:p>
          <a:p>
            <a:pPr marL="0" indent="0" defTabSz="914400">
              <a:buNone/>
              <a:tabLst>
                <a:tab pos="1370330" algn="l"/>
              </a:tabLst>
            </a:pPr>
            <a:r>
              <a:rPr lang="en-US" altLang="zh-CN" sz="2400" i="1" dirty="0"/>
              <a:t>                 </a:t>
            </a:r>
            <a:r>
              <a:rPr lang="en-US" altLang="zh-CN" sz="2400" i="1" dirty="0" err="1"/>
              <a:t>total_salary</a:t>
            </a:r>
            <a:r>
              <a:rPr lang="en-US" altLang="zh-CN" sz="2400" dirty="0"/>
              <a:t>) </a:t>
            </a:r>
            <a:r>
              <a:rPr lang="en-US" altLang="zh-CN" sz="2400" b="1" dirty="0"/>
              <a:t>as select </a:t>
            </a:r>
            <a:r>
              <a:rPr lang="en-US" altLang="zh-CN" sz="2400" i="1" dirty="0" err="1"/>
              <a:t>dept_name</a:t>
            </a:r>
            <a:r>
              <a:rPr lang="en-US" altLang="zh-CN" sz="2400" dirty="0"/>
              <a:t>, </a:t>
            </a:r>
            <a:r>
              <a:rPr lang="en-US" altLang="zh-CN" sz="2400" b="1" dirty="0"/>
              <a:t>sum </a:t>
            </a:r>
            <a:r>
              <a:rPr lang="en-US" altLang="zh-CN" sz="2400" dirty="0"/>
              <a:t>(</a:t>
            </a:r>
            <a:r>
              <a:rPr lang="en-US" altLang="zh-CN" sz="2400" i="1" dirty="0"/>
              <a:t>salary</a:t>
            </a:r>
            <a:r>
              <a:rPr lang="en-US" altLang="zh-CN" sz="2400" dirty="0"/>
              <a:t>)</a:t>
            </a:r>
            <a:br>
              <a:rPr lang="en-US" altLang="zh-CN" sz="2400" dirty="0"/>
            </a:br>
            <a:r>
              <a:rPr lang="en-US" altLang="zh-CN" sz="2400" dirty="0"/>
              <a:t>				</a:t>
            </a:r>
            <a:r>
              <a:rPr lang="en-US" altLang="zh-CN" sz="2400" b="1" dirty="0"/>
              <a:t>from </a:t>
            </a:r>
            <a:r>
              <a:rPr lang="en-US" altLang="zh-CN" sz="2400" i="1" dirty="0"/>
              <a:t>instructor</a:t>
            </a:r>
            <a:br>
              <a:rPr lang="en-US" altLang="zh-CN" sz="2400" i="1" dirty="0"/>
            </a:br>
            <a:r>
              <a:rPr lang="en-US" altLang="zh-CN" sz="2400" i="1" dirty="0"/>
              <a:t>				</a:t>
            </a:r>
            <a:r>
              <a:rPr lang="en-US" altLang="zh-CN" sz="2400" b="1" dirty="0"/>
              <a:t>group by </a:t>
            </a:r>
            <a:r>
              <a:rPr lang="en-US" altLang="zh-CN" sz="2400" i="1" dirty="0" err="1"/>
              <a:t>dept_name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 defTabSz="914400">
              <a:tabLst>
                <a:tab pos="1370330" algn="l"/>
              </a:tabLst>
            </a:pPr>
            <a:endParaRPr lang="en-US" altLang="zh-CN" sz="2400" dirty="0"/>
          </a:p>
          <a:p>
            <a:pPr defTabSz="914400">
              <a:tabLst>
                <a:tab pos="1370330" algn="l"/>
              </a:tabLst>
            </a:pPr>
            <a:endParaRPr lang="en-US" altLang="zh-CN" sz="2400" dirty="0"/>
          </a:p>
          <a:p>
            <a:pPr defTabSz="914400">
              <a:tabLst>
                <a:tab pos="1370330" algn="l"/>
              </a:tabLst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Views Defined Using Other Views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398464" y="1093788"/>
            <a:ext cx="8580644" cy="4903787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dirty="0"/>
              <a:t>create view </a:t>
            </a:r>
            <a:r>
              <a:rPr lang="en-US" altLang="zh-CN" sz="2400" i="1" dirty="0">
                <a:solidFill>
                  <a:srgbClr val="000099"/>
                </a:solidFill>
              </a:rPr>
              <a:t>physics_fall_2009</a:t>
            </a:r>
            <a:r>
              <a:rPr lang="en-US" altLang="zh-CN" sz="2400" i="1" dirty="0"/>
              <a:t> </a:t>
            </a:r>
            <a:r>
              <a:rPr lang="en-US" altLang="zh-CN" sz="2400" b="1" dirty="0"/>
              <a:t>as</a:t>
            </a:r>
            <a:br>
              <a:rPr lang="en-US" altLang="zh-CN" sz="2400" b="1" dirty="0"/>
            </a:br>
            <a:r>
              <a:rPr lang="en-US" altLang="zh-CN" sz="2400" b="1" dirty="0"/>
              <a:t>   select </a:t>
            </a:r>
            <a:r>
              <a:rPr lang="en-US" altLang="zh-CN" sz="2400" i="1" dirty="0" err="1"/>
              <a:t>course</a:t>
            </a:r>
            <a:r>
              <a:rPr lang="en-US" altLang="zh-CN" sz="2400" dirty="0" err="1"/>
              <a:t>.</a:t>
            </a:r>
            <a:r>
              <a:rPr lang="en-US" altLang="zh-CN" sz="2400" i="1" dirty="0" err="1"/>
              <a:t>course_id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sec_id</a:t>
            </a:r>
            <a:r>
              <a:rPr lang="en-US" altLang="zh-CN" sz="2400" dirty="0"/>
              <a:t>, </a:t>
            </a:r>
            <a:r>
              <a:rPr lang="en-US" altLang="zh-CN" sz="2400" i="1" dirty="0"/>
              <a:t>building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room_number</a:t>
            </a:r>
            <a:br>
              <a:rPr lang="en-US" altLang="zh-CN" sz="2400" i="1" dirty="0"/>
            </a:br>
            <a:r>
              <a:rPr lang="en-US" altLang="zh-CN" sz="2400" i="1" dirty="0"/>
              <a:t>   </a:t>
            </a:r>
            <a:r>
              <a:rPr lang="en-US" altLang="zh-CN" sz="2400" b="1" dirty="0"/>
              <a:t>from </a:t>
            </a:r>
            <a:r>
              <a:rPr lang="en-US" altLang="zh-CN" sz="2400" i="1" dirty="0"/>
              <a:t>course</a:t>
            </a:r>
            <a:r>
              <a:rPr lang="en-US" altLang="zh-CN" sz="2400" dirty="0"/>
              <a:t>, </a:t>
            </a:r>
            <a:r>
              <a:rPr lang="en-US" altLang="zh-CN" sz="2400" i="1" dirty="0"/>
              <a:t>section</a:t>
            </a:r>
            <a:br>
              <a:rPr lang="en-US" altLang="zh-CN" sz="2400" i="1" dirty="0"/>
            </a:br>
            <a:r>
              <a:rPr lang="en-US" altLang="zh-CN" sz="2400" i="1" dirty="0"/>
              <a:t>   </a:t>
            </a:r>
            <a:r>
              <a:rPr lang="en-US" altLang="zh-CN" sz="2400" b="1" dirty="0"/>
              <a:t>where </a:t>
            </a:r>
            <a:r>
              <a:rPr lang="en-US" altLang="zh-CN" sz="2400" i="1" dirty="0" err="1"/>
              <a:t>course</a:t>
            </a:r>
            <a:r>
              <a:rPr lang="en-US" altLang="zh-CN" sz="2400" dirty="0" err="1"/>
              <a:t>.</a:t>
            </a:r>
            <a:r>
              <a:rPr lang="en-US" altLang="zh-CN" sz="2400" i="1" dirty="0" err="1"/>
              <a:t>course_id</a:t>
            </a:r>
            <a:r>
              <a:rPr lang="en-US" altLang="zh-CN" sz="2400" i="1" dirty="0"/>
              <a:t> </a:t>
            </a:r>
            <a:r>
              <a:rPr lang="en-US" altLang="zh-CN" sz="2400" dirty="0"/>
              <a:t>= </a:t>
            </a:r>
            <a:r>
              <a:rPr lang="en-US" altLang="zh-CN" sz="2400" i="1" dirty="0" err="1"/>
              <a:t>section</a:t>
            </a:r>
            <a:r>
              <a:rPr lang="en-US" altLang="zh-CN" sz="2400" dirty="0" err="1"/>
              <a:t>.</a:t>
            </a:r>
            <a:r>
              <a:rPr lang="en-US" altLang="zh-CN" sz="2400" i="1" dirty="0" err="1"/>
              <a:t>course_id</a:t>
            </a:r>
            <a:br>
              <a:rPr lang="en-US" altLang="zh-CN" sz="2400" i="1" dirty="0"/>
            </a:br>
            <a:r>
              <a:rPr lang="en-US" altLang="zh-CN" sz="2400" i="1" dirty="0"/>
              <a:t>              </a:t>
            </a:r>
            <a:r>
              <a:rPr lang="en-US" altLang="zh-CN" sz="2400" b="1" dirty="0"/>
              <a:t>and </a:t>
            </a:r>
            <a:r>
              <a:rPr lang="en-US" altLang="zh-CN" sz="2400" i="1" dirty="0" err="1"/>
              <a:t>course</a:t>
            </a:r>
            <a:r>
              <a:rPr lang="en-US" altLang="zh-CN" sz="2400" dirty="0" err="1"/>
              <a:t>.</a:t>
            </a:r>
            <a:r>
              <a:rPr lang="en-US" altLang="zh-CN" sz="2400" i="1" dirty="0" err="1"/>
              <a:t>dept_name</a:t>
            </a:r>
            <a:r>
              <a:rPr lang="en-US" altLang="zh-CN" sz="2400" i="1" dirty="0"/>
              <a:t> </a:t>
            </a:r>
            <a:r>
              <a:rPr lang="en-US" altLang="zh-CN" sz="2400" dirty="0"/>
              <a:t>= ’Physics’</a:t>
            </a:r>
            <a:br>
              <a:rPr lang="en-US" altLang="zh-CN" sz="2400" dirty="0"/>
            </a:br>
            <a:r>
              <a:rPr lang="en-US" altLang="zh-CN" sz="2400" dirty="0"/>
              <a:t>              </a:t>
            </a:r>
            <a:r>
              <a:rPr lang="en-US" altLang="zh-CN" sz="2400" b="1" dirty="0"/>
              <a:t>and </a:t>
            </a:r>
            <a:r>
              <a:rPr lang="en-US" altLang="zh-CN" sz="2400" i="1" dirty="0" err="1"/>
              <a:t>section</a:t>
            </a:r>
            <a:r>
              <a:rPr lang="en-US" altLang="zh-CN" sz="2400" dirty="0" err="1"/>
              <a:t>.</a:t>
            </a:r>
            <a:r>
              <a:rPr lang="en-US" altLang="zh-CN" sz="2400" i="1" dirty="0" err="1"/>
              <a:t>semester</a:t>
            </a:r>
            <a:r>
              <a:rPr lang="en-US" altLang="zh-CN" sz="2400" i="1" dirty="0"/>
              <a:t> </a:t>
            </a:r>
            <a:r>
              <a:rPr lang="en-US" altLang="zh-CN" sz="2400" dirty="0"/>
              <a:t>= ’Fall’</a:t>
            </a:r>
            <a:br>
              <a:rPr lang="en-US" altLang="zh-CN" sz="2400" dirty="0"/>
            </a:br>
            <a:r>
              <a:rPr lang="en-US" altLang="zh-CN" sz="2400" dirty="0"/>
              <a:t>              </a:t>
            </a:r>
            <a:r>
              <a:rPr lang="en-US" altLang="zh-CN" sz="2400" b="1" dirty="0"/>
              <a:t>and </a:t>
            </a:r>
            <a:r>
              <a:rPr lang="en-US" altLang="zh-CN" sz="2400" i="1" dirty="0" err="1"/>
              <a:t>section</a:t>
            </a:r>
            <a:r>
              <a:rPr lang="en-US" altLang="zh-CN" sz="2400" dirty="0" err="1"/>
              <a:t>.</a:t>
            </a:r>
            <a:r>
              <a:rPr lang="en-US" altLang="zh-CN" sz="2400" i="1" dirty="0" err="1"/>
              <a:t>year</a:t>
            </a:r>
            <a:r>
              <a:rPr lang="en-US" altLang="zh-CN" sz="2400" i="1" dirty="0"/>
              <a:t> </a:t>
            </a:r>
            <a:r>
              <a:rPr lang="en-US" altLang="zh-CN" sz="2400" dirty="0"/>
              <a:t>= ’2009’;</a:t>
            </a:r>
            <a:endParaRPr lang="en-US" altLang="zh-CN" sz="2400" dirty="0"/>
          </a:p>
          <a:p>
            <a:r>
              <a:rPr lang="en-US" altLang="zh-CN" sz="2400" b="1" dirty="0"/>
              <a:t>create view </a:t>
            </a:r>
            <a:r>
              <a:rPr lang="en-US" altLang="zh-CN" sz="2400" i="1" dirty="0"/>
              <a:t>physics_fall_2009_watson </a:t>
            </a:r>
            <a:r>
              <a:rPr lang="en-US" altLang="zh-CN" sz="2400" b="1" dirty="0"/>
              <a:t>as</a:t>
            </a:r>
            <a:br>
              <a:rPr lang="en-US" altLang="zh-CN" sz="2400" b="1" dirty="0"/>
            </a:br>
            <a:r>
              <a:rPr lang="en-US" altLang="zh-CN" sz="2400" b="1" dirty="0"/>
              <a:t>    select </a:t>
            </a:r>
            <a:r>
              <a:rPr lang="en-US" altLang="zh-CN" sz="2400" i="1" dirty="0" err="1"/>
              <a:t>course_id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room_number</a:t>
            </a:r>
            <a:br>
              <a:rPr lang="en-US" altLang="zh-CN" sz="2400" i="1" dirty="0"/>
            </a:br>
            <a:r>
              <a:rPr lang="en-US" altLang="zh-CN" sz="2400" i="1" dirty="0"/>
              <a:t>    </a:t>
            </a:r>
            <a:r>
              <a:rPr lang="en-US" altLang="zh-CN" sz="2400" b="1" dirty="0"/>
              <a:t>from </a:t>
            </a:r>
            <a:r>
              <a:rPr lang="en-US" altLang="zh-CN" sz="2400" i="1" dirty="0">
                <a:solidFill>
                  <a:srgbClr val="000099"/>
                </a:solidFill>
              </a:rPr>
              <a:t>physics_fall_2009</a:t>
            </a:r>
            <a:br>
              <a:rPr lang="en-US" altLang="zh-CN" sz="2400" i="1" dirty="0"/>
            </a:br>
            <a:r>
              <a:rPr lang="en-US" altLang="zh-CN" sz="2400" i="1" dirty="0"/>
              <a:t>    </a:t>
            </a:r>
            <a:r>
              <a:rPr lang="en-US" altLang="zh-CN" sz="2400" b="1" dirty="0"/>
              <a:t>where </a:t>
            </a:r>
            <a:r>
              <a:rPr lang="en-US" altLang="zh-CN" sz="2400" i="1" dirty="0"/>
              <a:t>building</a:t>
            </a:r>
            <a:r>
              <a:rPr lang="en-US" altLang="zh-CN" sz="2400" dirty="0"/>
              <a:t>= ’Watson’;</a:t>
            </a:r>
            <a:endParaRPr lang="en-US" altLang="zh-CN" sz="2400" dirty="0"/>
          </a:p>
          <a:p>
            <a:endParaRPr lang="en-US" altLang="zh-CN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View Expansion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409656" y="1093788"/>
            <a:ext cx="8329612" cy="609601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dirty="0"/>
              <a:t>Expand use of a view in a query/another view</a:t>
            </a:r>
            <a:endParaRPr lang="en-US" altLang="zh-CN" sz="2800" dirty="0"/>
          </a:p>
          <a:p>
            <a:endParaRPr lang="en-US" altLang="zh-CN" sz="2800" dirty="0"/>
          </a:p>
        </p:txBody>
      </p:sp>
      <p:sp>
        <p:nvSpPr>
          <p:cNvPr id="45060" name="Text Box 4"/>
          <p:cNvSpPr txBox="1"/>
          <p:nvPr/>
        </p:nvSpPr>
        <p:spPr>
          <a:xfrm>
            <a:off x="409656" y="1858962"/>
            <a:ext cx="8435894" cy="416344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400" b="1" dirty="0">
                <a:latin typeface="Helvetica" charset="0"/>
              </a:rPr>
              <a:t>create view </a:t>
            </a:r>
            <a:r>
              <a:rPr lang="en-US" altLang="zh-CN" sz="2400" i="1" dirty="0">
                <a:latin typeface="Helvetica" charset="0"/>
              </a:rPr>
              <a:t>physics_fall_2009_watson </a:t>
            </a:r>
            <a:r>
              <a:rPr lang="en-US" altLang="zh-CN" sz="2400" b="1" dirty="0">
                <a:latin typeface="Helvetica" charset="0"/>
              </a:rPr>
              <a:t>as</a:t>
            </a:r>
            <a:endParaRPr lang="en-US" altLang="zh-CN" sz="2400" b="1" dirty="0">
              <a:latin typeface="Helvetica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dirty="0">
                <a:latin typeface="Helvetica" charset="0"/>
              </a:rPr>
              <a:t>( </a:t>
            </a:r>
            <a:r>
              <a:rPr lang="en-US" altLang="zh-CN" sz="2400" b="1" dirty="0">
                <a:latin typeface="Helvetica" charset="0"/>
              </a:rPr>
              <a:t>select </a:t>
            </a:r>
            <a:r>
              <a:rPr lang="en-US" altLang="zh-CN" sz="2400" i="1" dirty="0" err="1">
                <a:latin typeface="Helvetica" charset="0"/>
              </a:rPr>
              <a:t>course_id</a:t>
            </a:r>
            <a:r>
              <a:rPr lang="en-US" altLang="zh-CN" sz="2400" dirty="0">
                <a:latin typeface="Helvetica" charset="0"/>
              </a:rPr>
              <a:t>, </a:t>
            </a:r>
            <a:r>
              <a:rPr lang="en-US" altLang="zh-CN" sz="2400" i="1" dirty="0" err="1">
                <a:latin typeface="Helvetica" charset="0"/>
              </a:rPr>
              <a:t>room_number</a:t>
            </a:r>
            <a:endParaRPr lang="en-US" altLang="zh-CN" sz="2400" i="1" dirty="0">
              <a:latin typeface="Helvetica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b="1" dirty="0">
                <a:latin typeface="Helvetica" charset="0"/>
              </a:rPr>
              <a:t>  from 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( </a:t>
            </a:r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select 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course</a:t>
            </a:r>
            <a:r>
              <a:rPr lang="en-US" altLang="zh-CN" sz="2400" dirty="0" err="1">
                <a:solidFill>
                  <a:srgbClr val="000099"/>
                </a:solidFill>
                <a:latin typeface="Helvetica" charset="0"/>
              </a:rPr>
              <a:t>.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course_id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, </a:t>
            </a:r>
            <a:r>
              <a:rPr lang="en-US" altLang="zh-CN" sz="2400" i="1" dirty="0">
                <a:solidFill>
                  <a:srgbClr val="000099"/>
                </a:solidFill>
                <a:latin typeface="Helvetica" charset="0"/>
              </a:rPr>
              <a:t>building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, 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room_number</a:t>
            </a:r>
            <a:endParaRPr lang="en-US" altLang="zh-CN" sz="2400" i="1" dirty="0">
              <a:solidFill>
                <a:srgbClr val="000099"/>
              </a:solidFill>
              <a:latin typeface="Helvetica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             from </a:t>
            </a:r>
            <a:r>
              <a:rPr lang="en-US" altLang="zh-CN" sz="2400" i="1" dirty="0">
                <a:solidFill>
                  <a:srgbClr val="000099"/>
                </a:solidFill>
                <a:latin typeface="Helvetica" charset="0"/>
              </a:rPr>
              <a:t>course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, </a:t>
            </a:r>
            <a:r>
              <a:rPr lang="en-US" altLang="zh-CN" sz="2400" i="1" dirty="0">
                <a:solidFill>
                  <a:srgbClr val="000099"/>
                </a:solidFill>
                <a:latin typeface="Helvetica" charset="0"/>
              </a:rPr>
              <a:t>section</a:t>
            </a:r>
            <a:endParaRPr lang="en-US" altLang="zh-CN" sz="2400" i="1" dirty="0">
              <a:solidFill>
                <a:srgbClr val="000099"/>
              </a:solidFill>
              <a:latin typeface="Helvetica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             where 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course</a:t>
            </a:r>
            <a:r>
              <a:rPr lang="en-US" altLang="zh-CN" sz="2400" dirty="0" err="1">
                <a:solidFill>
                  <a:srgbClr val="000099"/>
                </a:solidFill>
                <a:latin typeface="Helvetica" charset="0"/>
              </a:rPr>
              <a:t>.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course_id</a:t>
            </a:r>
            <a:r>
              <a:rPr lang="en-US" altLang="zh-CN" sz="2400" i="1" dirty="0">
                <a:solidFill>
                  <a:srgbClr val="000099"/>
                </a:solidFill>
                <a:latin typeface="Helvetica" charset="0"/>
              </a:rPr>
              <a:t> 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= 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section</a:t>
            </a:r>
            <a:r>
              <a:rPr lang="en-US" altLang="zh-CN" sz="2400" dirty="0" err="1">
                <a:solidFill>
                  <a:srgbClr val="000099"/>
                </a:solidFill>
                <a:latin typeface="Helvetica" charset="0"/>
              </a:rPr>
              <a:t>.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course_id</a:t>
            </a:r>
            <a:endParaRPr lang="en-US" altLang="zh-CN" sz="2400" i="1" dirty="0">
              <a:solidFill>
                <a:srgbClr val="000099"/>
              </a:solidFill>
              <a:latin typeface="Helvetica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               and 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course</a:t>
            </a:r>
            <a:r>
              <a:rPr lang="en-US" altLang="zh-CN" sz="2400" dirty="0" err="1">
                <a:solidFill>
                  <a:srgbClr val="000099"/>
                </a:solidFill>
                <a:latin typeface="Helvetica" charset="0"/>
              </a:rPr>
              <a:t>.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dept_name</a:t>
            </a:r>
            <a:r>
              <a:rPr lang="en-US" altLang="zh-CN" sz="2400" i="1" dirty="0">
                <a:solidFill>
                  <a:srgbClr val="000099"/>
                </a:solidFill>
                <a:latin typeface="Helvetica" charset="0"/>
              </a:rPr>
              <a:t> 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= ’Physics’</a:t>
            </a:r>
            <a:endParaRPr lang="en-US" altLang="zh-CN" sz="2400" dirty="0">
              <a:solidFill>
                <a:srgbClr val="000099"/>
              </a:solidFill>
              <a:latin typeface="Helvetica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               and 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section</a:t>
            </a:r>
            <a:r>
              <a:rPr lang="en-US" altLang="zh-CN" sz="2400" dirty="0" err="1">
                <a:solidFill>
                  <a:srgbClr val="000099"/>
                </a:solidFill>
                <a:latin typeface="Helvetica" charset="0"/>
              </a:rPr>
              <a:t>.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semester</a:t>
            </a:r>
            <a:r>
              <a:rPr lang="en-US" altLang="zh-CN" sz="2400" i="1" dirty="0">
                <a:solidFill>
                  <a:srgbClr val="000099"/>
                </a:solidFill>
                <a:latin typeface="Helvetica" charset="0"/>
              </a:rPr>
              <a:t> 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= ’Fall’</a:t>
            </a:r>
            <a:endParaRPr lang="en-US" altLang="zh-CN" sz="2400" dirty="0">
              <a:solidFill>
                <a:srgbClr val="000099"/>
              </a:solidFill>
              <a:latin typeface="Helvetica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               and 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section</a:t>
            </a:r>
            <a:r>
              <a:rPr lang="en-US" altLang="zh-CN" sz="2400" dirty="0" err="1">
                <a:solidFill>
                  <a:srgbClr val="000099"/>
                </a:solidFill>
                <a:latin typeface="Helvetica" charset="0"/>
              </a:rPr>
              <a:t>.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year</a:t>
            </a:r>
            <a:r>
              <a:rPr lang="en-US" altLang="zh-CN" sz="2400" i="1" dirty="0">
                <a:solidFill>
                  <a:srgbClr val="000099"/>
                </a:solidFill>
                <a:latin typeface="Helvetica" charset="0"/>
              </a:rPr>
              <a:t> 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= ’2009’)</a:t>
            </a:r>
            <a:endParaRPr lang="en-US" altLang="zh-CN" sz="2400" dirty="0">
              <a:solidFill>
                <a:srgbClr val="000099"/>
              </a:solidFill>
              <a:latin typeface="Helvetica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b="1" dirty="0">
                <a:latin typeface="Helvetica" charset="0"/>
              </a:rPr>
              <a:t>where </a:t>
            </a:r>
            <a:r>
              <a:rPr lang="en-US" altLang="zh-CN" sz="2400" i="1" dirty="0">
                <a:latin typeface="Helvetica" charset="0"/>
              </a:rPr>
              <a:t>building</a:t>
            </a:r>
            <a:r>
              <a:rPr lang="en-US" altLang="zh-CN" sz="2400" dirty="0">
                <a:latin typeface="Helvetica" charset="0"/>
              </a:rPr>
              <a:t>= ’Watson’;</a:t>
            </a:r>
            <a:endParaRPr lang="en-US" altLang="zh-CN" sz="2400" dirty="0">
              <a:latin typeface="Helvetica" charset="0"/>
            </a:endParaRPr>
          </a:p>
          <a:p>
            <a:pPr>
              <a:lnSpc>
                <a:spcPts val="3200"/>
              </a:lnSpc>
            </a:pPr>
            <a:endParaRPr lang="en-US" altLang="zh-CN" sz="2400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Views Defined Using Other Views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6083" name="Rectangle 3"/>
          <p:cNvSpPr>
            <a:spLocks noGrp="1"/>
          </p:cNvSpPr>
          <p:nvPr>
            <p:ph idx="1"/>
          </p:nvPr>
        </p:nvSpPr>
        <p:spPr>
          <a:xfrm>
            <a:off x="104931" y="1106488"/>
            <a:ext cx="8934138" cy="484505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dirty="0"/>
              <a:t>One view may be used in the expression defining another view </a:t>
            </a:r>
            <a:endParaRPr lang="en-US" altLang="zh-CN" sz="2800" dirty="0"/>
          </a:p>
          <a:p>
            <a:r>
              <a:rPr lang="en-US" altLang="zh-CN" sz="2800" dirty="0"/>
              <a:t>A view relation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is said to </a:t>
            </a:r>
            <a:r>
              <a:rPr lang="en-US" altLang="zh-CN" sz="2800" i="1" dirty="0">
                <a:solidFill>
                  <a:srgbClr val="000099"/>
                </a:solidFill>
              </a:rPr>
              <a:t>depend directly</a:t>
            </a:r>
            <a:r>
              <a:rPr lang="en-US" altLang="zh-CN" sz="2800" i="1" dirty="0"/>
              <a:t> </a:t>
            </a:r>
            <a:r>
              <a:rPr lang="en-US" altLang="zh-CN" sz="2800" dirty="0"/>
              <a:t>on a view relation </a:t>
            </a:r>
            <a:r>
              <a:rPr lang="en-US" altLang="zh-CN" sz="2800" i="1" dirty="0"/>
              <a:t>v</a:t>
            </a:r>
            <a:r>
              <a:rPr lang="en-US" altLang="zh-CN" sz="2800" i="1" baseline="-25000" dirty="0"/>
              <a:t>2</a:t>
            </a:r>
            <a:r>
              <a:rPr lang="en-US" altLang="zh-CN" sz="2800" i="1" dirty="0"/>
              <a:t> </a:t>
            </a:r>
            <a:r>
              <a:rPr lang="en-US" altLang="zh-CN" sz="2800" dirty="0"/>
              <a:t> if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is used in the expression defining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1</a:t>
            </a:r>
            <a:endParaRPr lang="en-US" altLang="zh-CN" sz="2800" dirty="0"/>
          </a:p>
          <a:p>
            <a:r>
              <a:rPr lang="en-US" altLang="zh-CN" sz="2800" dirty="0"/>
              <a:t>A view relation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is said to </a:t>
            </a:r>
            <a:r>
              <a:rPr lang="en-US" altLang="zh-CN" sz="2800" i="1" dirty="0">
                <a:solidFill>
                  <a:srgbClr val="000099"/>
                </a:solidFill>
              </a:rPr>
              <a:t>depend on</a:t>
            </a:r>
            <a:r>
              <a:rPr lang="en-US" altLang="zh-CN" sz="2800" dirty="0"/>
              <a:t> view relation </a:t>
            </a:r>
            <a:r>
              <a:rPr lang="en-US" altLang="zh-CN" sz="2800" i="1" dirty="0"/>
              <a:t>v</a:t>
            </a:r>
            <a:r>
              <a:rPr lang="en-US" altLang="zh-CN" sz="2800" i="1" baseline="-25000" dirty="0"/>
              <a:t>2</a:t>
            </a:r>
            <a:r>
              <a:rPr lang="en-US" altLang="zh-CN" sz="2800" i="1" dirty="0"/>
              <a:t> </a:t>
            </a:r>
            <a:r>
              <a:rPr lang="en-US" altLang="zh-CN" sz="2800" dirty="0"/>
              <a:t>if either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1 </a:t>
            </a:r>
            <a:r>
              <a:rPr lang="en-US" altLang="zh-CN" sz="2800" dirty="0"/>
              <a:t>depends directly to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 or there is a path of dependencies from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to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r>
              <a:rPr lang="en-US" altLang="zh-CN" sz="2800" dirty="0">
                <a:solidFill>
                  <a:srgbClr val="C00000"/>
                </a:solidFill>
              </a:rPr>
              <a:t>A view relation </a:t>
            </a:r>
            <a:r>
              <a:rPr lang="en-US" altLang="zh-CN" sz="2800" i="1" dirty="0">
                <a:solidFill>
                  <a:srgbClr val="C00000"/>
                </a:solidFill>
              </a:rPr>
              <a:t>v</a:t>
            </a:r>
            <a:r>
              <a:rPr lang="en-US" altLang="zh-CN" sz="2800" dirty="0">
                <a:solidFill>
                  <a:srgbClr val="C00000"/>
                </a:solidFill>
              </a:rPr>
              <a:t> is said to be </a:t>
            </a:r>
            <a:r>
              <a:rPr lang="en-US" altLang="zh-CN" sz="2800" i="1" dirty="0">
                <a:solidFill>
                  <a:srgbClr val="C00000"/>
                </a:solidFill>
              </a:rPr>
              <a:t>recursive </a:t>
            </a:r>
            <a:r>
              <a:rPr lang="en-US" altLang="zh-CN" sz="2800" dirty="0">
                <a:solidFill>
                  <a:srgbClr val="C00000"/>
                </a:solidFill>
              </a:rPr>
              <a:t> if it depends on itself.</a:t>
            </a:r>
            <a:endParaRPr lang="en-US" altLang="zh-CN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View Expansion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>
          <a:xfrm>
            <a:off x="149902" y="1093788"/>
            <a:ext cx="8859187" cy="4903787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681355" algn="l"/>
              </a:tabLst>
            </a:pPr>
            <a:r>
              <a:rPr lang="en-US" altLang="zh-CN" sz="2400" dirty="0"/>
              <a:t>A way to define the meaning of views defined in terms of other views.</a:t>
            </a:r>
            <a:endParaRPr lang="en-US" altLang="zh-CN" sz="2400" dirty="0"/>
          </a:p>
          <a:p>
            <a:pPr defTabSz="914400">
              <a:tabLst>
                <a:tab pos="681355" algn="l"/>
              </a:tabLst>
            </a:pPr>
            <a:r>
              <a:rPr lang="en-US" altLang="zh-CN" sz="2400" dirty="0"/>
              <a:t>Let view </a:t>
            </a:r>
            <a:r>
              <a:rPr lang="en-US" altLang="zh-CN" sz="2400" i="1" dirty="0"/>
              <a:t>v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be defined by an expression </a:t>
            </a:r>
            <a:r>
              <a:rPr lang="en-US" altLang="zh-CN" sz="2400" i="1" dirty="0"/>
              <a:t>e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that may itself contain uses of view relations.</a:t>
            </a:r>
            <a:endParaRPr lang="en-US" altLang="zh-CN" sz="2400" dirty="0"/>
          </a:p>
          <a:p>
            <a:pPr defTabSz="914400">
              <a:tabLst>
                <a:tab pos="681355" algn="l"/>
              </a:tabLst>
            </a:pPr>
            <a:r>
              <a:rPr lang="en-US" altLang="zh-CN" sz="2400" dirty="0"/>
              <a:t>View expansion of an expression repeats the following replacement step:</a:t>
            </a:r>
            <a:endParaRPr lang="en-US" altLang="zh-CN" sz="2400" dirty="0"/>
          </a:p>
          <a:p>
            <a:pPr defTabSz="914400">
              <a:buNone/>
              <a:tabLst>
                <a:tab pos="681355" algn="l"/>
              </a:tabLst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000099"/>
                </a:solidFill>
              </a:rPr>
              <a:t>	</a:t>
            </a:r>
            <a:r>
              <a:rPr lang="en-US" altLang="zh-CN" sz="2400" b="1" dirty="0">
                <a:solidFill>
                  <a:srgbClr val="000099"/>
                </a:solidFill>
              </a:rPr>
              <a:t>repeat</a:t>
            </a:r>
            <a:br>
              <a:rPr lang="en-US" altLang="zh-CN" sz="2400" b="1" dirty="0">
                <a:solidFill>
                  <a:srgbClr val="000099"/>
                </a:solidFill>
              </a:rPr>
            </a:br>
            <a:r>
              <a:rPr lang="en-US" altLang="zh-CN" sz="2400" b="1" dirty="0">
                <a:solidFill>
                  <a:srgbClr val="000099"/>
                </a:solidFill>
              </a:rPr>
              <a:t>		</a:t>
            </a:r>
            <a:r>
              <a:rPr lang="en-US" altLang="zh-CN" sz="2400" dirty="0">
                <a:solidFill>
                  <a:srgbClr val="000099"/>
                </a:solidFill>
              </a:rPr>
              <a:t>Find any view relation </a:t>
            </a:r>
            <a:r>
              <a:rPr lang="en-US" altLang="zh-CN" sz="2400" i="1" dirty="0">
                <a:solidFill>
                  <a:srgbClr val="000099"/>
                </a:solidFill>
              </a:rPr>
              <a:t>v</a:t>
            </a:r>
            <a:r>
              <a:rPr lang="en-US" altLang="zh-CN" sz="2400" i="1" baseline="-25000" dirty="0">
                <a:solidFill>
                  <a:srgbClr val="000099"/>
                </a:solidFill>
              </a:rPr>
              <a:t>i</a:t>
            </a:r>
            <a:r>
              <a:rPr lang="en-US" altLang="zh-CN" sz="2400" dirty="0">
                <a:solidFill>
                  <a:srgbClr val="000099"/>
                </a:solidFill>
              </a:rPr>
              <a:t> in </a:t>
            </a:r>
            <a:r>
              <a:rPr lang="en-US" altLang="zh-CN" sz="2400" i="1" dirty="0">
                <a:solidFill>
                  <a:srgbClr val="000099"/>
                </a:solidFill>
              </a:rPr>
              <a:t>e</a:t>
            </a:r>
            <a:r>
              <a:rPr lang="en-US" altLang="zh-CN" sz="2400" baseline="-25000" dirty="0">
                <a:solidFill>
                  <a:srgbClr val="000099"/>
                </a:solidFill>
              </a:rPr>
              <a:t>1</a:t>
            </a:r>
            <a:br>
              <a:rPr lang="en-US" altLang="zh-CN" sz="2400" dirty="0">
                <a:solidFill>
                  <a:srgbClr val="000099"/>
                </a:solidFill>
              </a:rPr>
            </a:br>
            <a:r>
              <a:rPr lang="en-US" altLang="zh-CN" sz="2400" dirty="0">
                <a:solidFill>
                  <a:srgbClr val="000099"/>
                </a:solidFill>
              </a:rPr>
              <a:t>		Replace the view relation </a:t>
            </a:r>
            <a:r>
              <a:rPr lang="en-US" altLang="zh-CN" sz="2400" i="1" dirty="0">
                <a:solidFill>
                  <a:srgbClr val="000099"/>
                </a:solidFill>
              </a:rPr>
              <a:t>v</a:t>
            </a:r>
            <a:r>
              <a:rPr lang="en-US" altLang="zh-CN" sz="2400" i="1" baseline="-25000" dirty="0">
                <a:solidFill>
                  <a:srgbClr val="000099"/>
                </a:solidFill>
              </a:rPr>
              <a:t>i</a:t>
            </a:r>
            <a:r>
              <a:rPr lang="en-US" altLang="zh-CN" sz="2400" dirty="0">
                <a:solidFill>
                  <a:srgbClr val="000099"/>
                </a:solidFill>
              </a:rPr>
              <a:t> by the expression defining </a:t>
            </a:r>
            <a:r>
              <a:rPr lang="en-US" altLang="zh-CN" sz="2400" i="1" dirty="0">
                <a:solidFill>
                  <a:srgbClr val="000099"/>
                </a:solidFill>
              </a:rPr>
              <a:t>v</a:t>
            </a:r>
            <a:r>
              <a:rPr lang="en-US" altLang="zh-CN" sz="2400" i="1" baseline="-25000" dirty="0">
                <a:solidFill>
                  <a:srgbClr val="000099"/>
                </a:solidFill>
              </a:rPr>
              <a:t>i</a:t>
            </a:r>
            <a:r>
              <a:rPr lang="en-US" altLang="zh-CN" sz="2400" dirty="0">
                <a:solidFill>
                  <a:srgbClr val="000099"/>
                </a:solidFill>
              </a:rPr>
              <a:t> </a:t>
            </a:r>
            <a:br>
              <a:rPr lang="en-US" altLang="zh-CN" sz="2400" dirty="0">
                <a:solidFill>
                  <a:srgbClr val="000099"/>
                </a:solidFill>
              </a:rPr>
            </a:br>
            <a:r>
              <a:rPr lang="en-US" altLang="zh-CN" sz="2400" dirty="0">
                <a:solidFill>
                  <a:srgbClr val="000099"/>
                </a:solidFill>
              </a:rPr>
              <a:t>	</a:t>
            </a:r>
            <a:r>
              <a:rPr lang="en-US" altLang="zh-CN" sz="2400" b="1" dirty="0">
                <a:solidFill>
                  <a:srgbClr val="000099"/>
                </a:solidFill>
              </a:rPr>
              <a:t>until</a:t>
            </a:r>
            <a:r>
              <a:rPr lang="en-US" altLang="zh-CN" sz="2400" dirty="0">
                <a:solidFill>
                  <a:srgbClr val="000099"/>
                </a:solidFill>
              </a:rPr>
              <a:t> no more view relations are present in </a:t>
            </a:r>
            <a:r>
              <a:rPr lang="en-US" altLang="zh-CN" sz="2400" i="1" dirty="0">
                <a:solidFill>
                  <a:srgbClr val="000099"/>
                </a:solidFill>
              </a:rPr>
              <a:t>e</a:t>
            </a:r>
            <a:r>
              <a:rPr lang="en-US" altLang="zh-CN" sz="2400" baseline="-25000" dirty="0">
                <a:solidFill>
                  <a:srgbClr val="000099"/>
                </a:solidFill>
              </a:rPr>
              <a:t>1</a:t>
            </a:r>
            <a:endParaRPr lang="en-US" altLang="zh-CN" sz="2400" dirty="0">
              <a:solidFill>
                <a:srgbClr val="000099"/>
              </a:solidFill>
            </a:endParaRPr>
          </a:p>
          <a:p>
            <a:pPr defTabSz="914400">
              <a:tabLst>
                <a:tab pos="681355" algn="l"/>
              </a:tabLst>
            </a:pPr>
            <a:r>
              <a:rPr lang="en-US" altLang="zh-CN" sz="2400" dirty="0"/>
              <a:t>As long as the view definitions are not recursive, this loop will terminate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Update of a View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149902" y="1106488"/>
            <a:ext cx="8874177" cy="5054600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1085850" algn="l"/>
              </a:tabLst>
            </a:pPr>
            <a:r>
              <a:rPr lang="en-US" altLang="zh-CN" sz="2400" dirty="0"/>
              <a:t>Add a new tuple to </a:t>
            </a:r>
            <a:r>
              <a:rPr lang="en-US" altLang="zh-CN" sz="2400" i="1" dirty="0"/>
              <a:t>faculty </a:t>
            </a:r>
            <a:r>
              <a:rPr lang="en-US" altLang="zh-CN" sz="2400" dirty="0"/>
              <a:t>view which we defined earlier</a:t>
            </a:r>
            <a:endParaRPr lang="en-US" altLang="zh-CN" sz="2400" b="1" dirty="0"/>
          </a:p>
          <a:p>
            <a:pPr defTabSz="914400">
              <a:buNone/>
              <a:tabLst>
                <a:tab pos="1085850" algn="l"/>
              </a:tabLst>
            </a:pPr>
            <a:r>
              <a:rPr lang="en-US" altLang="zh-CN" sz="2400" dirty="0"/>
              <a:t>	    </a:t>
            </a:r>
            <a:r>
              <a:rPr lang="en-US" altLang="zh-CN" sz="2400" b="1" dirty="0"/>
              <a:t>insert into </a:t>
            </a:r>
            <a:r>
              <a:rPr lang="en-US" altLang="zh-CN" sz="2400" i="1" dirty="0">
                <a:solidFill>
                  <a:srgbClr val="000099"/>
                </a:solidFill>
              </a:rPr>
              <a:t>faculty</a:t>
            </a:r>
            <a:r>
              <a:rPr lang="en-US" altLang="zh-CN" sz="2400" i="1" dirty="0"/>
              <a:t> </a:t>
            </a:r>
            <a:r>
              <a:rPr lang="en-US" altLang="zh-CN" sz="2400" b="1" dirty="0"/>
              <a:t>values </a:t>
            </a:r>
            <a:r>
              <a:rPr lang="en-US" altLang="zh-CN" sz="2400" dirty="0"/>
              <a:t>(’30765’, ’Green’, ’Music’);</a:t>
            </a:r>
            <a:endParaRPr lang="en-US" altLang="zh-CN" sz="2400" dirty="0"/>
          </a:p>
          <a:p>
            <a:pPr defTabSz="914400">
              <a:buNone/>
              <a:tabLst>
                <a:tab pos="1085850" algn="l"/>
              </a:tabLst>
            </a:pPr>
            <a:endParaRPr lang="en-US" altLang="zh-CN" sz="2400" dirty="0"/>
          </a:p>
          <a:p>
            <a:pPr>
              <a:tabLst>
                <a:tab pos="1085850" algn="l"/>
              </a:tabLst>
            </a:pPr>
            <a:r>
              <a:rPr lang="en-US" altLang="zh-CN" sz="2400" dirty="0"/>
              <a:t>This insertion must be represented by the insertion of the tuple</a:t>
            </a:r>
            <a:endParaRPr lang="en-US" altLang="zh-CN" sz="2400" dirty="0"/>
          </a:p>
          <a:p>
            <a:pPr defTabSz="914400">
              <a:buNone/>
              <a:tabLst>
                <a:tab pos="1085850" algn="l"/>
              </a:tabLst>
            </a:pPr>
            <a:r>
              <a:rPr lang="en-US" altLang="zh-CN" sz="2400" dirty="0"/>
              <a:t>			(’30765’, ’Green’, ’Music’, null)</a:t>
            </a:r>
            <a:endParaRPr lang="en-US" altLang="zh-CN" sz="2400" dirty="0"/>
          </a:p>
          <a:p>
            <a:pPr defTabSz="914400">
              <a:buNone/>
              <a:tabLst>
                <a:tab pos="1085850" algn="l"/>
              </a:tabLst>
            </a:pPr>
            <a:r>
              <a:rPr lang="en-US" altLang="zh-CN" sz="2400" dirty="0"/>
              <a:t>	into the </a:t>
            </a:r>
            <a:r>
              <a:rPr lang="en-US" altLang="zh-CN" sz="2400" i="1" dirty="0">
                <a:solidFill>
                  <a:srgbClr val="C00000"/>
                </a:solidFill>
              </a:rPr>
              <a:t>instructor</a:t>
            </a:r>
            <a:r>
              <a:rPr lang="en-US" altLang="zh-CN" sz="2400" dirty="0"/>
              <a:t> relation</a:t>
            </a:r>
            <a:endParaRPr lang="en-US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3195320" y="4962525"/>
            <a:ext cx="4544695" cy="119888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ym typeface="+mn-ea"/>
              </a:rPr>
              <a:t> </a:t>
            </a:r>
            <a:r>
              <a:rPr lang="en-US" altLang="zh-CN" sz="2400" b="1" dirty="0">
                <a:sym typeface="+mn-ea"/>
              </a:rPr>
              <a:t>create view </a:t>
            </a:r>
            <a:r>
              <a:rPr lang="en-US" altLang="zh-CN" sz="2400" b="1" i="1" dirty="0">
                <a:solidFill>
                  <a:srgbClr val="C00000"/>
                </a:solidFill>
                <a:sym typeface="+mn-ea"/>
              </a:rPr>
              <a:t>faculty</a:t>
            </a:r>
            <a:r>
              <a:rPr lang="en-US" altLang="zh-CN" sz="2400" i="1" dirty="0">
                <a:sym typeface="+mn-ea"/>
              </a:rPr>
              <a:t> </a:t>
            </a:r>
            <a:r>
              <a:rPr lang="en-US" altLang="zh-CN" sz="2400" b="1" dirty="0">
                <a:sym typeface="+mn-ea"/>
              </a:rPr>
              <a:t>as </a:t>
            </a:r>
            <a:br>
              <a:rPr lang="en-US" altLang="zh-CN" sz="2400" b="1" dirty="0">
                <a:sym typeface="+mn-ea"/>
              </a:rPr>
            </a:br>
            <a:r>
              <a:rPr lang="en-US" altLang="zh-CN" sz="2400" b="1" dirty="0">
                <a:sym typeface="+mn-ea"/>
              </a:rPr>
              <a:t>    select </a:t>
            </a:r>
            <a:r>
              <a:rPr lang="en-US" altLang="zh-CN" sz="2400" i="1" dirty="0">
                <a:sym typeface="+mn-ea"/>
              </a:rPr>
              <a:t>ID</a:t>
            </a:r>
            <a:r>
              <a:rPr lang="en-US" altLang="zh-CN" sz="2400" dirty="0">
                <a:sym typeface="+mn-ea"/>
              </a:rPr>
              <a:t>, </a:t>
            </a:r>
            <a:r>
              <a:rPr lang="en-US" altLang="zh-CN" sz="2400" i="1" dirty="0">
                <a:sym typeface="+mn-ea"/>
              </a:rPr>
              <a:t>name</a:t>
            </a:r>
            <a:r>
              <a:rPr lang="en-US" altLang="zh-CN" sz="2400" dirty="0">
                <a:sym typeface="+mn-ea"/>
              </a:rPr>
              <a:t>, </a:t>
            </a:r>
            <a:r>
              <a:rPr lang="en-US" altLang="zh-CN" sz="2400" i="1" dirty="0" err="1">
                <a:sym typeface="+mn-ea"/>
              </a:rPr>
              <a:t>dept_name</a:t>
            </a:r>
            <a:br>
              <a:rPr lang="en-US" altLang="zh-CN" sz="2400" i="1" dirty="0">
                <a:sym typeface="+mn-ea"/>
              </a:rPr>
            </a:br>
            <a:r>
              <a:rPr lang="en-US" altLang="zh-CN" sz="2400" i="1" dirty="0">
                <a:sym typeface="+mn-ea"/>
              </a:rPr>
              <a:t>    </a:t>
            </a:r>
            <a:r>
              <a:rPr lang="en-US" altLang="zh-CN" sz="2400" b="1" dirty="0">
                <a:sym typeface="+mn-ea"/>
              </a:rPr>
              <a:t>from </a:t>
            </a:r>
            <a:r>
              <a:rPr lang="en-US" altLang="zh-CN" sz="2400" i="1" dirty="0">
                <a:sym typeface="+mn-ea"/>
              </a:rPr>
              <a:t>instructor</a:t>
            </a:r>
            <a:endParaRPr lang="zh-CN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Some Updates cannot be Translated Uniquely</a:t>
            </a:r>
            <a:endParaRPr kumimoji="1" 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59960" y="850043"/>
            <a:ext cx="8979109" cy="5770562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/>
              <a:t> </a:t>
            </a:r>
            <a:r>
              <a:rPr lang="en-US" altLang="zh-CN" sz="2400" b="1" dirty="0"/>
              <a:t>create view </a:t>
            </a:r>
            <a:r>
              <a:rPr lang="en-US" altLang="zh-CN" sz="2400" i="1" dirty="0" err="1"/>
              <a:t>instructor_info</a:t>
            </a:r>
            <a:r>
              <a:rPr lang="en-US" altLang="zh-CN" sz="2400" i="1" dirty="0"/>
              <a:t> </a:t>
            </a:r>
            <a:r>
              <a:rPr lang="en-US" altLang="zh-CN" sz="2400" b="1" dirty="0"/>
              <a:t>as</a:t>
            </a:r>
            <a:br>
              <a:rPr lang="en-US" altLang="zh-CN" sz="2400" b="1" dirty="0"/>
            </a:br>
            <a:r>
              <a:rPr lang="en-US" altLang="zh-CN" sz="2400" b="1" dirty="0"/>
              <a:t>      select </a:t>
            </a:r>
            <a:r>
              <a:rPr lang="en-US" altLang="zh-CN" sz="2400" i="1" dirty="0"/>
              <a:t>ID</a:t>
            </a:r>
            <a:r>
              <a:rPr lang="en-US" altLang="zh-CN" sz="2400" dirty="0"/>
              <a:t>, </a:t>
            </a:r>
            <a:r>
              <a:rPr lang="en-US" altLang="zh-CN" sz="2400" i="1" dirty="0"/>
              <a:t>name</a:t>
            </a:r>
            <a:r>
              <a:rPr lang="en-US" altLang="zh-CN" sz="2400" dirty="0"/>
              <a:t>, </a:t>
            </a:r>
            <a:r>
              <a:rPr lang="en-US" altLang="zh-CN" sz="2400" i="1" dirty="0"/>
              <a:t>building</a:t>
            </a:r>
            <a:br>
              <a:rPr lang="en-US" altLang="zh-CN" sz="2400" i="1" dirty="0"/>
            </a:br>
            <a:r>
              <a:rPr lang="en-US" altLang="zh-CN" sz="2400" i="1" dirty="0"/>
              <a:t>       </a:t>
            </a:r>
            <a:r>
              <a:rPr lang="en-US" altLang="zh-CN" sz="2400" b="1" dirty="0"/>
              <a:t>from </a:t>
            </a:r>
            <a:r>
              <a:rPr lang="en-US" altLang="zh-CN" sz="2400" i="1" dirty="0">
                <a:solidFill>
                  <a:srgbClr val="C00000"/>
                </a:solidFill>
              </a:rPr>
              <a:t>instructor</a:t>
            </a:r>
            <a:r>
              <a:rPr lang="en-US" altLang="zh-CN" sz="2400" dirty="0">
                <a:solidFill>
                  <a:srgbClr val="C00000"/>
                </a:solidFill>
              </a:rPr>
              <a:t>, </a:t>
            </a:r>
            <a:r>
              <a:rPr lang="en-US" altLang="zh-CN" sz="2400" i="1" dirty="0">
                <a:solidFill>
                  <a:srgbClr val="C00000"/>
                </a:solidFill>
              </a:rPr>
              <a:t>department</a:t>
            </a:r>
            <a:br>
              <a:rPr lang="en-US" altLang="zh-CN" sz="2400" i="1" dirty="0"/>
            </a:br>
            <a:r>
              <a:rPr lang="en-US" altLang="zh-CN" sz="2400" i="1" dirty="0"/>
              <a:t>       </a:t>
            </a:r>
            <a:r>
              <a:rPr lang="en-US" altLang="zh-CN" sz="2400" b="1" dirty="0"/>
              <a:t>where </a:t>
            </a:r>
            <a:r>
              <a:rPr lang="en-US" altLang="zh-CN" sz="2400" i="1" dirty="0" err="1"/>
              <a:t>instructor</a:t>
            </a:r>
            <a:r>
              <a:rPr lang="en-US" altLang="zh-CN" sz="2400" dirty="0" err="1"/>
              <a:t>.</a:t>
            </a:r>
            <a:r>
              <a:rPr lang="en-US" altLang="zh-CN" sz="2400" i="1" dirty="0" err="1"/>
              <a:t>dept_name</a:t>
            </a:r>
            <a:r>
              <a:rPr lang="en-US" altLang="zh-CN" sz="2400" dirty="0"/>
              <a:t>= </a:t>
            </a:r>
            <a:r>
              <a:rPr lang="en-US" altLang="zh-CN" sz="2400" i="1" dirty="0" err="1"/>
              <a:t>department</a:t>
            </a:r>
            <a:r>
              <a:rPr lang="en-US" altLang="zh-CN" sz="2400" dirty="0" err="1"/>
              <a:t>.</a:t>
            </a:r>
            <a:r>
              <a:rPr lang="en-US" altLang="zh-CN" sz="2400" i="1" dirty="0" err="1"/>
              <a:t>dept_name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r>
              <a:rPr lang="en-US" altLang="zh-CN" sz="2400" b="1" dirty="0">
                <a:sym typeface="Symbol" panose="05050102010706020507" pitchFamily="18" charset="2"/>
              </a:rPr>
              <a:t>insert into </a:t>
            </a:r>
            <a:r>
              <a:rPr lang="en-US" altLang="zh-CN" sz="2400" i="1" dirty="0" err="1">
                <a:sym typeface="Symbol" panose="05050102010706020507" pitchFamily="18" charset="2"/>
              </a:rPr>
              <a:t>instructor_info</a:t>
            </a:r>
            <a:r>
              <a:rPr lang="en-US" altLang="zh-CN" sz="2400" i="1" dirty="0"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values </a:t>
            </a:r>
            <a:r>
              <a:rPr lang="en-US" altLang="zh-CN" sz="2400" dirty="0">
                <a:sym typeface="Symbol" panose="05050102010706020507" pitchFamily="18" charset="2"/>
              </a:rPr>
              <a:t>(’69987’, ’White’, ’Taylor’);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2"/>
            <a:r>
              <a:rPr lang="en-US" altLang="zh-CN" sz="2000" dirty="0"/>
              <a:t>which department, if multiple departments in Taylor?</a:t>
            </a:r>
            <a:endParaRPr lang="en-US" altLang="zh-CN" sz="2000" dirty="0"/>
          </a:p>
          <a:p>
            <a:pPr lvl="2"/>
            <a:r>
              <a:rPr lang="en-US" altLang="zh-CN" sz="2000" dirty="0"/>
              <a:t>what if no department is in Taylor?</a:t>
            </a:r>
            <a:endParaRPr lang="en-US" altLang="zh-CN" sz="2000" b="1" dirty="0"/>
          </a:p>
          <a:p>
            <a:r>
              <a:rPr lang="en-US" altLang="zh-CN" sz="2400" dirty="0"/>
              <a:t>Most SQL implementations allow updates only on simple views </a:t>
            </a:r>
            <a:endParaRPr lang="en-US" altLang="zh-CN" sz="2400" dirty="0"/>
          </a:p>
          <a:p>
            <a:pPr lvl="1"/>
            <a:r>
              <a:rPr lang="en-US" altLang="zh-CN" sz="2000" dirty="0">
                <a:solidFill>
                  <a:srgbClr val="000099"/>
                </a:solidFill>
              </a:rPr>
              <a:t>The </a:t>
            </a:r>
            <a:r>
              <a:rPr lang="en-US" altLang="zh-CN" sz="2000" b="1" dirty="0">
                <a:solidFill>
                  <a:srgbClr val="000099"/>
                </a:solidFill>
              </a:rPr>
              <a:t>from </a:t>
            </a:r>
            <a:r>
              <a:rPr lang="en-US" altLang="zh-CN" sz="2000" dirty="0">
                <a:solidFill>
                  <a:srgbClr val="000099"/>
                </a:solidFill>
              </a:rPr>
              <a:t>clause has only one database relation.</a:t>
            </a:r>
            <a:endParaRPr lang="en-US" altLang="zh-CN" sz="2000" dirty="0">
              <a:solidFill>
                <a:srgbClr val="000099"/>
              </a:solidFill>
            </a:endParaRPr>
          </a:p>
          <a:p>
            <a:pPr lvl="1"/>
            <a:r>
              <a:rPr lang="en-US" altLang="zh-CN" sz="2000" dirty="0">
                <a:solidFill>
                  <a:srgbClr val="000099"/>
                </a:solidFill>
              </a:rPr>
              <a:t>The </a:t>
            </a:r>
            <a:r>
              <a:rPr lang="en-US" altLang="zh-CN" sz="2000" b="1" dirty="0">
                <a:solidFill>
                  <a:srgbClr val="000099"/>
                </a:solidFill>
              </a:rPr>
              <a:t>select </a:t>
            </a:r>
            <a:r>
              <a:rPr lang="en-US" altLang="zh-CN" sz="2000" dirty="0">
                <a:solidFill>
                  <a:srgbClr val="000099"/>
                </a:solidFill>
              </a:rPr>
              <a:t>clause contains only attribute names of the relation, and does not have any expressions, aggregates, or </a:t>
            </a:r>
            <a:r>
              <a:rPr lang="en-US" altLang="zh-CN" sz="2000" b="1" dirty="0">
                <a:solidFill>
                  <a:srgbClr val="000099"/>
                </a:solidFill>
              </a:rPr>
              <a:t>distinct </a:t>
            </a:r>
            <a:r>
              <a:rPr lang="en-US" altLang="zh-CN" sz="2000" dirty="0">
                <a:solidFill>
                  <a:srgbClr val="000099"/>
                </a:solidFill>
              </a:rPr>
              <a:t>specification.</a:t>
            </a:r>
            <a:endParaRPr lang="en-US" altLang="zh-CN" sz="2000" dirty="0">
              <a:solidFill>
                <a:srgbClr val="000099"/>
              </a:solidFill>
            </a:endParaRPr>
          </a:p>
          <a:p>
            <a:pPr lvl="1"/>
            <a:r>
              <a:rPr lang="en-US" altLang="zh-CN" sz="2000" dirty="0">
                <a:solidFill>
                  <a:srgbClr val="000099"/>
                </a:solidFill>
              </a:rPr>
              <a:t>Any attribute not listed in the </a:t>
            </a:r>
            <a:r>
              <a:rPr lang="en-US" altLang="zh-CN" sz="2000" b="1" dirty="0">
                <a:solidFill>
                  <a:srgbClr val="000099"/>
                </a:solidFill>
              </a:rPr>
              <a:t>select </a:t>
            </a:r>
            <a:r>
              <a:rPr lang="en-US" altLang="zh-CN" sz="2000" dirty="0">
                <a:solidFill>
                  <a:srgbClr val="000099"/>
                </a:solidFill>
              </a:rPr>
              <a:t>clause can be set to null</a:t>
            </a:r>
            <a:endParaRPr lang="en-US" altLang="zh-CN" sz="2000" dirty="0">
              <a:solidFill>
                <a:srgbClr val="000099"/>
              </a:solidFill>
            </a:endParaRPr>
          </a:p>
          <a:p>
            <a:pPr lvl="1"/>
            <a:r>
              <a:rPr lang="en-US" altLang="zh-CN" sz="2000" dirty="0">
                <a:solidFill>
                  <a:srgbClr val="000099"/>
                </a:solidFill>
              </a:rPr>
              <a:t>The query does not have a </a:t>
            </a:r>
            <a:r>
              <a:rPr lang="en-US" altLang="zh-CN" sz="2000" b="1" dirty="0">
                <a:solidFill>
                  <a:srgbClr val="000099"/>
                </a:solidFill>
              </a:rPr>
              <a:t>group </a:t>
            </a:r>
            <a:r>
              <a:rPr lang="en-US" altLang="zh-CN" sz="2000" dirty="0">
                <a:solidFill>
                  <a:srgbClr val="000099"/>
                </a:solidFill>
              </a:rPr>
              <a:t>by or </a:t>
            </a:r>
            <a:r>
              <a:rPr lang="en-US" altLang="zh-CN" sz="2000" b="1" dirty="0">
                <a:solidFill>
                  <a:srgbClr val="000099"/>
                </a:solidFill>
              </a:rPr>
              <a:t>having </a:t>
            </a:r>
            <a:r>
              <a:rPr lang="en-US" altLang="zh-CN" sz="2000" dirty="0">
                <a:solidFill>
                  <a:srgbClr val="000099"/>
                </a:solidFill>
              </a:rPr>
              <a:t>clause.</a:t>
            </a:r>
            <a:endParaRPr lang="en-US" altLang="zh-CN" sz="2000" dirty="0">
              <a:solidFill>
                <a:srgbClr val="000099"/>
              </a:solidFill>
            </a:endParaRPr>
          </a:p>
          <a:p>
            <a:pPr lvl="1"/>
            <a:endParaRPr lang="en-US" altLang="zh-CN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And Some Not at All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398464" y="1093788"/>
            <a:ext cx="8447086" cy="4903787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b="1" dirty="0"/>
              <a:t>create view </a:t>
            </a:r>
            <a:r>
              <a:rPr lang="en-US" altLang="zh-CN" sz="2800" i="1" dirty="0" err="1"/>
              <a:t>history_instructors</a:t>
            </a:r>
            <a:r>
              <a:rPr lang="en-US" altLang="zh-CN" sz="2800" i="1" dirty="0"/>
              <a:t> </a:t>
            </a:r>
            <a:r>
              <a:rPr lang="en-US" altLang="zh-CN" sz="2800" b="1" dirty="0"/>
              <a:t>as</a:t>
            </a:r>
            <a:br>
              <a:rPr lang="en-US" altLang="zh-CN" sz="2800" b="1" dirty="0"/>
            </a:br>
            <a:r>
              <a:rPr lang="en-US" altLang="zh-CN" sz="2800" b="1" dirty="0"/>
              <a:t>   select </a:t>
            </a:r>
            <a:r>
              <a:rPr lang="en-US" altLang="zh-CN" sz="2800" dirty="0"/>
              <a:t>*</a:t>
            </a:r>
            <a:br>
              <a:rPr lang="en-US" altLang="zh-CN" sz="2800" dirty="0"/>
            </a:br>
            <a:r>
              <a:rPr lang="en-US" altLang="zh-CN" sz="2800" dirty="0"/>
              <a:t>   </a:t>
            </a:r>
            <a:r>
              <a:rPr lang="en-US" altLang="zh-CN" sz="2800" b="1" dirty="0"/>
              <a:t>from </a:t>
            </a:r>
            <a:r>
              <a:rPr lang="en-US" altLang="zh-CN" sz="2800" i="1" dirty="0"/>
              <a:t>instructor</a:t>
            </a:r>
            <a:br>
              <a:rPr lang="en-US" altLang="zh-CN" sz="2800" i="1" dirty="0"/>
            </a:br>
            <a:r>
              <a:rPr lang="en-US" altLang="zh-CN" sz="2800" i="1" dirty="0"/>
              <a:t>   </a:t>
            </a:r>
            <a:r>
              <a:rPr lang="en-US" altLang="zh-CN" sz="2800" b="1" dirty="0"/>
              <a:t>where </a:t>
            </a:r>
            <a:r>
              <a:rPr lang="en-US" altLang="zh-CN" sz="2800" i="1" dirty="0" err="1"/>
              <a:t>dept_name</a:t>
            </a:r>
            <a:r>
              <a:rPr lang="en-US" altLang="zh-CN" sz="2800" dirty="0"/>
              <a:t>= ’History’;</a:t>
            </a:r>
            <a:endParaRPr lang="en-US" altLang="zh-CN" sz="2800" dirty="0"/>
          </a:p>
          <a:p>
            <a:r>
              <a:rPr lang="en-US" altLang="zh-CN" sz="2800" dirty="0">
                <a:solidFill>
                  <a:srgbClr val="C00000"/>
                </a:solidFill>
              </a:rPr>
              <a:t>What happens if we insert (’25566’, ’Brown’, ’Biology’, 100000) into </a:t>
            </a:r>
            <a:r>
              <a:rPr lang="en-US" altLang="zh-CN" sz="2800" i="1" dirty="0" err="1">
                <a:solidFill>
                  <a:srgbClr val="C00000"/>
                </a:solidFill>
              </a:rPr>
              <a:t>history_instructors</a:t>
            </a:r>
            <a:r>
              <a:rPr lang="en-US" altLang="zh-CN" sz="2800" i="1" dirty="0">
                <a:solidFill>
                  <a:srgbClr val="C00000"/>
                </a:solidFill>
              </a:rPr>
              <a:t>?</a:t>
            </a:r>
            <a:endParaRPr lang="en-US" altLang="zh-CN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标题 10956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/>
              </a:rPr>
              <a:t>Materialized Views</a:t>
            </a:r>
            <a:endParaRPr lang="en-US" altLang="zh-CN">
              <a:effectLst/>
            </a:endParaRPr>
          </a:p>
        </p:txBody>
      </p:sp>
      <p:sp>
        <p:nvSpPr>
          <p:cNvPr id="109571" name="文本占位符 109570"/>
          <p:cNvSpPr>
            <a:spLocks noGrp="1"/>
          </p:cNvSpPr>
          <p:nvPr>
            <p:ph type="body" idx="1"/>
          </p:nvPr>
        </p:nvSpPr>
        <p:spPr>
          <a:xfrm>
            <a:off x="134911" y="1093788"/>
            <a:ext cx="8874177" cy="5202081"/>
          </a:xfrm>
        </p:spPr>
        <p:txBody>
          <a:bodyPr/>
          <a:lstStyle/>
          <a:p>
            <a:r>
              <a:rPr lang="en-US" altLang="zh-CN" sz="2400" b="1" dirty="0">
                <a:solidFill>
                  <a:srgbClr val="000099"/>
                </a:solidFill>
              </a:rPr>
              <a:t>Materializing a view</a:t>
            </a:r>
            <a:r>
              <a:rPr lang="en-US" altLang="zh-CN" sz="2400" dirty="0"/>
              <a:t>: create a physical table containing all the tuples in the result of the query defining the view</a:t>
            </a:r>
            <a:endParaRPr lang="en-US" altLang="zh-CN" sz="2400" dirty="0"/>
          </a:p>
          <a:p>
            <a:r>
              <a:rPr lang="en-US" altLang="zh-CN" sz="2400" dirty="0"/>
              <a:t>If relations used in the query are updated, the materialized view result becomes out of date</a:t>
            </a:r>
            <a:endParaRPr lang="en-US" altLang="zh-CN" sz="2400" dirty="0"/>
          </a:p>
          <a:p>
            <a:pPr lvl="1"/>
            <a:r>
              <a:rPr lang="en-US" altLang="zh-CN" sz="2400" dirty="0"/>
              <a:t>Need to </a:t>
            </a:r>
            <a:r>
              <a:rPr lang="en-US" altLang="zh-CN" sz="2400" b="1" dirty="0">
                <a:solidFill>
                  <a:srgbClr val="000099"/>
                </a:solidFill>
              </a:rPr>
              <a:t>maintain</a:t>
            </a:r>
            <a:r>
              <a:rPr lang="en-US" altLang="zh-CN" sz="2400" dirty="0"/>
              <a:t> the view, by updating the view whenever the underlying relations are updated.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视图是一种“虚关系”，实际查询时需要根据定义查询底层关系，当存在大量这样的查询时会有较高的成本。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某些数据库支持</a:t>
            </a:r>
            <a:r>
              <a:rPr lang="zh-CN" altLang="en-US" sz="2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物化</a:t>
            </a:r>
            <a:r>
              <a:rPr lang="zh-CN" altLang="zh-CN" sz="2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视图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，像存储表一样将创建的视图关系</a:t>
            </a:r>
            <a:r>
              <a:rPr lang="zh-CN" altLang="en-US" sz="2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“物化”存储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在数据库中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。 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物化视图的创建、修改与删除语法同视图类似，区别是多了关键字 </a:t>
            </a:r>
            <a:r>
              <a:rPr lang="en-US" altLang="zh-CN" sz="2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MATERIALIZED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。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标题 5529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/>
              </a:rPr>
              <a:t>Transactions</a:t>
            </a:r>
            <a:endParaRPr lang="en-US" altLang="zh-CN">
              <a:effectLst/>
            </a:endParaRPr>
          </a:p>
        </p:txBody>
      </p:sp>
      <p:sp>
        <p:nvSpPr>
          <p:cNvPr id="55301" name="文本占位符 55300"/>
          <p:cNvSpPr>
            <a:spLocks noGrp="1"/>
          </p:cNvSpPr>
          <p:nvPr>
            <p:ph type="body" idx="1"/>
          </p:nvPr>
        </p:nvSpPr>
        <p:spPr>
          <a:xfrm>
            <a:off x="164892" y="1093788"/>
            <a:ext cx="8979108" cy="5276850"/>
          </a:xfrm>
        </p:spPr>
        <p:txBody>
          <a:bodyPr/>
          <a:lstStyle/>
          <a:p>
            <a:r>
              <a:rPr lang="en-US" altLang="zh-CN" sz="2400" dirty="0"/>
              <a:t>Unit of work</a:t>
            </a:r>
            <a:endParaRPr lang="en-US" altLang="zh-CN" sz="2400" dirty="0"/>
          </a:p>
          <a:p>
            <a:r>
              <a:rPr lang="en-US" altLang="zh-CN" sz="2400" dirty="0"/>
              <a:t>Atomic transaction</a:t>
            </a:r>
            <a:endParaRPr lang="en-US" altLang="zh-CN" sz="2400" dirty="0"/>
          </a:p>
          <a:p>
            <a:pPr lvl="1"/>
            <a:r>
              <a:rPr lang="en-US" altLang="zh-CN" sz="2400" dirty="0"/>
              <a:t>either fully executed or rolled back as if it never occurred</a:t>
            </a:r>
            <a:endParaRPr lang="en-US" altLang="zh-CN" sz="2400" dirty="0"/>
          </a:p>
          <a:p>
            <a:r>
              <a:rPr lang="en-US" altLang="zh-CN" sz="2400" dirty="0"/>
              <a:t>Isolation from concurrent transactions</a:t>
            </a:r>
            <a:endParaRPr lang="en-US" altLang="zh-CN" sz="2400" dirty="0"/>
          </a:p>
          <a:p>
            <a:r>
              <a:rPr lang="en-US" altLang="zh-CN" sz="2400" dirty="0"/>
              <a:t>Transactions begin implicitly</a:t>
            </a:r>
            <a:endParaRPr lang="en-US" altLang="zh-CN" sz="2400" dirty="0"/>
          </a:p>
          <a:p>
            <a:pPr lvl="1"/>
            <a:r>
              <a:rPr lang="en-US" altLang="zh-CN" sz="2400" dirty="0"/>
              <a:t>Ended by </a:t>
            </a:r>
            <a:r>
              <a:rPr lang="en-US" altLang="zh-CN" sz="2400" b="1" dirty="0"/>
              <a:t>commit</a:t>
            </a:r>
            <a:r>
              <a:rPr lang="en-US" altLang="zh-CN" sz="2400" dirty="0"/>
              <a:t> </a:t>
            </a:r>
            <a:r>
              <a:rPr lang="en-US" altLang="zh-CN" sz="2400" b="1" dirty="0"/>
              <a:t>work</a:t>
            </a:r>
            <a:r>
              <a:rPr lang="en-US" altLang="zh-CN" sz="2400" dirty="0"/>
              <a:t> or </a:t>
            </a:r>
            <a:r>
              <a:rPr lang="en-US" altLang="zh-CN" sz="2400" b="1" dirty="0"/>
              <a:t>rollback</a:t>
            </a:r>
            <a:r>
              <a:rPr lang="en-US" altLang="zh-CN" sz="2400" dirty="0"/>
              <a:t> </a:t>
            </a:r>
            <a:r>
              <a:rPr lang="en-US" altLang="zh-CN" sz="2400" b="1" dirty="0"/>
              <a:t>work</a:t>
            </a:r>
            <a:endParaRPr lang="en-US" altLang="zh-CN" sz="2400" b="1" dirty="0"/>
          </a:p>
          <a:p>
            <a:r>
              <a:rPr lang="en-US" altLang="zh-CN" sz="2400" dirty="0"/>
              <a:t>But default on most databases: each SQL statement commits automatically</a:t>
            </a:r>
            <a:endParaRPr lang="en-US" altLang="zh-CN" sz="2400" dirty="0"/>
          </a:p>
          <a:p>
            <a:pPr lvl="1"/>
            <a:r>
              <a:rPr lang="en-US" altLang="zh-CN" sz="2400" dirty="0"/>
              <a:t>Can turn off auto commit for a session (e.g. using API)</a:t>
            </a:r>
            <a:endParaRPr lang="en-US" altLang="zh-CN" sz="2400" dirty="0"/>
          </a:p>
          <a:p>
            <a:pPr lvl="1"/>
            <a:r>
              <a:rPr lang="en-US" altLang="zh-CN" sz="2400" dirty="0"/>
              <a:t>In SQL:1999, can use:  </a:t>
            </a:r>
            <a:r>
              <a:rPr lang="en-US" altLang="zh-CN" sz="2400" b="1" dirty="0"/>
              <a:t>begin</a:t>
            </a:r>
            <a:r>
              <a:rPr lang="en-US" altLang="zh-CN" sz="2400" dirty="0"/>
              <a:t> </a:t>
            </a:r>
            <a:r>
              <a:rPr lang="en-US" altLang="zh-CN" sz="2400" b="1" dirty="0"/>
              <a:t>atomic</a:t>
            </a:r>
            <a:r>
              <a:rPr lang="en-US" altLang="zh-CN" sz="2400" dirty="0"/>
              <a:t>  ….  </a:t>
            </a:r>
            <a:r>
              <a:rPr lang="en-US" altLang="zh-CN" sz="2400" b="1" dirty="0"/>
              <a:t>end</a:t>
            </a:r>
            <a:endParaRPr lang="en-US" altLang="zh-CN" sz="2400" b="1" dirty="0"/>
          </a:p>
          <a:p>
            <a:pPr lvl="2"/>
            <a:r>
              <a:rPr lang="en-US" altLang="zh-CN" sz="2400" dirty="0"/>
              <a:t>Not supported on most databases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Integrity Constraints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74950" y="1135063"/>
            <a:ext cx="8949129" cy="50927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dirty="0"/>
              <a:t>Integrity constraints guard against accidental damage to the database, by ensuring that authorized changes to the database do not result in a loss of data consistency. </a:t>
            </a:r>
            <a:endParaRPr lang="en-US" altLang="zh-CN" sz="2800" dirty="0"/>
          </a:p>
          <a:p>
            <a:pPr lvl="1"/>
            <a:r>
              <a:rPr lang="en-US" altLang="zh-CN" sz="2800" dirty="0"/>
              <a:t>A checking account must have a balance greater than $10,000.00</a:t>
            </a:r>
            <a:endParaRPr lang="en-US" altLang="zh-CN" sz="2800" dirty="0"/>
          </a:p>
          <a:p>
            <a:pPr lvl="1"/>
            <a:r>
              <a:rPr lang="en-US" altLang="zh-CN" sz="2800" dirty="0"/>
              <a:t>A salary of a bank employee must be at least $4.00 an hour</a:t>
            </a:r>
            <a:endParaRPr lang="en-US" altLang="zh-CN" sz="2800" dirty="0"/>
          </a:p>
          <a:p>
            <a:pPr lvl="1"/>
            <a:r>
              <a:rPr lang="en-US" altLang="zh-CN" sz="2800" dirty="0"/>
              <a:t>A customer must have a (non-null) phone number</a:t>
            </a:r>
            <a:endParaRPr lang="en-US" altLang="zh-CN" sz="2800" dirty="0"/>
          </a:p>
          <a:p>
            <a:pPr lvl="1"/>
            <a:endParaRPr lang="en-US" altLang="zh-CN" sz="2800" dirty="0"/>
          </a:p>
          <a:p>
            <a:endParaRPr lang="en-US" altLang="zh-CN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09538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2800">
                <a:effectLst>
                  <a:outerShdw blurRad="38100" dist="38100" dir="2700000">
                    <a:srgbClr val="C0C0C0"/>
                  </a:outerShdw>
                </a:effectLst>
              </a:rPr>
              <a:t> Integrity Constraints on a Single Relation</a:t>
            </a:r>
            <a:r>
              <a:rPr lang="en-US" altLang="zh-CN">
                <a:effectLst>
                  <a:outerShdw blurRad="38100" dist="38100" dir="2700000">
                    <a:srgbClr val="C0C0C0"/>
                  </a:outerShdw>
                </a:effectLst>
              </a:rPr>
              <a:t> </a:t>
            </a:r>
            <a:endParaRPr lang="en-US" altLang="zh-CN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58371" name="Rectangle 3"/>
          <p:cNvSpPr>
            <a:spLocks noGrp="1"/>
          </p:cNvSpPr>
          <p:nvPr>
            <p:ph idx="1"/>
          </p:nvPr>
        </p:nvSpPr>
        <p:spPr>
          <a:xfrm>
            <a:off x="841375" y="1177925"/>
            <a:ext cx="7573963" cy="2640013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b="1" dirty="0"/>
              <a:t>not null</a:t>
            </a:r>
            <a:endParaRPr lang="en-US" altLang="zh-CN" sz="2800" b="1" dirty="0"/>
          </a:p>
          <a:p>
            <a:r>
              <a:rPr lang="en-US" altLang="zh-CN" sz="2800" b="1" dirty="0"/>
              <a:t>primary key</a:t>
            </a:r>
            <a:endParaRPr lang="en-US" altLang="zh-CN" sz="2800" b="1" dirty="0"/>
          </a:p>
          <a:p>
            <a:r>
              <a:rPr lang="en-US" altLang="zh-CN" sz="2800" b="1" dirty="0"/>
              <a:t>unique</a:t>
            </a:r>
            <a:endParaRPr lang="en-US" altLang="zh-CN" sz="2800" dirty="0"/>
          </a:p>
          <a:p>
            <a:r>
              <a:rPr lang="en-US" altLang="zh-CN" sz="2800" b="1" dirty="0"/>
              <a:t>check </a:t>
            </a:r>
            <a:r>
              <a:rPr lang="en-US" altLang="zh-CN" sz="2800" dirty="0"/>
              <a:t>(P), where P is a predicate</a:t>
            </a:r>
            <a:endParaRPr lang="en-US" altLang="zh-CN" sz="2800" dirty="0"/>
          </a:p>
        </p:txBody>
      </p:sp>
      <p:sp>
        <p:nvSpPr>
          <p:cNvPr id="58372" name="Rectangle 4"/>
          <p:cNvSpPr/>
          <p:nvPr/>
        </p:nvSpPr>
        <p:spPr>
          <a:xfrm>
            <a:off x="804863" y="5229225"/>
            <a:ext cx="680085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charset="2"/>
            </a:pPr>
            <a:endParaRPr sz="2000" b="1">
              <a:latin typeface="Helvetica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952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Not Null and Unique Constraints 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xfrm>
            <a:off x="89941" y="1135063"/>
            <a:ext cx="9009089" cy="5265737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b="1" dirty="0">
                <a:solidFill>
                  <a:srgbClr val="000099"/>
                </a:solidFill>
              </a:rPr>
              <a:t>not null</a:t>
            </a:r>
            <a:endParaRPr lang="en-US" altLang="zh-CN" sz="2800" b="1" dirty="0">
              <a:solidFill>
                <a:srgbClr val="000099"/>
              </a:solidFill>
            </a:endParaRPr>
          </a:p>
          <a:p>
            <a:pPr lvl="1"/>
            <a:r>
              <a:rPr lang="en-US" altLang="zh-CN" sz="2800" dirty="0"/>
              <a:t>Declare </a:t>
            </a:r>
            <a:r>
              <a:rPr lang="en-US" altLang="zh-CN" sz="2800" i="1" dirty="0"/>
              <a:t>name</a:t>
            </a:r>
            <a:r>
              <a:rPr lang="en-US" altLang="zh-CN" sz="2800" dirty="0"/>
              <a:t> and </a:t>
            </a:r>
            <a:r>
              <a:rPr lang="en-US" altLang="zh-CN" sz="2800" i="1" dirty="0"/>
              <a:t>budget</a:t>
            </a:r>
            <a:r>
              <a:rPr lang="en-US" altLang="zh-CN" sz="2800" dirty="0"/>
              <a:t> to be </a:t>
            </a:r>
            <a:r>
              <a:rPr lang="en-US" altLang="zh-CN" sz="2800" b="1" dirty="0"/>
              <a:t>not null</a:t>
            </a:r>
            <a:endParaRPr lang="en-US" altLang="zh-CN" sz="2800" b="1" dirty="0"/>
          </a:p>
          <a:p>
            <a:pPr>
              <a:buNone/>
            </a:pPr>
            <a:r>
              <a:rPr lang="en-US" altLang="zh-CN" sz="2800" i="1" dirty="0"/>
              <a:t>	          name </a:t>
            </a:r>
            <a:r>
              <a:rPr lang="en-US" altLang="zh-CN" sz="2800" b="1" dirty="0"/>
              <a:t>varchar</a:t>
            </a:r>
            <a:r>
              <a:rPr lang="en-US" altLang="zh-CN" sz="2800" dirty="0"/>
              <a:t>(20) </a:t>
            </a:r>
            <a:r>
              <a:rPr lang="en-US" altLang="zh-CN" sz="2800" b="1" dirty="0"/>
              <a:t>not null</a:t>
            </a:r>
            <a:br>
              <a:rPr lang="en-US" altLang="zh-CN" sz="2800" b="1" dirty="0"/>
            </a:br>
            <a:r>
              <a:rPr lang="en-US" altLang="zh-CN" sz="2800" b="1" dirty="0"/>
              <a:t>          </a:t>
            </a:r>
            <a:r>
              <a:rPr lang="en-US" altLang="zh-CN" sz="2800" i="1" dirty="0"/>
              <a:t>budget </a:t>
            </a:r>
            <a:r>
              <a:rPr lang="en-US" altLang="zh-CN" sz="2800" b="1" dirty="0"/>
              <a:t>numeric</a:t>
            </a:r>
            <a:r>
              <a:rPr lang="en-US" altLang="zh-CN" sz="2800" dirty="0"/>
              <a:t>(12,2) </a:t>
            </a:r>
            <a:r>
              <a:rPr lang="en-US" altLang="zh-CN" sz="2800" b="1" dirty="0"/>
              <a:t>not null</a:t>
            </a:r>
            <a:endParaRPr lang="en-US" altLang="zh-CN" sz="2800" b="1" dirty="0"/>
          </a:p>
          <a:p>
            <a:r>
              <a:rPr lang="en-US" altLang="zh-CN" sz="2800" b="1" dirty="0">
                <a:solidFill>
                  <a:srgbClr val="000099"/>
                </a:solidFill>
              </a:rPr>
              <a:t>unique</a:t>
            </a:r>
            <a:r>
              <a:rPr lang="en-US" altLang="zh-CN" sz="2800" dirty="0">
                <a:solidFill>
                  <a:srgbClr val="000099"/>
                </a:solidFill>
              </a:rPr>
              <a:t> ( </a:t>
            </a:r>
            <a:r>
              <a:rPr lang="en-US" altLang="zh-CN" sz="2800" i="1" dirty="0">
                <a:solidFill>
                  <a:srgbClr val="000099"/>
                </a:solidFill>
              </a:rPr>
              <a:t>A</a:t>
            </a:r>
            <a:r>
              <a:rPr lang="en-US" altLang="zh-CN" sz="2800" baseline="-25000" dirty="0">
                <a:solidFill>
                  <a:srgbClr val="000099"/>
                </a:solidFill>
              </a:rPr>
              <a:t>1</a:t>
            </a:r>
            <a:r>
              <a:rPr lang="en-US" altLang="zh-CN" sz="2800" dirty="0">
                <a:solidFill>
                  <a:srgbClr val="000099"/>
                </a:solidFill>
              </a:rPr>
              <a:t>, </a:t>
            </a:r>
            <a:r>
              <a:rPr lang="en-US" altLang="zh-CN" sz="2800" i="1" dirty="0">
                <a:solidFill>
                  <a:srgbClr val="000099"/>
                </a:solidFill>
              </a:rPr>
              <a:t>A</a:t>
            </a:r>
            <a:r>
              <a:rPr lang="en-US" altLang="zh-CN" sz="2800" baseline="-25000" dirty="0">
                <a:solidFill>
                  <a:srgbClr val="000099"/>
                </a:solidFill>
              </a:rPr>
              <a:t>2</a:t>
            </a:r>
            <a:r>
              <a:rPr lang="en-US" altLang="zh-CN" sz="2800" dirty="0">
                <a:solidFill>
                  <a:srgbClr val="000099"/>
                </a:solidFill>
              </a:rPr>
              <a:t>, …, </a:t>
            </a:r>
            <a:r>
              <a:rPr lang="en-US" altLang="zh-CN" sz="2800" i="1" dirty="0">
                <a:solidFill>
                  <a:srgbClr val="000099"/>
                </a:solidFill>
              </a:rPr>
              <a:t>A</a:t>
            </a:r>
            <a:r>
              <a:rPr lang="en-US" altLang="zh-CN" sz="2800" baseline="-25000" dirty="0">
                <a:solidFill>
                  <a:srgbClr val="000099"/>
                </a:solidFill>
              </a:rPr>
              <a:t>m</a:t>
            </a:r>
            <a:r>
              <a:rPr lang="en-US" altLang="zh-CN" sz="2800" dirty="0">
                <a:solidFill>
                  <a:srgbClr val="000099"/>
                </a:solidFill>
              </a:rPr>
              <a:t>)</a:t>
            </a:r>
            <a:endParaRPr lang="en-US" altLang="zh-CN" sz="2800" dirty="0">
              <a:solidFill>
                <a:srgbClr val="000099"/>
              </a:solidFill>
            </a:endParaRPr>
          </a:p>
          <a:p>
            <a:pPr lvl="1"/>
            <a:r>
              <a:rPr lang="en-US" altLang="zh-CN" sz="2800" dirty="0"/>
              <a:t>The unique specification states that the attributes </a:t>
            </a:r>
            <a:r>
              <a:rPr lang="en-US" altLang="zh-CN" sz="2800" i="1" dirty="0"/>
              <a:t>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</a:t>
            </a:r>
            <a:r>
              <a:rPr lang="en-US" altLang="zh-CN" sz="2800" i="1" dirty="0"/>
              <a:t>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… </a:t>
            </a:r>
            <a:r>
              <a:rPr lang="en-US" altLang="zh-CN" sz="2800" i="1" dirty="0"/>
              <a:t>A</a:t>
            </a:r>
            <a:r>
              <a:rPr lang="en-US" altLang="zh-CN" sz="2800" baseline="-25000" dirty="0"/>
              <a:t>m  </a:t>
            </a:r>
            <a:r>
              <a:rPr lang="en-US" altLang="zh-CN" sz="2800" dirty="0"/>
              <a:t>form a </a:t>
            </a:r>
            <a:r>
              <a:rPr lang="en-US" altLang="zh-CN" sz="2800" dirty="0">
                <a:solidFill>
                  <a:srgbClr val="C00000"/>
                </a:solidFill>
              </a:rPr>
              <a:t>candidate key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lvl="1"/>
            <a:r>
              <a:rPr lang="en-US" altLang="zh-CN" sz="2800" dirty="0">
                <a:solidFill>
                  <a:srgbClr val="C00000"/>
                </a:solidFill>
              </a:rPr>
              <a:t>Candidate keys are permitted to be null</a:t>
            </a:r>
            <a:r>
              <a:rPr lang="en-US" altLang="zh-CN" sz="2800" dirty="0"/>
              <a:t> (in contrast to primary keys).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b="1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60420" name="Rectangle 4"/>
          <p:cNvSpPr/>
          <p:nvPr/>
        </p:nvSpPr>
        <p:spPr>
          <a:xfrm>
            <a:off x="804863" y="5229225"/>
            <a:ext cx="680085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charset="2"/>
            </a:pPr>
            <a:endParaRPr sz="2000" b="1">
              <a:latin typeface="Helvetica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952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check clause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467" name="Rectangle 3"/>
          <p:cNvSpPr>
            <a:spLocks noGrp="1"/>
          </p:cNvSpPr>
          <p:nvPr>
            <p:ph idx="1"/>
          </p:nvPr>
        </p:nvSpPr>
        <p:spPr>
          <a:xfrm>
            <a:off x="152401" y="1098550"/>
            <a:ext cx="8886668" cy="80327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check </a:t>
            </a:r>
            <a:r>
              <a:rPr lang="en-US" altLang="zh-CN" sz="2800" dirty="0">
                <a:solidFill>
                  <a:srgbClr val="C00000"/>
                </a:solidFill>
              </a:rPr>
              <a:t>(P)</a:t>
            </a:r>
            <a:r>
              <a:rPr lang="zh-CN" altLang="en-US" sz="2800" dirty="0"/>
              <a:t>，</a:t>
            </a:r>
            <a:r>
              <a:rPr lang="en-US" altLang="zh-CN" sz="2800" dirty="0"/>
              <a:t>      where P is a predicate</a:t>
            </a:r>
            <a:endParaRPr lang="en-US" altLang="zh-CN" sz="2800" dirty="0"/>
          </a:p>
        </p:txBody>
      </p:sp>
      <p:sp>
        <p:nvSpPr>
          <p:cNvPr id="62468" name="Rectangle 4"/>
          <p:cNvSpPr/>
          <p:nvPr/>
        </p:nvSpPr>
        <p:spPr>
          <a:xfrm>
            <a:off x="289560" y="1854835"/>
            <a:ext cx="8750300" cy="4333875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lstStyle/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dirty="0">
                <a:latin typeface="Helvetica" charset="0"/>
              </a:rPr>
              <a:t>Example:  ensure that semester is one of fall, winter, spring or summer: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endParaRPr lang="en-US" altLang="zh-CN" sz="2000" b="1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b="1" dirty="0">
                <a:latin typeface="Helvetica" charset="0"/>
              </a:rPr>
              <a:t>create table </a:t>
            </a:r>
            <a:r>
              <a:rPr lang="en-US" altLang="zh-CN" sz="2000" i="1" dirty="0">
                <a:latin typeface="Helvetica" charset="0"/>
              </a:rPr>
              <a:t>section </a:t>
            </a:r>
            <a:r>
              <a:rPr lang="en-US" altLang="zh-CN" sz="2000" dirty="0">
                <a:latin typeface="Helvetica" charset="0"/>
              </a:rPr>
              <a:t>(</a:t>
            </a:r>
            <a:endParaRPr lang="en-US" altLang="zh-CN" sz="2000" i="1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dirty="0">
                <a:latin typeface="Helvetica" charset="0"/>
              </a:rPr>
              <a:t>    </a:t>
            </a:r>
            <a:r>
              <a:rPr lang="en-US" altLang="zh-CN" sz="2000" i="1" dirty="0" err="1">
                <a:latin typeface="Helvetica" charset="0"/>
              </a:rPr>
              <a:t>course_id</a:t>
            </a:r>
            <a:r>
              <a:rPr lang="en-US" altLang="zh-CN" sz="2000" i="1" dirty="0">
                <a:latin typeface="Helvetica" charset="0"/>
              </a:rPr>
              <a:t> </a:t>
            </a:r>
            <a:r>
              <a:rPr lang="en-US" altLang="zh-CN" sz="2000" b="1" dirty="0">
                <a:latin typeface="Helvetica" charset="0"/>
              </a:rPr>
              <a:t>varchar </a:t>
            </a:r>
            <a:r>
              <a:rPr lang="en-US" altLang="zh-CN" sz="2000" dirty="0">
                <a:latin typeface="Helvetica" charset="0"/>
              </a:rPr>
              <a:t>(8),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i="1" dirty="0">
                <a:latin typeface="Helvetica" charset="0"/>
              </a:rPr>
              <a:t>    </a:t>
            </a:r>
            <a:r>
              <a:rPr lang="en-US" altLang="zh-CN" sz="2000" i="1" dirty="0" err="1">
                <a:latin typeface="Helvetica" charset="0"/>
              </a:rPr>
              <a:t>sec_id</a:t>
            </a:r>
            <a:r>
              <a:rPr lang="en-US" altLang="zh-CN" sz="2000" i="1" dirty="0">
                <a:latin typeface="Helvetica" charset="0"/>
              </a:rPr>
              <a:t> </a:t>
            </a:r>
            <a:r>
              <a:rPr lang="en-US" altLang="zh-CN" sz="2000" b="1" dirty="0">
                <a:latin typeface="Helvetica" charset="0"/>
              </a:rPr>
              <a:t>varchar </a:t>
            </a:r>
            <a:r>
              <a:rPr lang="en-US" altLang="zh-CN" sz="2000" dirty="0">
                <a:latin typeface="Helvetica" charset="0"/>
              </a:rPr>
              <a:t>(8),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i="1" dirty="0">
                <a:latin typeface="Helvetica" charset="0"/>
              </a:rPr>
              <a:t>    semester </a:t>
            </a:r>
            <a:r>
              <a:rPr lang="en-US" altLang="zh-CN" sz="2000" b="1" dirty="0">
                <a:latin typeface="Helvetica" charset="0"/>
              </a:rPr>
              <a:t>varchar </a:t>
            </a:r>
            <a:r>
              <a:rPr lang="en-US" altLang="zh-CN" sz="2000" dirty="0">
                <a:latin typeface="Helvetica" charset="0"/>
              </a:rPr>
              <a:t>(6),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i="1" dirty="0">
                <a:latin typeface="Helvetica" charset="0"/>
              </a:rPr>
              <a:t>    year </a:t>
            </a:r>
            <a:r>
              <a:rPr lang="en-US" altLang="zh-CN" sz="2000" b="1" dirty="0">
                <a:latin typeface="Helvetica" charset="0"/>
              </a:rPr>
              <a:t>numeric </a:t>
            </a:r>
            <a:r>
              <a:rPr lang="en-US" altLang="zh-CN" sz="2000" dirty="0">
                <a:latin typeface="Helvetica" charset="0"/>
              </a:rPr>
              <a:t>(4,0),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i="1" dirty="0">
                <a:latin typeface="Helvetica" charset="0"/>
              </a:rPr>
              <a:t>    building </a:t>
            </a:r>
            <a:r>
              <a:rPr lang="en-US" altLang="zh-CN" sz="2000" b="1" dirty="0">
                <a:latin typeface="Helvetica" charset="0"/>
              </a:rPr>
              <a:t>varchar </a:t>
            </a:r>
            <a:r>
              <a:rPr lang="en-US" altLang="zh-CN" sz="2000" dirty="0">
                <a:latin typeface="Helvetica" charset="0"/>
              </a:rPr>
              <a:t>(15),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i="1" dirty="0">
                <a:latin typeface="Helvetica" charset="0"/>
              </a:rPr>
              <a:t>    </a:t>
            </a:r>
            <a:r>
              <a:rPr lang="en-US" altLang="zh-CN" sz="2000" i="1" dirty="0" err="1">
                <a:latin typeface="Helvetica" charset="0"/>
              </a:rPr>
              <a:t>room_number</a:t>
            </a:r>
            <a:r>
              <a:rPr lang="en-US" altLang="zh-CN" sz="2000" i="1" dirty="0">
                <a:latin typeface="Helvetica" charset="0"/>
              </a:rPr>
              <a:t> </a:t>
            </a:r>
            <a:r>
              <a:rPr lang="en-US" altLang="zh-CN" sz="2000" b="1" dirty="0">
                <a:latin typeface="Helvetica" charset="0"/>
              </a:rPr>
              <a:t>varchar </a:t>
            </a:r>
            <a:r>
              <a:rPr lang="en-US" altLang="zh-CN" sz="2000" dirty="0">
                <a:latin typeface="Helvetica" charset="0"/>
              </a:rPr>
              <a:t>(7),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i="1" dirty="0">
                <a:latin typeface="Helvetica" charset="0"/>
              </a:rPr>
              <a:t>    time slot id </a:t>
            </a:r>
            <a:r>
              <a:rPr lang="en-US" altLang="zh-CN" sz="2000" b="1" dirty="0">
                <a:latin typeface="Helvetica" charset="0"/>
              </a:rPr>
              <a:t>varchar </a:t>
            </a:r>
            <a:r>
              <a:rPr lang="en-US" altLang="zh-CN" sz="2000" dirty="0">
                <a:latin typeface="Helvetica" charset="0"/>
              </a:rPr>
              <a:t>(4), 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b="1" dirty="0">
                <a:latin typeface="Helvetica" charset="0"/>
              </a:rPr>
              <a:t>    primary key </a:t>
            </a:r>
            <a:r>
              <a:rPr lang="en-US" altLang="zh-CN" sz="2000" dirty="0">
                <a:latin typeface="Helvetica" charset="0"/>
              </a:rPr>
              <a:t>(</a:t>
            </a:r>
            <a:r>
              <a:rPr lang="en-US" altLang="zh-CN" sz="2000" i="1" dirty="0" err="1">
                <a:latin typeface="Helvetica" charset="0"/>
              </a:rPr>
              <a:t>course_id</a:t>
            </a:r>
            <a:r>
              <a:rPr lang="en-US" altLang="zh-CN" sz="2000" dirty="0">
                <a:latin typeface="Helvetica" charset="0"/>
              </a:rPr>
              <a:t>, </a:t>
            </a:r>
            <a:r>
              <a:rPr lang="en-US" altLang="zh-CN" sz="2000" i="1" dirty="0" err="1">
                <a:latin typeface="Helvetica" charset="0"/>
              </a:rPr>
              <a:t>sec_id</a:t>
            </a:r>
            <a:r>
              <a:rPr lang="en-US" altLang="zh-CN" sz="2000" dirty="0">
                <a:latin typeface="Helvetica" charset="0"/>
              </a:rPr>
              <a:t>, </a:t>
            </a:r>
            <a:r>
              <a:rPr lang="en-US" altLang="zh-CN" sz="2000" i="1" dirty="0">
                <a:latin typeface="Helvetica" charset="0"/>
              </a:rPr>
              <a:t>semester</a:t>
            </a:r>
            <a:r>
              <a:rPr lang="en-US" altLang="zh-CN" sz="2000" dirty="0">
                <a:latin typeface="Helvetica" charset="0"/>
              </a:rPr>
              <a:t>, </a:t>
            </a:r>
            <a:r>
              <a:rPr lang="en-US" altLang="zh-CN" sz="2000" i="1" dirty="0">
                <a:latin typeface="Helvetica" charset="0"/>
              </a:rPr>
              <a:t>year</a:t>
            </a:r>
            <a:r>
              <a:rPr lang="en-US" altLang="zh-CN" sz="2000" dirty="0">
                <a:latin typeface="Helvetica" charset="0"/>
              </a:rPr>
              <a:t>),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b="1" dirty="0">
                <a:latin typeface="Helvetica" charset="0"/>
              </a:rPr>
              <a:t>    </a:t>
            </a:r>
            <a:r>
              <a:rPr lang="en-US" altLang="zh-CN" sz="2000" b="1" dirty="0">
                <a:solidFill>
                  <a:srgbClr val="000099"/>
                </a:solidFill>
                <a:latin typeface="Helvetica" charset="0"/>
              </a:rPr>
              <a:t>check</a:t>
            </a:r>
            <a:r>
              <a:rPr lang="en-US" altLang="zh-CN" sz="2000" b="1" dirty="0">
                <a:latin typeface="Helvetica" charset="0"/>
              </a:rPr>
              <a:t> </a:t>
            </a:r>
            <a:r>
              <a:rPr lang="en-US" altLang="zh-CN" sz="2000" dirty="0">
                <a:latin typeface="Helvetica" charset="0"/>
              </a:rPr>
              <a:t>(</a:t>
            </a:r>
            <a:r>
              <a:rPr lang="en-US" altLang="zh-CN" sz="2000" i="1" dirty="0">
                <a:latin typeface="Helvetica" charset="0"/>
              </a:rPr>
              <a:t>semester </a:t>
            </a:r>
            <a:r>
              <a:rPr lang="en-US" altLang="zh-CN" sz="2000" b="1" dirty="0">
                <a:latin typeface="Helvetica" charset="0"/>
              </a:rPr>
              <a:t>in </a:t>
            </a:r>
            <a:r>
              <a:rPr lang="en-US" altLang="zh-CN" sz="2000" dirty="0">
                <a:latin typeface="Helvetica" charset="0"/>
              </a:rPr>
              <a:t>(’Fall’, ’Winter’, ’Spring’, ’Summer’))</a:t>
            </a:r>
            <a:br>
              <a:rPr lang="en-US" altLang="zh-CN" sz="2000" dirty="0">
                <a:latin typeface="Helvetica" charset="0"/>
              </a:rPr>
            </a:br>
            <a:r>
              <a:rPr lang="en-US" altLang="zh-CN" sz="2000" dirty="0">
                <a:latin typeface="Helvetica" charset="0"/>
              </a:rPr>
              <a:t>);</a:t>
            </a:r>
            <a:endParaRPr lang="en-US" altLang="zh-CN" sz="2000" dirty="0">
              <a:latin typeface="Helvetica" charset="0"/>
            </a:endParaRPr>
          </a:p>
        </p:txBody>
      </p:sp>
      <p:sp>
        <p:nvSpPr>
          <p:cNvPr id="62469" name="Rectangle 5"/>
          <p:cNvSpPr/>
          <p:nvPr/>
        </p:nvSpPr>
        <p:spPr>
          <a:xfrm>
            <a:off x="804863" y="5229225"/>
            <a:ext cx="680085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charset="2"/>
            </a:pPr>
            <a:endParaRPr sz="2000" b="1">
              <a:latin typeface="Helvetica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Referential Integrity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4515" name="Rectangle 3"/>
          <p:cNvSpPr>
            <a:spLocks noGrp="1"/>
          </p:cNvSpPr>
          <p:nvPr>
            <p:ph idx="1"/>
          </p:nvPr>
        </p:nvSpPr>
        <p:spPr>
          <a:xfrm>
            <a:off x="285751" y="1135063"/>
            <a:ext cx="8693357" cy="494347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>
                <a:solidFill>
                  <a:srgbClr val="000099"/>
                </a:solidFill>
              </a:rPr>
              <a:t>Ensures that a value that appears in one relation for a given set of attributes also appears for a certain set of attributes in another relation.</a:t>
            </a:r>
            <a:endParaRPr lang="en-US" altLang="zh-CN" sz="2400" dirty="0">
              <a:solidFill>
                <a:srgbClr val="000099"/>
              </a:solidFill>
            </a:endParaRPr>
          </a:p>
          <a:p>
            <a:pPr lvl="1"/>
            <a:r>
              <a:rPr lang="en-US" altLang="zh-CN" sz="2400" dirty="0"/>
              <a:t>Example:  If “Biology” is a department name appearing in one of the tuples in the </a:t>
            </a:r>
            <a:r>
              <a:rPr lang="en-US" altLang="zh-CN" sz="2400" i="1" dirty="0"/>
              <a:t>instructor</a:t>
            </a:r>
            <a:r>
              <a:rPr lang="en-US" altLang="zh-CN" sz="2400" dirty="0"/>
              <a:t> relation, then there exists a tuple in the </a:t>
            </a:r>
            <a:r>
              <a:rPr lang="en-US" altLang="zh-CN" sz="2400" i="1" dirty="0"/>
              <a:t>department</a:t>
            </a:r>
            <a:r>
              <a:rPr lang="en-US" altLang="zh-CN" sz="2400" dirty="0"/>
              <a:t> relation for “Biology”.</a:t>
            </a:r>
            <a:endParaRPr lang="en-US" altLang="zh-CN" sz="2400" dirty="0"/>
          </a:p>
          <a:p>
            <a:r>
              <a:rPr lang="en-US" altLang="zh-CN" sz="2400" dirty="0"/>
              <a:t>Let </a:t>
            </a:r>
            <a:r>
              <a:rPr lang="en-US" altLang="zh-CN" sz="2400" dirty="0">
                <a:solidFill>
                  <a:srgbClr val="C00000"/>
                </a:solidFill>
              </a:rPr>
              <a:t>A</a:t>
            </a:r>
            <a:r>
              <a:rPr lang="en-US" altLang="zh-CN" sz="2400" dirty="0"/>
              <a:t> be a set of attributes.  </a:t>
            </a:r>
            <a:endParaRPr lang="en-US" altLang="zh-CN" sz="2400" dirty="0"/>
          </a:p>
          <a:p>
            <a:pPr lvl="1"/>
            <a:r>
              <a:rPr lang="en-US" altLang="zh-CN" sz="2400" dirty="0"/>
              <a:t>Let </a:t>
            </a:r>
            <a:r>
              <a:rPr lang="en-US" altLang="zh-CN" sz="2400" dirty="0">
                <a:solidFill>
                  <a:srgbClr val="C00000"/>
                </a:solidFill>
              </a:rPr>
              <a:t>R</a:t>
            </a:r>
            <a:r>
              <a:rPr lang="en-US" altLang="zh-CN" sz="2400" dirty="0"/>
              <a:t> and </a:t>
            </a:r>
            <a:r>
              <a:rPr lang="en-US" altLang="zh-CN" sz="2400" dirty="0">
                <a:solidFill>
                  <a:srgbClr val="C00000"/>
                </a:solidFill>
              </a:rPr>
              <a:t>S</a:t>
            </a:r>
            <a:r>
              <a:rPr lang="en-US" altLang="zh-CN" sz="2400" dirty="0"/>
              <a:t> be two relations that contain attributes A and where </a:t>
            </a:r>
            <a:r>
              <a:rPr lang="en-US" altLang="zh-CN" sz="2400" dirty="0">
                <a:solidFill>
                  <a:srgbClr val="C00000"/>
                </a:solidFill>
              </a:rPr>
              <a:t>A is the primary key of S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lvl="1"/>
            <a:r>
              <a:rPr lang="en-US" altLang="zh-CN" sz="2400" dirty="0"/>
              <a:t>A is said to be a  </a:t>
            </a:r>
            <a:r>
              <a:rPr lang="en-US" altLang="zh-CN" sz="2400" b="1" dirty="0">
                <a:solidFill>
                  <a:srgbClr val="000099"/>
                </a:solidFill>
              </a:rPr>
              <a:t>foreign key</a:t>
            </a:r>
            <a:r>
              <a:rPr lang="en-US" altLang="zh-CN" sz="2400" dirty="0"/>
              <a:t> of R if for any values of A appearing in R these values also appear in S.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8539163" cy="4270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Cascading Actions in Referential Integrity</a:t>
            </a:r>
            <a:endParaRPr kumimoji="1" 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6563" name="Rectangle 3"/>
          <p:cNvSpPr>
            <a:spLocks noGrp="1"/>
          </p:cNvSpPr>
          <p:nvPr>
            <p:ph idx="1"/>
          </p:nvPr>
        </p:nvSpPr>
        <p:spPr>
          <a:xfrm>
            <a:off x="292100" y="1135380"/>
            <a:ext cx="8669655" cy="5571490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2173605" algn="l"/>
              </a:tabLst>
            </a:pPr>
            <a:r>
              <a:rPr lang="en-US" altLang="zh-CN" sz="2400" b="1" dirty="0"/>
              <a:t>create table </a:t>
            </a:r>
            <a:r>
              <a:rPr lang="en-US" altLang="zh-CN" sz="2400" i="1" dirty="0"/>
              <a:t>course </a:t>
            </a:r>
            <a:r>
              <a:rPr lang="en-US" altLang="zh-CN" sz="2400" dirty="0"/>
              <a:t>(</a:t>
            </a:r>
            <a:br>
              <a:rPr lang="en-US" altLang="zh-CN" sz="2400" i="1" dirty="0"/>
            </a:br>
            <a:r>
              <a:rPr lang="en-US" altLang="zh-CN" sz="2400" i="1" dirty="0"/>
              <a:t>    </a:t>
            </a:r>
            <a:r>
              <a:rPr lang="en-US" altLang="zh-CN" sz="2400" i="1" dirty="0" err="1"/>
              <a:t>course_id</a:t>
            </a:r>
            <a:r>
              <a:rPr lang="en-US" altLang="zh-CN" sz="2400" i="1" dirty="0"/>
              <a:t> </a:t>
            </a:r>
            <a:r>
              <a:rPr lang="en-US" altLang="zh-CN" sz="2400" dirty="0"/>
              <a:t>  </a:t>
            </a:r>
            <a:r>
              <a:rPr lang="en-US" altLang="zh-CN" sz="2400" b="1" dirty="0"/>
              <a:t>char</a:t>
            </a:r>
            <a:r>
              <a:rPr lang="en-US" altLang="zh-CN" sz="2400" dirty="0"/>
              <a:t>(5) </a:t>
            </a:r>
            <a:r>
              <a:rPr lang="en-US" altLang="zh-CN" sz="2400" b="1" dirty="0"/>
              <a:t>primary key</a:t>
            </a:r>
            <a:r>
              <a:rPr lang="en-US" altLang="zh-CN" sz="2400" dirty="0"/>
              <a:t>,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i="1" dirty="0"/>
              <a:t>title             </a:t>
            </a:r>
            <a:r>
              <a:rPr lang="en-US" altLang="zh-CN" sz="2400" b="1" dirty="0"/>
              <a:t>varchar</a:t>
            </a:r>
            <a:r>
              <a:rPr lang="en-US" altLang="zh-CN" sz="2400" dirty="0"/>
              <a:t>(20),</a:t>
            </a:r>
            <a:br>
              <a:rPr lang="en-US" altLang="zh-CN" sz="2400" dirty="0"/>
            </a:br>
            <a:r>
              <a:rPr lang="en-US" altLang="zh-CN" sz="2400" dirty="0"/>
              <a:t> </a:t>
            </a:r>
            <a:r>
              <a:rPr lang="en-US" altLang="zh-CN" sz="2400" i="1" dirty="0"/>
              <a:t>   </a:t>
            </a:r>
            <a:r>
              <a:rPr lang="en-US" altLang="zh-CN" sz="2400" i="1" dirty="0" err="1"/>
              <a:t>dept_name</a:t>
            </a:r>
            <a:r>
              <a:rPr lang="en-US" altLang="zh-CN" sz="2400" i="1" dirty="0"/>
              <a:t> </a:t>
            </a:r>
            <a:r>
              <a:rPr lang="en-US" altLang="zh-CN" sz="2400" b="1" dirty="0"/>
              <a:t>varchar</a:t>
            </a:r>
            <a:r>
              <a:rPr lang="en-US" altLang="zh-CN" sz="2400" dirty="0"/>
              <a:t>(20) </a:t>
            </a:r>
            <a:r>
              <a:rPr lang="en-US" altLang="zh-CN" sz="2400" b="1" dirty="0"/>
              <a:t>references </a:t>
            </a:r>
            <a:r>
              <a:rPr lang="en-US" altLang="zh-CN" sz="2400" i="1" dirty="0"/>
              <a:t>department 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defTabSz="914400">
              <a:tabLst>
                <a:tab pos="2173605" algn="l"/>
              </a:tabLst>
            </a:pPr>
            <a:r>
              <a:rPr lang="en-US" altLang="zh-CN" sz="2400" b="1" dirty="0"/>
              <a:t>create table </a:t>
            </a:r>
            <a:r>
              <a:rPr lang="en-US" altLang="zh-CN" sz="2400" i="1" dirty="0"/>
              <a:t>course </a:t>
            </a:r>
            <a:r>
              <a:rPr lang="en-US" altLang="zh-CN" sz="2400" dirty="0"/>
              <a:t>(</a:t>
            </a:r>
            <a:br>
              <a:rPr lang="en-US" altLang="zh-CN" sz="2400" dirty="0"/>
            </a:br>
            <a:r>
              <a:rPr lang="en-US" altLang="zh-CN" sz="2400" dirty="0"/>
              <a:t>    …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i="1" dirty="0" err="1"/>
              <a:t>dept_name</a:t>
            </a:r>
            <a:r>
              <a:rPr lang="en-US" altLang="zh-CN" sz="2400" i="1" dirty="0"/>
              <a:t> </a:t>
            </a:r>
            <a:r>
              <a:rPr lang="en-US" altLang="zh-CN" sz="2400" b="1" dirty="0"/>
              <a:t>varchar</a:t>
            </a:r>
            <a:r>
              <a:rPr lang="en-US" altLang="zh-CN" sz="2400" dirty="0"/>
              <a:t>(20),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b="1" dirty="0"/>
              <a:t>foreign key 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dept_name</a:t>
            </a:r>
            <a:r>
              <a:rPr lang="en-US" altLang="zh-CN" sz="2400" dirty="0"/>
              <a:t>) </a:t>
            </a:r>
            <a:r>
              <a:rPr lang="en-US" altLang="zh-CN" sz="2400" b="1" dirty="0"/>
              <a:t>references </a:t>
            </a:r>
            <a:r>
              <a:rPr lang="en-US" altLang="zh-CN" sz="2400" i="1" dirty="0"/>
              <a:t>department</a:t>
            </a:r>
            <a:br>
              <a:rPr lang="en-US" altLang="zh-CN" sz="2400" i="1" dirty="0"/>
            </a:br>
            <a:r>
              <a:rPr lang="en-US" altLang="zh-CN" sz="2400" i="1" dirty="0"/>
              <a:t>                </a:t>
            </a:r>
            <a:r>
              <a:rPr lang="en-US" altLang="zh-CN" sz="2400" b="1" dirty="0"/>
              <a:t>on delete cascade</a:t>
            </a:r>
            <a:br>
              <a:rPr lang="en-US" altLang="zh-CN" sz="2400" b="1" dirty="0"/>
            </a:br>
            <a:r>
              <a:rPr lang="en-US" altLang="zh-CN" sz="2400" b="1" dirty="0"/>
              <a:t>                on update cascade</a:t>
            </a:r>
            <a:r>
              <a:rPr lang="en-US" altLang="zh-CN" sz="2400" dirty="0"/>
              <a:t>,</a:t>
            </a:r>
            <a:br>
              <a:rPr lang="en-US" altLang="zh-CN" sz="2400" dirty="0"/>
            </a:br>
            <a:r>
              <a:rPr lang="en-US" altLang="zh-CN" sz="2400" dirty="0"/>
              <a:t>    . . . </a:t>
            </a:r>
            <a:br>
              <a:rPr lang="en-US" altLang="zh-CN" sz="2400" dirty="0"/>
            </a:br>
            <a:r>
              <a:rPr lang="en-US" altLang="zh-CN" sz="2400" dirty="0"/>
              <a:t>)</a:t>
            </a:r>
            <a:endParaRPr lang="en-US" altLang="zh-CN" sz="2400" dirty="0"/>
          </a:p>
          <a:p>
            <a:pPr defTabSz="914400">
              <a:tabLst>
                <a:tab pos="2173605" algn="l"/>
              </a:tabLst>
            </a:pPr>
            <a:r>
              <a:rPr lang="en-US" altLang="zh-CN" sz="2400" dirty="0"/>
              <a:t>alternative actions to cascade:  </a:t>
            </a:r>
            <a:r>
              <a:rPr lang="en-US" altLang="zh-CN" sz="2400" b="1" dirty="0"/>
              <a:t>set null</a:t>
            </a:r>
            <a:r>
              <a:rPr lang="en-US" altLang="zh-CN" sz="2400" dirty="0"/>
              <a:t>, </a:t>
            </a:r>
            <a:r>
              <a:rPr lang="en-US" altLang="zh-CN" sz="2400" b="1" dirty="0"/>
              <a:t>set default</a:t>
            </a:r>
            <a:endParaRPr lang="en-US" altLang="zh-CN" sz="2400" dirty="0"/>
          </a:p>
          <a:p>
            <a:pPr defTabSz="914400">
              <a:buNone/>
              <a:tabLst>
                <a:tab pos="2173605" algn="l"/>
              </a:tabLst>
            </a:pPr>
            <a:endParaRPr lang="en-US" altLang="zh-CN" sz="2400" i="1" dirty="0"/>
          </a:p>
          <a:p>
            <a:pPr defTabSz="914400">
              <a:buNone/>
              <a:tabLst>
                <a:tab pos="2173605" algn="l"/>
              </a:tabLst>
            </a:pPr>
            <a:endParaRPr lang="en-US" altLang="zh-CN" sz="2400" i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4035" y="10160"/>
            <a:ext cx="8716010" cy="66103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Integrity Constraint Violation During Transactions</a:t>
            </a:r>
            <a:endParaRPr kumimoji="1" 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8611" name="Rectangle 3"/>
          <p:cNvSpPr>
            <a:spLocks noGrp="1"/>
          </p:cNvSpPr>
          <p:nvPr>
            <p:ph idx="1"/>
          </p:nvPr>
        </p:nvSpPr>
        <p:spPr>
          <a:xfrm>
            <a:off x="67945" y="898525"/>
            <a:ext cx="8945245" cy="552831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E.g.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person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(10),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(40),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mother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(10),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father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char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(10),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primary key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 ID,</a:t>
            </a:r>
            <a:b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foreign key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father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references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person,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foreign key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mother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references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 person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insert a tuple without causing constraint violation ?</a:t>
            </a:r>
            <a:endParaRPr lang="en-US" altLang="zh-CN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insert father and mother of a person before inserting person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set father and mother to null initially, update after inserting all persons (not possible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father and mother attributes declared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 be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defer constraint</a:t>
            </a:r>
            <a:r>
              <a:rPr lang="en-US" altLang="zh-CN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checking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(next slide)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Complex Check Clauses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9635" name="Rectangle 3"/>
          <p:cNvSpPr>
            <a:spLocks noGrp="1"/>
          </p:cNvSpPr>
          <p:nvPr>
            <p:ph idx="1"/>
          </p:nvPr>
        </p:nvSpPr>
        <p:spPr>
          <a:xfrm>
            <a:off x="61595" y="1094105"/>
            <a:ext cx="8990965" cy="540639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check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time_slot_id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time_slot_id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time_slot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section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关系上定义约束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not use a foreign key here?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2400" dirty="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引用完整性约束（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referential integrity constraint)=</a:t>
            </a:r>
            <a:r>
              <a:rPr lang="zh-CN" altLang="en-US" sz="2400" dirty="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外键约束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?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Every section has at least one instructor teaching the section.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how to write this?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Unfortunately:  subquery in check clause not supported by pretty much any database</a:t>
            </a:r>
            <a:endParaRPr lang="en-US" altLang="zh-CN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Alternative: triggers (later)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assertion 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&lt;assertion-name&gt; 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&lt;predicate&gt;;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not supported by anyone</a:t>
            </a:r>
            <a:endParaRPr lang="en-US" altLang="zh-CN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8340" y="117475"/>
            <a:ext cx="8375650" cy="609600"/>
          </a:xfr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b" anchorCtr="0" compatLnSpc="1">
            <a:normAutofit fontScale="90000"/>
          </a:bodyPr>
          <a:lstStyle/>
          <a:p>
            <a:pPr lvl="0" algn="ctr" defTabSz="914400">
              <a:buClrTx/>
              <a:buSzTx/>
              <a:buFontTx/>
              <a:defRPr/>
            </a:pPr>
            <a:r>
              <a:rPr lang="en-US" sz="3555" noProof="0">
                <a:ln>
                  <a:noFill/>
                </a:ln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Schema Diagram for University Database</a:t>
            </a:r>
            <a:endParaRPr lang="en-US" sz="3555" noProof="0">
              <a:ln>
                <a:noFill/>
              </a:ln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1171575"/>
            <a:ext cx="9102725" cy="533336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7613" y="163513"/>
            <a:ext cx="7264400" cy="55245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Built-in Data Types in SQL 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0659" name="Rectangle 3"/>
          <p:cNvSpPr>
            <a:spLocks noGrp="1"/>
          </p:cNvSpPr>
          <p:nvPr>
            <p:ph idx="1"/>
          </p:nvPr>
        </p:nvSpPr>
        <p:spPr>
          <a:xfrm>
            <a:off x="131445" y="890905"/>
            <a:ext cx="8896350" cy="5707380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1250950" algn="l"/>
              </a:tabLst>
            </a:pPr>
            <a:r>
              <a:rPr lang="en-US" altLang="zh-CN" sz="24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Dates, containing a (4 digit) year, month and date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tabLst>
                <a:tab pos="1250950" algn="l"/>
              </a:tabLst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Example: 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‘2005-7-27’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1250950" algn="l"/>
              </a:tabLst>
            </a:pPr>
            <a:r>
              <a:rPr lang="en-US" altLang="zh-CN" sz="24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Time of day, in hours, minutes and seconds.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tabLst>
                <a:tab pos="1250950" algn="l"/>
              </a:tabLst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 time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‘09:00:30’       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 time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‘09:00:30.75’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1250950" algn="l"/>
              </a:tabLst>
            </a:pPr>
            <a:r>
              <a:rPr lang="en-US" altLang="zh-CN" sz="24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timestamp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: date plus time of day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tabLst>
                <a:tab pos="1250950" algn="l"/>
              </a:tabLst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Example: 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timestamp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‘2005-7-27 09:00:30.75’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1250950" algn="l"/>
              </a:tabLst>
            </a:pPr>
            <a:r>
              <a:rPr lang="en-US" altLang="zh-CN" sz="24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interval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period of time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tabLst>
                <a:tab pos="1250950" algn="l"/>
              </a:tabLst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Example:   interval  ‘1’ day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tabLst>
                <a:tab pos="1250950" algn="l"/>
              </a:tabLst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Subtracting a date/time/timestamp value from another gives an interval value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tabLst>
                <a:tab pos="1250950" algn="l"/>
              </a:tabLst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Interval values can be added to date/time/timestamp values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Index Creation</a:t>
            </a:r>
            <a:endParaRPr lang="en-US" altLang="zh-CN" sz="400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>
          <a:xfrm>
            <a:off x="45720" y="838200"/>
            <a:ext cx="8983345" cy="574865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student	</a:t>
            </a:r>
            <a:b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ID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varchar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(5),</a:t>
            </a: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varchar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(20)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varchar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(20),</a:t>
            </a: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tot_cred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numeric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(3,0)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default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0,</a:t>
            </a: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primary key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)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index </a:t>
            </a:r>
            <a:r>
              <a:rPr lang="en-US" altLang="zh-CN" sz="2400" i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studentID_index</a:t>
            </a:r>
            <a:r>
              <a:rPr lang="en-US" altLang="zh-CN" sz="2400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n-US" altLang="zh-CN" sz="2400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Indices are data structures used to speed up access to records with specified values for index attributes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e.g.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select * </a:t>
            </a:r>
            <a:b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      from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b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 ID =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‘12345’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can be executed by using the index to find the required record, without looking at all records of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endParaRPr lang="en-US" altLang="zh-C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More on indices in Chapter 11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Example of B</a:t>
            </a:r>
            <a:r>
              <a:rPr lang="en-US" altLang="en-US" baseline="30000">
                <a:effectLst/>
              </a:rPr>
              <a:t>+</a:t>
            </a:r>
            <a:r>
              <a:rPr lang="en-US" altLang="en-US">
                <a:effectLst/>
              </a:rPr>
              <a:t>-Tree</a:t>
            </a:r>
            <a:endParaRPr lang="en-US" altLang="en-US">
              <a:effectLst/>
            </a:endParaRPr>
          </a:p>
        </p:txBody>
      </p:sp>
      <p:cxnSp>
        <p:nvCxnSpPr>
          <p:cNvPr id="39939" name="Straight Connector 2"/>
          <p:cNvCxnSpPr>
            <a:cxnSpLocks noChangeShapeType="1"/>
          </p:cNvCxnSpPr>
          <p:nvPr/>
        </p:nvCxnSpPr>
        <p:spPr bwMode="auto">
          <a:xfrm flipH="1">
            <a:off x="1266825" y="5692775"/>
            <a:ext cx="468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0" name="Straight Connector 4"/>
          <p:cNvCxnSpPr>
            <a:cxnSpLocks noChangeShapeType="1"/>
          </p:cNvCxnSpPr>
          <p:nvPr/>
        </p:nvCxnSpPr>
        <p:spPr bwMode="auto">
          <a:xfrm flipH="1">
            <a:off x="1270000" y="2995613"/>
            <a:ext cx="19050" cy="268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9941" name="Group 11"/>
          <p:cNvGrpSpPr/>
          <p:nvPr/>
        </p:nvGrpSpPr>
        <p:grpSpPr bwMode="auto">
          <a:xfrm>
            <a:off x="141288" y="1176338"/>
            <a:ext cx="8891587" cy="5030787"/>
            <a:chOff x="141288" y="1176338"/>
            <a:chExt cx="8891587" cy="5030787"/>
          </a:xfrm>
        </p:grpSpPr>
        <p:pic>
          <p:nvPicPr>
            <p:cNvPr id="39942" name="Picture 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288" y="1176338"/>
              <a:ext cx="8891587" cy="5030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43" name="Rectangle 10"/>
            <p:cNvSpPr>
              <a:spLocks noChangeArrowheads="1"/>
            </p:cNvSpPr>
            <p:nvPr/>
          </p:nvSpPr>
          <p:spPr bwMode="auto">
            <a:xfrm>
              <a:off x="1684609" y="3051960"/>
              <a:ext cx="64794" cy="22419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39944" name="Rectangle 13"/>
            <p:cNvSpPr>
              <a:spLocks noChangeArrowheads="1"/>
            </p:cNvSpPr>
            <p:nvPr/>
          </p:nvSpPr>
          <p:spPr bwMode="auto">
            <a:xfrm>
              <a:off x="1658717" y="5315675"/>
              <a:ext cx="100548" cy="3688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User-Defined Types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3731" name="Rectangle 3"/>
          <p:cNvSpPr>
            <a:spLocks noGrp="1"/>
          </p:cNvSpPr>
          <p:nvPr>
            <p:ph idx="1"/>
          </p:nvPr>
        </p:nvSpPr>
        <p:spPr>
          <a:xfrm>
            <a:off x="162560" y="957580"/>
            <a:ext cx="8776335" cy="5083175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1146175" algn="l"/>
                <a:tab pos="1891030" algn="l"/>
              </a:tabLst>
            </a:pPr>
            <a:r>
              <a:rPr lang="en-US" altLang="zh-CN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type</a:t>
            </a:r>
            <a:r>
              <a:rPr lang="en-US" altLang="zh-CN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construct in SQL creates user-defined type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buNone/>
              <a:tabLst>
                <a:tab pos="1146175" algn="l"/>
                <a:tab pos="1891030" algn="l"/>
              </a:tabLst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buNone/>
              <a:tabLst>
                <a:tab pos="1146175" algn="l"/>
                <a:tab pos="1891030" algn="l"/>
              </a:tabLst>
            </a:pP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		create type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</a:rPr>
              <a:t>Dollars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 as numeric (12,2) final </a:t>
            </a:r>
            <a:b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tabLst>
                <a:tab pos="1146175" algn="l"/>
                <a:tab pos="1891030" algn="l"/>
              </a:tabLst>
            </a:pP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</a:rPr>
              <a:t>department</a:t>
            </a:r>
            <a:b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varchar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(20),</a:t>
            </a:r>
            <a:b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</a:rPr>
              <a:t>building 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varchar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(15),</a:t>
            </a:r>
            <a:b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</a:rPr>
              <a:t>budget Dollars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图片 2054"/>
          <p:cNvPicPr>
            <a:picLocks noChangeAspect="1"/>
          </p:cNvPicPr>
          <p:nvPr/>
        </p:nvPicPr>
        <p:blipFill>
          <a:blip r:embed="rId1"/>
          <a:srcRect l="8060" t="8659" r="12500" b="16780"/>
          <a:stretch>
            <a:fillRect/>
          </a:stretch>
        </p:blipFill>
        <p:spPr>
          <a:xfrm>
            <a:off x="1588" y="4763"/>
            <a:ext cx="9142412" cy="6864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3075"/>
          <p:cNvPicPr>
            <a:picLocks noChangeAspect="1"/>
          </p:cNvPicPr>
          <p:nvPr/>
        </p:nvPicPr>
        <p:blipFill>
          <a:blip r:embed="rId1"/>
          <a:srcRect l="32878" t="18648" r="37370" b="36197"/>
          <a:stretch>
            <a:fillRect/>
          </a:stretch>
        </p:blipFill>
        <p:spPr>
          <a:xfrm>
            <a:off x="0" y="0"/>
            <a:ext cx="3060700" cy="3716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图片 3076"/>
          <p:cNvPicPr>
            <a:picLocks noChangeAspect="1"/>
          </p:cNvPicPr>
          <p:nvPr/>
        </p:nvPicPr>
        <p:blipFill>
          <a:blip r:embed="rId1"/>
          <a:srcRect l="64529" t="34485" r="5995" b="21162"/>
          <a:stretch>
            <a:fillRect/>
          </a:stretch>
        </p:blipFill>
        <p:spPr>
          <a:xfrm>
            <a:off x="2987675" y="981075"/>
            <a:ext cx="3111500" cy="3744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图片 3077"/>
          <p:cNvPicPr>
            <a:picLocks noChangeAspect="1"/>
          </p:cNvPicPr>
          <p:nvPr/>
        </p:nvPicPr>
        <p:blipFill>
          <a:blip r:embed="rId2"/>
          <a:srcRect l="32878" t="19011" r="37006" b="37466"/>
          <a:stretch>
            <a:fillRect/>
          </a:stretch>
        </p:blipFill>
        <p:spPr>
          <a:xfrm>
            <a:off x="5795963" y="2852738"/>
            <a:ext cx="3402012" cy="3933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图片 5123"/>
          <p:cNvPicPr>
            <a:picLocks noChangeAspect="1"/>
          </p:cNvPicPr>
          <p:nvPr/>
        </p:nvPicPr>
        <p:blipFill>
          <a:blip r:embed="rId1"/>
          <a:srcRect l="24609" t="16032" r="29231" b="31087"/>
          <a:stretch>
            <a:fillRect/>
          </a:stretch>
        </p:blipFill>
        <p:spPr>
          <a:xfrm>
            <a:off x="1619250" y="836613"/>
            <a:ext cx="5627688" cy="51577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9" name="图片 6148"/>
          <p:cNvPicPr>
            <a:picLocks noChangeAspect="1"/>
          </p:cNvPicPr>
          <p:nvPr/>
        </p:nvPicPr>
        <p:blipFill>
          <a:blip r:embed="rId1"/>
          <a:srcRect l="24609" t="16032" r="29231" b="21501"/>
          <a:stretch>
            <a:fillRect/>
          </a:stretch>
        </p:blipFill>
        <p:spPr>
          <a:xfrm>
            <a:off x="1619250" y="333375"/>
            <a:ext cx="5627688" cy="6092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图片 7171"/>
          <p:cNvPicPr>
            <a:picLocks noChangeAspect="1"/>
          </p:cNvPicPr>
          <p:nvPr/>
        </p:nvPicPr>
        <p:blipFill>
          <a:blip r:embed="rId1"/>
          <a:srcRect l="8060" t="8659" r="12500" b="16780"/>
          <a:stretch>
            <a:fillRect/>
          </a:stretch>
        </p:blipFill>
        <p:spPr>
          <a:xfrm>
            <a:off x="34925" y="44450"/>
            <a:ext cx="9072563" cy="68119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Domains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5779" name="Rectangle 3"/>
          <p:cNvSpPr>
            <a:spLocks noGrp="1"/>
          </p:cNvSpPr>
          <p:nvPr>
            <p:ph idx="1"/>
          </p:nvPr>
        </p:nvSpPr>
        <p:spPr>
          <a:xfrm>
            <a:off x="189230" y="977265"/>
            <a:ext cx="8837295" cy="490347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domain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 construct in SQL-92 creates user-defined domain types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		create domain </a:t>
            </a:r>
            <a:r>
              <a:rPr lang="en-US" altLang="zh-CN" sz="2800" i="1" err="1">
                <a:latin typeface="Arial" panose="020B0604020202020204" pitchFamily="34" charset="0"/>
                <a:cs typeface="Arial" panose="020B0604020202020204" pitchFamily="34" charset="0"/>
              </a:rPr>
              <a:t>person_name</a:t>
            </a:r>
            <a:r>
              <a:rPr lang="en-US" altLang="zh-CN" sz="2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(20) </a:t>
            </a: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Types and domains are similar.  Domains can have constraints, such as </a:t>
            </a: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, specified on them.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create domain </a:t>
            </a:r>
            <a:r>
              <a:rPr lang="en-US" altLang="zh-CN" sz="2800" i="1" err="1">
                <a:latin typeface="Arial" panose="020B0604020202020204" pitchFamily="34" charset="0"/>
                <a:cs typeface="Arial" panose="020B0604020202020204" pitchFamily="34" charset="0"/>
              </a:rPr>
              <a:t>degree_level</a:t>
            </a:r>
            <a:r>
              <a:rPr lang="en-US" altLang="zh-CN" sz="2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varchar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(10)</a:t>
            </a:r>
            <a:b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constraint </a:t>
            </a:r>
            <a:r>
              <a:rPr lang="en-US" altLang="zh-CN" sz="2800" i="1" err="1">
                <a:latin typeface="Arial" panose="020B0604020202020204" pitchFamily="34" charset="0"/>
                <a:cs typeface="Arial" panose="020B0604020202020204" pitchFamily="34" charset="0"/>
              </a:rPr>
              <a:t>degree_level_test</a:t>
            </a:r>
            <a:br>
              <a:rPr lang="en-US" altLang="zh-CN" sz="2800" i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check 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value in 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(’Bachelors’, ’Masters’, ’Doctorate’));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Large-Object Types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263525" y="1094105"/>
            <a:ext cx="8212455" cy="490347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Large objects (photos, videos, CAD files, etc.) are stored as a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</a:rPr>
              <a:t>large object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blob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 binary large object -- object is a large collection of uninterpreted binary data (whose interpretation is left to an application outside of the database system)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8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clob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 character large object -- object is a large collection of character data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When a query returns a large object, a pointer is returned rather than the large object itself.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Authorization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8851" name="Rectangle 3"/>
          <p:cNvSpPr>
            <a:spLocks noGrp="1"/>
          </p:cNvSpPr>
          <p:nvPr>
            <p:ph type="body"/>
          </p:nvPr>
        </p:nvSpPr>
        <p:spPr>
          <a:xfrm>
            <a:off x="94615" y="939800"/>
            <a:ext cx="8923655" cy="5918200"/>
          </a:xfrm>
        </p:spPr>
        <p:txBody>
          <a:bodyPr vert="horz" wrap="square" lIns="91440" tIns="45720" rIns="91440" bIns="45720" anchor="t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Forms of authorization on parts of  the database: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reading, but not modification of data.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insertion of new data, but not modification of existing data.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modification, but not deletion of data.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deletion of data.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Forms of authorization to </a:t>
            </a:r>
            <a:r>
              <a:rPr lang="en-US" altLang="zh-CN" sz="2400" b="1" i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modify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database schema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creation and deletion of indices.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creation of new relations.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Alteration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addition or deletion of attributes in a relation.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deletion of relations.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Authorization Specification in SQL</a:t>
            </a:r>
            <a:endParaRPr kumimoji="1" lang="en-US" sz="36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0899" name="Rectangle 3"/>
          <p:cNvSpPr>
            <a:spLocks noGrp="1"/>
          </p:cNvSpPr>
          <p:nvPr>
            <p:ph type="body"/>
          </p:nvPr>
        </p:nvSpPr>
        <p:spPr>
          <a:xfrm>
            <a:off x="145415" y="922020"/>
            <a:ext cx="8853170" cy="5583555"/>
          </a:xfrm>
        </p:spPr>
        <p:txBody>
          <a:bodyPr vert="horz" wrap="square" lIns="91440" tIns="45720" rIns="91440" bIns="45720" anchor="t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 is used to confer authorization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&lt;privilege list&gt;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&lt;relation name or view name&gt; 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&lt;user list&gt;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&lt;user list&gt;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is: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3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user-id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3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which allows all valid users the privilege granted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role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(more on this later)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Granting a privilege on a view does not imply granting any privileges on the underlying relations.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grantor of the privilege must already hold the privilege on the specified item (or be the database administrator).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Privileges in SQL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2947" name="Rectangle 3"/>
          <p:cNvSpPr>
            <a:spLocks noGrp="1"/>
          </p:cNvSpPr>
          <p:nvPr>
            <p:ph type="body"/>
          </p:nvPr>
        </p:nvSpPr>
        <p:spPr>
          <a:xfrm>
            <a:off x="53340" y="850900"/>
            <a:ext cx="9090660" cy="5749925"/>
          </a:xfrm>
        </p:spPr>
        <p:txBody>
          <a:bodyPr vert="horz" wrap="square" lIns="91440" tIns="45720" rIns="91440" bIns="45720" anchor="t"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read access to </a:t>
            </a:r>
            <a:r>
              <a:rPr lang="en-US" altLang="zh-CN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relation,or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ability to query using the view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3" indent="-457200" algn="l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grant users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altLang="zh-CN" sz="28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altLang="zh-CN" sz="28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altLang="zh-CN" sz="28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authorization on the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relation: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grant select on </a:t>
            </a:r>
            <a:r>
              <a:rPr lang="en-US" altLang="zh-CN" sz="28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 </a:t>
            </a:r>
            <a:r>
              <a:rPr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zh-CN" sz="28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altLang="zh-CN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8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</a:t>
            </a:r>
            <a:r>
              <a:rPr lang="en-US" altLang="zh-CN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8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</a:t>
            </a:r>
            <a:r>
              <a:rPr lang="en-US" altLang="zh-CN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zh-C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ability to insert tuples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ability  to update using the SQL update statement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ability to delete tuples.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altLang="zh-CN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privileges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as a short form for all the allowable privileges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Revoking Authorization in SQL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4995" name="Rectangle 3"/>
          <p:cNvSpPr>
            <a:spLocks noGrp="1"/>
          </p:cNvSpPr>
          <p:nvPr>
            <p:ph type="body"/>
          </p:nvPr>
        </p:nvSpPr>
        <p:spPr>
          <a:xfrm>
            <a:off x="28445" y="872361"/>
            <a:ext cx="9073515" cy="5680841"/>
          </a:xfrm>
          <a:noFill/>
          <a:ln w="9525">
            <a:noFill/>
          </a:ln>
        </p:spPr>
        <p:txBody>
          <a:bodyPr/>
          <a:lstStyle/>
          <a:p>
            <a:pPr marL="342900" indent="-342900" algn="l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revoke statement is used to revoke authorization.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7505" indent="-228600" algn="l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</a:pPr>
            <a:r>
              <a:rPr lang="en-US" altLang="zh-CN" sz="2400" i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revoke 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&lt;privilege list&gt; </a:t>
            </a:r>
            <a:r>
              <a:rPr lang="en-US" altLang="zh-CN" sz="2400" i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on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&lt;relation name or view name&gt; </a:t>
            </a:r>
            <a:r>
              <a:rPr lang="en-US" altLang="zh-CN" sz="2400" i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from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&lt;user list&gt; </a:t>
            </a:r>
            <a:r>
              <a:rPr lang="zh-CN" altLang="en-US" sz="2400" i="1" dirty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，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Example:</a:t>
            </a:r>
            <a:endParaRPr lang="en-US" altLang="zh-CN" sz="2400" i="1" dirty="0">
              <a:solidFill>
                <a:schemeClr val="tx1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pPr marL="630555" lvl="3" indent="-228600" algn="l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MS PGothic" panose="020B0600070205080204" pitchFamily="34" charset="-128"/>
              </a:rPr>
              <a:t>revoke select on branch  from U1, U2, U3</a:t>
            </a:r>
            <a:endParaRPr lang="en-US" altLang="zh-CN" sz="2400" dirty="0">
              <a:solidFill>
                <a:schemeClr val="tx1"/>
              </a:solidFill>
              <a:latin typeface="+mn-lt"/>
              <a:ea typeface="MS PGothic" panose="020B0600070205080204" pitchFamily="34" charset="-128"/>
            </a:endParaRPr>
          </a:p>
          <a:p>
            <a:pPr marL="342900" lvl="2" indent="-342900" algn="l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&lt;privilege-list&gt;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be all to revoke all privileges the </a:t>
            </a:r>
            <a:r>
              <a:rPr lang="en-US" altLang="zh-CN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revokee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hold.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zh-CN" sz="24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revokee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-list&gt;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includes </a:t>
            </a:r>
            <a:r>
              <a:rPr lang="en-US" altLang="zh-CN" sz="2400" i="1" u="sng" dirty="0"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all users lose the privilege except those granted it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explicitly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 algn="l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same privilege was granted twice to the same user by different grantees, the user may retain the privilege after the revocation.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privileges that depend on the privilege being revoked are also revoked.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标题 8704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Roles</a:t>
            </a:r>
            <a:endParaRPr lang="en-US" altLang="zh-CN" sz="400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045" name="文本占位符 87044"/>
          <p:cNvSpPr>
            <a:spLocks noGrp="1"/>
          </p:cNvSpPr>
          <p:nvPr>
            <p:ph type="body" idx="1"/>
          </p:nvPr>
        </p:nvSpPr>
        <p:spPr>
          <a:xfrm>
            <a:off x="64135" y="791845"/>
            <a:ext cx="8990330" cy="5859780"/>
          </a:xfrm>
        </p:spPr>
        <p:txBody>
          <a:bodyPr/>
          <a:lstStyle/>
          <a:p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role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instructor;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 to Amit;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Privileges can be granted to roles: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takes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Roles can be granted to users, as well as to other roles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role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teaching_assistant</a:t>
            </a:r>
            <a:endParaRPr lang="en-US" altLang="zh-CN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teaching_assistant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inherits all privileges of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teaching_assistant</a:t>
            </a:r>
            <a:endParaRPr lang="en-US" altLang="zh-CN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Chain of roles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role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dean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dean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dean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Satoshi;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Authorization on Views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8067" name="Rectangle 3"/>
          <p:cNvSpPr>
            <a:spLocks noGrp="1"/>
          </p:cNvSpPr>
          <p:nvPr>
            <p:ph idx="1"/>
          </p:nvPr>
        </p:nvSpPr>
        <p:spPr>
          <a:xfrm>
            <a:off x="134620" y="1094105"/>
            <a:ext cx="8874125" cy="539877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create view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geo_instructor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b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b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 ’Geology’);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grant select on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geo_instructor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geo_staff</a:t>
            </a:r>
            <a:endParaRPr lang="en-US" altLang="zh-CN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Suppose that a 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geo_staff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member issues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geo_instructor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if </a:t>
            </a:r>
            <a:endParaRPr lang="en-US" altLang="zh-CN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geo_staff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does not have permissions on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instructor?</a:t>
            </a:r>
            <a:endParaRPr lang="en-US" altLang="zh-CN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creator of view did not have some permissions on </a:t>
            </a:r>
            <a:r>
              <a:rPr lang="en-US" altLang="zh-CN" sz="2400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instructor?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Other Authorization Features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9091" name="Rectangle 3"/>
          <p:cNvSpPr>
            <a:spLocks noGrp="1"/>
          </p:cNvSpPr>
          <p:nvPr>
            <p:ph idx="1"/>
          </p:nvPr>
        </p:nvSpPr>
        <p:spPr>
          <a:xfrm>
            <a:off x="153035" y="1094105"/>
            <a:ext cx="8837295" cy="490347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privilege to create foreign key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2400" dirty="0">
                <a:solidFill>
                  <a:srgbClr val="000099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用户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Mariano</a:t>
            </a:r>
            <a:r>
              <a:rPr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创建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instructor</a:t>
            </a:r>
            <a:r>
              <a:rPr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表时，需要指定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外键</a:t>
            </a:r>
            <a:endParaRPr lang="en-US" altLang="zh-CN" sz="2400" dirty="0">
              <a:solidFill>
                <a:srgbClr val="C00000"/>
              </a:solidFill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grant reference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department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Mariano;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 this required?</a:t>
            </a:r>
            <a:endParaRPr lang="en-US" altLang="zh-CN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transfer of privileges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grant select on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department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Amit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grant option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revoke select on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department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Amit, Satoshi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cascade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revoke select on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department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Amit, Satoshi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防止级联收权</a:t>
            </a:r>
            <a:endParaRPr lang="en-US" altLang="zh-CN" sz="2400" dirty="0">
              <a:latin typeface="幼圆" panose="02010509060101010101" pitchFamily="49" charset="-122"/>
              <a:ea typeface="幼圆" panose="020105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Etc.  read Section 4.6 for more details we have omitted here.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关系代数与</a:t>
            </a:r>
            <a:r>
              <a:rPr lang="en-US" altLang="zh-CN" sz="4000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SQL</a:t>
            </a:r>
            <a:r>
              <a:rPr lang="zh-CN" altLang="en-US" sz="4000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的转换</a:t>
            </a:r>
            <a:endParaRPr lang="zh-CN" altLang="en-US" sz="4000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179880" y="981980"/>
              <a:ext cx="8829206" cy="532888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24255"/>
                    <a:gridCol w="2140083"/>
                    <a:gridCol w="2281238"/>
                    <a:gridCol w="2083630"/>
                  </a:tblGrid>
                  <a:tr h="860671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关系代数运算</a:t>
                          </a:r>
                          <a:endParaRPr lang="zh-CN" sz="2400" b="1" kern="100" dirty="0">
                            <a:solidFill>
                              <a:schemeClr val="bg1"/>
                            </a:solidFill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对应的</a:t>
                          </a:r>
                          <a:r>
                            <a:rPr lang="en-US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SQL</a:t>
                          </a:r>
                          <a:endParaRPr lang="zh-CN" sz="2400" b="1" kern="100" dirty="0">
                            <a:solidFill>
                              <a:schemeClr val="bg1"/>
                            </a:solidFill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关系代数运算</a:t>
                          </a:r>
                          <a:endParaRPr lang="zh-CN" sz="2400" b="1" kern="100" dirty="0">
                            <a:solidFill>
                              <a:schemeClr val="bg1"/>
                            </a:solidFill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对应的</a:t>
                          </a:r>
                          <a:r>
                            <a:rPr lang="en-US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SQL</a:t>
                          </a:r>
                          <a:endParaRPr lang="zh-CN" sz="2400" b="1" kern="100" dirty="0">
                            <a:solidFill>
                              <a:schemeClr val="bg1"/>
                            </a:solidFill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30A0"/>
                        </a:solidFill>
                      </a:tcPr>
                    </a:tc>
                  </a:tr>
                  <a:tr h="645719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选择运算（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oMath>
                          </a14:m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WHERE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连接运算（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⋈</m:t>
                              </m:r>
                            </m:oMath>
                          </a14:m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JOIN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59568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投影运算（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oMath>
                          </a14:m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SELECT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赋值运算（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AS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4596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并运算（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</m:oMath>
                          </a14:m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UNION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除运算（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NOT EXISTS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2958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差运算（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EXCEPT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去重运算（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oMath>
                          </a14:m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DISTINCT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74558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笛卡尔积运算</a:t>
                          </a:r>
                          <a:r>
                            <a:rPr lang="en-US" alt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alt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)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FROM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广义投影运算</a:t>
                          </a:r>
                          <a:r>
                            <a:rPr lang="en-US" alt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oMath>
                          </a14:m>
                          <a:r>
                            <a:rPr lang="en-US" alt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)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SELECT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4596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重命名运算（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oMath>
                          </a14:m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AS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聚集运算（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𝒢</m:t>
                              </m:r>
                            </m:oMath>
                          </a14:m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聚集函数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2958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交运算（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</m:oMath>
                          </a14:m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INTERSECT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分组运算（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𝒢</m:t>
                              </m:r>
                            </m:oMath>
                          </a14:m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GROUP BY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179880" y="981980"/>
              <a:ext cx="8829206" cy="532888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24255"/>
                    <a:gridCol w="2140083"/>
                    <a:gridCol w="2281238"/>
                    <a:gridCol w="2083630"/>
                  </a:tblGrid>
                  <a:tr h="860671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关系代数运算</a:t>
                          </a:r>
                          <a:endParaRPr lang="zh-CN" sz="2400" b="1" kern="100" dirty="0">
                            <a:solidFill>
                              <a:schemeClr val="bg1"/>
                            </a:solidFill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对应的</a:t>
                          </a:r>
                          <a:r>
                            <a:rPr lang="en-US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SQL</a:t>
                          </a:r>
                          <a:endParaRPr lang="zh-CN" sz="2400" b="1" kern="100" dirty="0">
                            <a:solidFill>
                              <a:schemeClr val="bg1"/>
                            </a:solidFill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关系代数运算</a:t>
                          </a:r>
                          <a:endParaRPr lang="zh-CN" sz="2400" b="1" kern="100" dirty="0">
                            <a:solidFill>
                              <a:schemeClr val="bg1"/>
                            </a:solidFill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对应的</a:t>
                          </a:r>
                          <a:r>
                            <a:rPr lang="en-US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SQL</a:t>
                          </a:r>
                          <a:endParaRPr lang="zh-CN" sz="2400" b="1" kern="100" dirty="0">
                            <a:solidFill>
                              <a:schemeClr val="bg1"/>
                            </a:solidFill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30A0"/>
                        </a:solidFill>
                      </a:tcPr>
                    </a:tc>
                  </a:tr>
                  <a:tr h="64579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WHERE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JOIN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5976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SELECT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AS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4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UNION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NOT EXISTS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2928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EXCEPT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DISTINCT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7500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FROM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SELECT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4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AS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聚集函数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299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INTERSECT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GROUP BY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End of Chapter 4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Figure 4.01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2163" name="Picture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3513" y="1839913"/>
            <a:ext cx="3735387" cy="3178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Figure 4.02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4211" name="Picture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8525" y="882650"/>
            <a:ext cx="4805363" cy="5092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Figure 4.03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6259" name="Picture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425" y="854075"/>
            <a:ext cx="6405563" cy="51482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Figure 4.04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8307" name="Picture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425" y="747713"/>
            <a:ext cx="6405563" cy="5362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Figure 4.05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0355" name="Picture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747713"/>
            <a:ext cx="6570663" cy="5362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Figure 4.07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02405" name="组合 102404"/>
          <p:cNvGrpSpPr/>
          <p:nvPr/>
        </p:nvGrpSpPr>
        <p:grpSpPr>
          <a:xfrm>
            <a:off x="3254375" y="868363"/>
            <a:ext cx="2830513" cy="5503862"/>
            <a:chOff x="2050" y="547"/>
            <a:chExt cx="1783" cy="3467"/>
          </a:xfrm>
        </p:grpSpPr>
        <p:pic>
          <p:nvPicPr>
            <p:cNvPr id="102403" name="Picture 3" descr="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50" y="547"/>
              <a:ext cx="1783" cy="346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404" name="文本框 102403"/>
            <p:cNvSpPr txBox="1"/>
            <p:nvPr/>
          </p:nvSpPr>
          <p:spPr>
            <a:xfrm>
              <a:off x="2829" y="3688"/>
              <a:ext cx="341" cy="13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anose="02020603050405020304" pitchFamily="18" charset="0"/>
                </a:rPr>
                <a:t>Taylor</a:t>
              </a:r>
              <a:endParaRPr lang="en-US" altLang="zh-CN" sz="1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Figure 4.06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4451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438" y="1357313"/>
            <a:ext cx="7366000" cy="2066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Figure 4.03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6499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363" y="984250"/>
            <a:ext cx="5156200" cy="4591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0</TotalTime>
  <Words>16486</Words>
  <Application>WPS 演示</Application>
  <PresentationFormat>全屏显示(4:3)</PresentationFormat>
  <Paragraphs>503</Paragraphs>
  <Slides>61</Slides>
  <Notes>42</Notes>
  <HiddenSlides>0</HiddenSlides>
  <MMClips>0</MMClips>
  <ScaleCrop>false</ScaleCrop>
  <HeadingPairs>
    <vt:vector size="10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61</vt:i4>
      </vt:variant>
      <vt:variant>
        <vt:lpstr>自定义放映</vt:lpstr>
      </vt:variant>
      <vt:variant>
        <vt:i4>1</vt:i4>
      </vt:variant>
    </vt:vector>
  </HeadingPairs>
  <TitlesOfParts>
    <vt:vector size="82" baseType="lpstr">
      <vt:lpstr>Arial</vt:lpstr>
      <vt:lpstr>宋体</vt:lpstr>
      <vt:lpstr>Wingdings</vt:lpstr>
      <vt:lpstr>Helvetica</vt:lpstr>
      <vt:lpstr>MS PGothic</vt:lpstr>
      <vt:lpstr>Times New Roman</vt:lpstr>
      <vt:lpstr>Monotype Sorts</vt:lpstr>
      <vt:lpstr>Webdings</vt:lpstr>
      <vt:lpstr>Wingdings</vt:lpstr>
      <vt:lpstr>微软雅黑</vt:lpstr>
      <vt:lpstr>Arial Unicode MS</vt:lpstr>
      <vt:lpstr>Calibri</vt:lpstr>
      <vt:lpstr>微软雅黑</vt:lpstr>
      <vt:lpstr>Arial</vt:lpstr>
      <vt:lpstr>黑体</vt:lpstr>
      <vt:lpstr>Symbol</vt:lpstr>
      <vt:lpstr>幼圆</vt:lpstr>
      <vt:lpstr>Cambria Math</vt:lpstr>
      <vt:lpstr>2_db-5-grey</vt:lpstr>
      <vt:lpstr>MS_ClipArt_Gallery.2</vt:lpstr>
      <vt:lpstr>Chapter 4: Intermediate SQL</vt:lpstr>
      <vt:lpstr>Chapter 4:  Intermediate SQL</vt:lpstr>
      <vt:lpstr>Joined Relations</vt:lpstr>
      <vt:lpstr>Join operations – Example</vt:lpstr>
      <vt:lpstr>Outer Join</vt:lpstr>
      <vt:lpstr>Left Outer Join</vt:lpstr>
      <vt:lpstr>Right Outer Join</vt:lpstr>
      <vt:lpstr>Joined Relations</vt:lpstr>
      <vt:lpstr>Full Outer Join</vt:lpstr>
      <vt:lpstr>Joined Relations – Examples </vt:lpstr>
      <vt:lpstr>Joined Relations – Examples</vt:lpstr>
      <vt:lpstr>连接的三种写法</vt:lpstr>
      <vt:lpstr>Views</vt:lpstr>
      <vt:lpstr>View Definition</vt:lpstr>
      <vt:lpstr>Example Views</vt:lpstr>
      <vt:lpstr>Views Defined Using Other Views</vt:lpstr>
      <vt:lpstr>View Expansion</vt:lpstr>
      <vt:lpstr>Views Defined Using Other Views</vt:lpstr>
      <vt:lpstr>View Expansion</vt:lpstr>
      <vt:lpstr>Update of a View</vt:lpstr>
      <vt:lpstr>Some Updates cannot be Translated Uniquely</vt:lpstr>
      <vt:lpstr>And Some Not at All</vt:lpstr>
      <vt:lpstr>Materialized Views</vt:lpstr>
      <vt:lpstr>Transactions</vt:lpstr>
      <vt:lpstr>Integrity Constraints</vt:lpstr>
      <vt:lpstr> Integrity Constraints on a Single Relation </vt:lpstr>
      <vt:lpstr>Not Null and Unique Constraints </vt:lpstr>
      <vt:lpstr>The check clause</vt:lpstr>
      <vt:lpstr>Referential Integrity</vt:lpstr>
      <vt:lpstr>Cascading Actions in Referential Integrity</vt:lpstr>
      <vt:lpstr>Integrity Constraint Violation During Transactions</vt:lpstr>
      <vt:lpstr>Complex Check Clauses</vt:lpstr>
      <vt:lpstr>Schema Diagram for University Database</vt:lpstr>
      <vt:lpstr>Built-in Data Types in SQL </vt:lpstr>
      <vt:lpstr>Index Creation</vt:lpstr>
      <vt:lpstr>Example of B+-Tree</vt:lpstr>
      <vt:lpstr>User-Defined Types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Domains</vt:lpstr>
      <vt:lpstr>Large-Object Types</vt:lpstr>
      <vt:lpstr>Authorization</vt:lpstr>
      <vt:lpstr>Authorization Specification in SQL</vt:lpstr>
      <vt:lpstr>Privileges in SQL</vt:lpstr>
      <vt:lpstr>Revoking Authorization in SQL</vt:lpstr>
      <vt:lpstr>Roles</vt:lpstr>
      <vt:lpstr>Authorization on Views</vt:lpstr>
      <vt:lpstr>Other Authorization Features</vt:lpstr>
      <vt:lpstr>关系代数与SQL的转换</vt:lpstr>
      <vt:lpstr>End of Chapter 4</vt:lpstr>
      <vt:lpstr>Figure 4.01</vt:lpstr>
      <vt:lpstr>Figure 4.02</vt:lpstr>
      <vt:lpstr>Figure 4.03</vt:lpstr>
      <vt:lpstr>Figure 4.04</vt:lpstr>
      <vt:lpstr>Figure 4.05</vt:lpstr>
      <vt:lpstr>Figure 4.07</vt:lpstr>
      <vt:lpstr>Figure 4.06</vt:lpstr>
      <vt:lpstr>Figure 4.03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康辉</cp:lastModifiedBy>
  <cp:revision>252</cp:revision>
  <cp:lastPrinted>2005-01-10T21:51:00Z</cp:lastPrinted>
  <dcterms:created xsi:type="dcterms:W3CDTF">1999-11-04T20:50:00Z</dcterms:created>
  <dcterms:modified xsi:type="dcterms:W3CDTF">2026-04-16T09:36:28Z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9A26FB121EAA4980B3692B8D905ED44C</vt:lpwstr>
  </property>
</Properties>
</file>