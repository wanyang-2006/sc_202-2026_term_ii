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2"/>
  </p:handoutMasterIdLst>
  <p:sldIdLst>
    <p:sldId id="287" r:id="rId3"/>
    <p:sldId id="288" r:id="rId5"/>
    <p:sldId id="428" r:id="rId6"/>
    <p:sldId id="294" r:id="rId7"/>
    <p:sldId id="490" r:id="rId8"/>
    <p:sldId id="359" r:id="rId9"/>
    <p:sldId id="295" r:id="rId10"/>
    <p:sldId id="363" r:id="rId11"/>
    <p:sldId id="432" r:id="rId12"/>
    <p:sldId id="433" r:id="rId13"/>
    <p:sldId id="365" r:id="rId14"/>
    <p:sldId id="399" r:id="rId15"/>
    <p:sldId id="434" r:id="rId16"/>
    <p:sldId id="366" r:id="rId17"/>
    <p:sldId id="435" r:id="rId18"/>
    <p:sldId id="307" r:id="rId19"/>
    <p:sldId id="308" r:id="rId20"/>
    <p:sldId id="491" r:id="rId21"/>
    <p:sldId id="492" r:id="rId22"/>
    <p:sldId id="493" r:id="rId23"/>
    <p:sldId id="494" r:id="rId24"/>
    <p:sldId id="495" r:id="rId25"/>
    <p:sldId id="496" r:id="rId26"/>
    <p:sldId id="497" r:id="rId27"/>
    <p:sldId id="379" r:id="rId28"/>
    <p:sldId id="318" r:id="rId29"/>
    <p:sldId id="321" r:id="rId30"/>
    <p:sldId id="377" r:id="rId31"/>
    <p:sldId id="322" r:id="rId32"/>
    <p:sldId id="498" r:id="rId33"/>
    <p:sldId id="324" r:id="rId34"/>
    <p:sldId id="429" r:id="rId35"/>
    <p:sldId id="439" r:id="rId36"/>
    <p:sldId id="440" r:id="rId37"/>
    <p:sldId id="441" r:id="rId38"/>
    <p:sldId id="442" r:id="rId39"/>
    <p:sldId id="443" r:id="rId40"/>
    <p:sldId id="350" r:id="rId41"/>
  </p:sldIdLst>
  <p:sldSz cx="9144000" cy="6858000" type="screen4x3"/>
  <p:notesSz cx="6997700" cy="9283700"/>
  <p:custShowLst>
    <p:custShow name="Custom Show 1" id="0">
      <p:sldLst>
        <p:sld r:id="rId3"/>
        <p:sld r:id="rId32"/>
        <p:sld r:id="rId5"/>
        <p:sld r:id="rId32"/>
      </p:sldLst>
    </p:custShow>
  </p:custShowLst>
  <p:custDataLst>
    <p:tags r:id="rId46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600" b="0" i="0" u="none" kern="1200" baseline="0">
        <a:solidFill>
          <a:schemeClr val="tx1"/>
        </a:solidFill>
        <a:latin typeface="Helvetica" charset="0"/>
        <a:ea typeface="MS PGothic" panose="020B060007020508020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89" userDrawn="1">
          <p15:clr>
            <a:srgbClr val="A4A3A4"/>
          </p15:clr>
        </p15:guide>
        <p15:guide id="2" pos="48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00CC"/>
    <a:srgbClr val="993300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25"/>
  </p:normalViewPr>
  <p:slideViewPr>
    <p:cSldViewPr snapToGrid="0" showGuides="1">
      <p:cViewPr varScale="1">
        <p:scale>
          <a:sx n="91" d="100"/>
          <a:sy n="91" d="100"/>
        </p:scale>
        <p:origin x="96" y="120"/>
      </p:cViewPr>
      <p:guideLst>
        <p:guide orient="horz" pos="689"/>
        <p:guide pos="4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6" Type="http://schemas.openxmlformats.org/officeDocument/2006/relationships/tags" Target="tags/tag7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>
            <a:lvl1pPr algn="r" defTabSz="930275">
              <a:defRPr sz="1200"/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4100" name="Rectangle 4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77925" y="696913"/>
            <a:ext cx="4641850" cy="34813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0075"/>
            <a:ext cx="5130800" cy="417671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charset="0"/>
                <a:ea typeface="MS PGothic" panose="020B0600070205080204" charset="-128"/>
                <a:cs typeface="MS PGothic" panose="020B0600070205080204" charset="-128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>
            <a:lvl1pPr defTabSz="930275">
              <a:defRPr sz="1200"/>
            </a:lvl1pPr>
          </a:lstStyle>
          <a:p>
            <a:pPr marL="0" marR="0" lvl="0" indent="0" algn="l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charset="0"/>
              <a:ea typeface="MS PGothic" panose="020B0600070205080204" charset="-128"/>
              <a:cs typeface="MS PGothic" panose="020B0600070205080204" charset="-128"/>
            </a:endParaRPr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3031" tIns="46516" rIns="93031" bIns="46516" numCol="1" anchor="b" anchorCtr="0" compatLnSpc="1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charset="0"/>
        <a:ea typeface="MS PGothic" panose="020B0600070205080204" charset="-128"/>
        <a:cs typeface="MS PGothic" panose="020B0600070205080204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5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6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14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19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0242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229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229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433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433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638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638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843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048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66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662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286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867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07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072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2770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481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481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3686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686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59394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144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144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3490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349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5538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7586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758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69634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6963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168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77925" y="695325"/>
            <a:ext cx="4641850" cy="3481388"/>
          </a:xfrm>
        </p:spPr>
      </p:sp>
      <p:sp>
        <p:nvSpPr>
          <p:cNvPr id="7168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8300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3730" name="Rectangle 3"/>
          <p:cNvSpPr>
            <a:spLocks noGrp="1"/>
          </p:cNvSpPr>
          <p:nvPr>
            <p:ph type="body" idx="1"/>
          </p:nvPr>
        </p:nvSpPr>
        <p:spPr/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5778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5779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 algn="l"/>
            <a:r>
              <a:rPr lang="en-US" altLang="zh-CN" dirty="0">
                <a:solidFill>
                  <a:schemeClr val="tx2"/>
                </a:solidFill>
                <a:latin typeface="Helvetica" charset="0"/>
                <a:sym typeface="+mn-ea"/>
              </a:rPr>
              <a:t>Note: 1</a:t>
            </a:r>
            <a:r>
              <a:rPr lang="en-US" altLang="zh-CN" baseline="30000" dirty="0">
                <a:solidFill>
                  <a:schemeClr val="tx2"/>
                </a:solidFill>
                <a:latin typeface="Helvetica" charset="0"/>
                <a:sym typeface="+mn-ea"/>
              </a:rPr>
              <a:t>st</a:t>
            </a:r>
            <a:r>
              <a:rPr lang="en-US" altLang="zh-CN" dirty="0">
                <a:solidFill>
                  <a:schemeClr val="tx2"/>
                </a:solidFill>
                <a:latin typeface="Helvetica" charset="0"/>
                <a:sym typeface="+mn-ea"/>
              </a:rPr>
              <a:t> printing of 6</a:t>
            </a:r>
            <a:r>
              <a:rPr lang="en-US" altLang="zh-CN" baseline="30000" dirty="0">
                <a:solidFill>
                  <a:schemeClr val="tx2"/>
                </a:solidFill>
                <a:latin typeface="Helvetica" charset="0"/>
                <a:sym typeface="+mn-ea"/>
              </a:rPr>
              <a:t>th</a:t>
            </a:r>
            <a:r>
              <a:rPr lang="en-US" altLang="zh-CN" dirty="0">
                <a:solidFill>
                  <a:schemeClr val="tx2"/>
                </a:solidFill>
                <a:latin typeface="Helvetica" charset="0"/>
                <a:sym typeface="+mn-ea"/>
              </a:rPr>
              <a:t> ed erroneously used c_prereq in place of rec_prereq in some places</a:t>
            </a:r>
            <a:endParaRPr lang="en-US" altLang="zh-CN" dirty="0">
              <a:solidFill>
                <a:schemeClr val="tx2"/>
              </a:solidFill>
              <a:latin typeface="Helvetica" charset="0"/>
            </a:endParaRPr>
          </a:p>
          <a:p>
            <a:pPr lvl="0"/>
            <a:endParaRPr lang="en-US" altLang="zh-CN" dirty="0">
              <a:solidFill>
                <a:schemeClr val="tx2"/>
              </a:solidFill>
              <a:latin typeface="Helvetica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7826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7827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/>
          <p:cNvSpPr txBox="1">
            <a:spLocks noGrp="1"/>
          </p:cNvSpPr>
          <p:nvPr/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79874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9875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81922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23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69" name="Rectangle 7"/>
          <p:cNvSpPr txBox="1">
            <a:spLocks noGrp="1"/>
          </p:cNvSpPr>
          <p:nvPr>
            <p:ph type="sldNum" sz="quarter"/>
          </p:nvPr>
        </p:nvSpPr>
        <p:spPr>
          <a:xfrm>
            <a:off x="3965575" y="8820150"/>
            <a:ext cx="3032125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031" tIns="46516" rIns="93031" bIns="46516" anchor="b"/>
          <a:lstStyle/>
          <a:p>
            <a:pPr lvl="0" algn="r" defTabSz="930275"/>
            <a:fld id="{9A0DB2DC-4C9A-4742-B13C-FB6460FD3503}" type="slidenum">
              <a:rPr lang="en-US" altLang="zh-CN" sz="1200" dirty="0"/>
            </a:fld>
            <a:endParaRPr lang="en-US" altLang="zh-CN" sz="1200" dirty="0"/>
          </a:p>
        </p:txBody>
      </p:sp>
      <p:sp>
        <p:nvSpPr>
          <p:cNvPr id="135170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5171" name="Rectangle 3"/>
          <p:cNvSpPr>
            <a:spLocks noGrp="1"/>
          </p:cNvSpPr>
          <p:nvPr>
            <p:ph type="body" idx="1"/>
          </p:nvPr>
        </p:nvSpPr>
        <p:spPr>
          <a:xfrm>
            <a:off x="931863" y="4410075"/>
            <a:ext cx="5133975" cy="4176713"/>
          </a:xfrm>
        </p:spPr>
        <p:txBody>
          <a:bodyPr wrap="none" lIns="93031" tIns="46516" rIns="93031" bIns="46516" anchor="t"/>
          <a:lstStyle/>
          <a:p>
            <a:pPr lvl="0"/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vmlDrawing" Target="../drawings/vmlDrawing1.vml"/><Relationship Id="rId4" Type="http://schemas.openxmlformats.org/officeDocument/2006/relationships/image" Target="../media/image1.jpeg"/><Relationship Id="rId3" Type="http://schemas.openxmlformats.org/officeDocument/2006/relationships/hyperlink" Target="http://www.db-book.com/" TargetMode="External"/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6194" name="Rectangle 2"/>
          <p:cNvGraphicFramePr/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r:id="rId2" imgW="0" imgH="0" progId="MS_ClipArt_Gallery.2">
                  <p:embed/>
                </p:oleObj>
              </mc:Choice>
              <mc:Fallback>
                <p:oleObj name="" r:id="rId2" imgW="0" imgH="0" progId="MS_ClipArt_Gallery.2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/>
                      <a:stretch>
                        <a:fillRect/>
                      </a:stretch>
                    </p:blipFill>
                    <p:spPr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2674938" y="5726113"/>
            <a:ext cx="3694113" cy="7937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b="1" dirty="0">
                <a:solidFill>
                  <a:srgbClr val="CC3300"/>
                </a:solidFill>
                <a:latin typeface="Helvetica" charset="0"/>
              </a:rPr>
              <a:t>Database System Concepts, 6</a:t>
            </a:r>
            <a:r>
              <a:rPr lang="en-US" altLang="zh-CN" b="1" baseline="30000" dirty="0">
                <a:solidFill>
                  <a:srgbClr val="CC3300"/>
                </a:solidFill>
                <a:latin typeface="Helvetica" charset="0"/>
              </a:rPr>
              <a:t>th</a:t>
            </a:r>
            <a:r>
              <a:rPr lang="en-US" altLang="zh-CN" b="1" dirty="0">
                <a:solidFill>
                  <a:srgbClr val="CC3300"/>
                </a:solidFill>
                <a:latin typeface="Helvetica" charset="0"/>
              </a:rPr>
              <a:t> Ed</a:t>
            </a:r>
            <a:r>
              <a:rPr lang="en-US" altLang="zh-CN" dirty="0">
                <a:solidFill>
                  <a:srgbClr val="CC3300"/>
                </a:solidFill>
                <a:latin typeface="Helvetica" charset="0"/>
              </a:rPr>
              <a:t>.</a:t>
            </a:r>
            <a:endParaRPr lang="en-US" altLang="zh-CN" dirty="0">
              <a:solidFill>
                <a:srgbClr val="CC3300"/>
              </a:solidFill>
              <a:latin typeface="Helvetica" charset="0"/>
            </a:endParaRPr>
          </a:p>
          <a:p>
            <a:pPr lvl="0" algn="ctr">
              <a:spcBef>
                <a:spcPct val="50000"/>
              </a:spcBef>
            </a:pPr>
            <a: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  <a:t>©Silberschatz, Korth and Sudarshan</a:t>
            </a:r>
            <a:b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</a:br>
            <a: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  <a:t>See </a:t>
            </a:r>
            <a:r>
              <a:rPr lang="en-US" altLang="zh-CN" sz="1200" b="1" dirty="0">
                <a:solidFill>
                  <a:srgbClr val="CC3300"/>
                </a:solidFill>
                <a:latin typeface="Helvetica" charset="0"/>
                <a:hlinkClick r:id="rId3"/>
              </a:rPr>
              <a:t>www.db-book.com</a:t>
            </a:r>
            <a:r>
              <a:rPr lang="en-US" altLang="zh-CN" sz="1200" b="1" dirty="0">
                <a:solidFill>
                  <a:srgbClr val="CC3300"/>
                </a:solidFill>
                <a:latin typeface="Helvetica" charset="0"/>
              </a:rPr>
              <a:t> for conditions on re-use </a:t>
            </a:r>
            <a:endParaRPr lang="en-US" altLang="zh-CN" sz="1200" b="1" dirty="0">
              <a:solidFill>
                <a:srgbClr val="CC3300"/>
              </a:solidFill>
              <a:latin typeface="Helvetica" charset="0"/>
            </a:endParaRPr>
          </a:p>
        </p:txBody>
      </p:sp>
      <p:pic>
        <p:nvPicPr>
          <p:cNvPr id="136196" name="Picture 8" descr="Cover-6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392238" cy="17002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8640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>
                <a:solidFill>
                  <a:srgbClr val="CC3300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640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charset="2"/>
              <a:buNone/>
              <a:defRPr/>
            </a:lvl1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4388" y="1093788"/>
            <a:ext cx="3754437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1225" y="1093788"/>
            <a:ext cx="3754438" cy="49037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Monotype Sorts" charset="0"/>
              <a:buNone/>
              <a:defRPr/>
            </a:pPr>
            <a:endParaRPr kumimoji="1" 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MS PGothic" panose="020B0600070205080204" charset="-128"/>
              <a:cs typeface="Arial" panose="020B0604020202020204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26250" y="117475"/>
            <a:ext cx="2019300" cy="58801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8350" y="117475"/>
            <a:ext cx="5905500" cy="58801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/>
          </p:cNvSpPr>
          <p:nvPr>
            <p:ph type="body" idx="1"/>
          </p:nvPr>
        </p:nvSpPr>
        <p:spPr>
          <a:xfrm>
            <a:off x="814388" y="1093788"/>
            <a:ext cx="7661275" cy="4903787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7" name="Text Box 4"/>
          <p:cNvSpPr txBox="1">
            <a:spLocks noChangeArrowheads="1"/>
          </p:cNvSpPr>
          <p:nvPr/>
        </p:nvSpPr>
        <p:spPr bwMode="auto">
          <a:xfrm>
            <a:off x="6762750" y="6613525"/>
            <a:ext cx="2381250" cy="244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©Silberschatz, Korth and Sudarshan</a:t>
            </a:r>
            <a:endParaRPr lang="en-US" altLang="zh-CN" sz="1000" b="1" dirty="0">
              <a:solidFill>
                <a:srgbClr val="000099"/>
              </a:solidFill>
              <a:latin typeface="Helvetica" charset="0"/>
            </a:endParaRPr>
          </a:p>
        </p:txBody>
      </p:sp>
      <p:sp>
        <p:nvSpPr>
          <p:cNvPr id="1028" name="Text Box 5"/>
          <p:cNvSpPr txBox="1">
            <a:spLocks noChangeArrowheads="1"/>
          </p:cNvSpPr>
          <p:nvPr/>
        </p:nvSpPr>
        <p:spPr bwMode="auto">
          <a:xfrm>
            <a:off x="4479925" y="6613525"/>
            <a:ext cx="447675" cy="24606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wrap="none">
            <a:spAutoFit/>
          </a:bodyPr>
          <a:lstStyle/>
          <a:p>
            <a:pPr lvl="0" algn="ctr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5.</a:t>
            </a:r>
            <a:fld id="{9A0DB2DC-4C9A-4742-B13C-FB6460FD3503}" type="slidenum">
              <a:rPr lang="en-US" altLang="zh-CN" sz="1000" b="1" dirty="0">
                <a:solidFill>
                  <a:srgbClr val="000099"/>
                </a:solidFill>
                <a:latin typeface="Helvetica" charset="0"/>
              </a:rPr>
            </a:fld>
            <a:endParaRPr lang="en-US" altLang="zh-CN" sz="1000" b="1" dirty="0">
              <a:solidFill>
                <a:srgbClr val="000099"/>
              </a:solidFill>
              <a:latin typeface="Helvetica" charset="0"/>
            </a:endParaRPr>
          </a:p>
        </p:txBody>
      </p:sp>
      <p:sp>
        <p:nvSpPr>
          <p:cNvPr id="48538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768350" y="117475"/>
            <a:ext cx="8077200" cy="6096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030" name="Text Box 7"/>
          <p:cNvSpPr txBox="1"/>
          <p:nvPr/>
        </p:nvSpPr>
        <p:spPr>
          <a:xfrm>
            <a:off x="0" y="6613525"/>
            <a:ext cx="2574925" cy="2444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pPr lvl="0">
              <a:spcBef>
                <a:spcPct val="50000"/>
              </a:spcBef>
            </a:pP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Database System Concepts - 6</a:t>
            </a:r>
            <a:r>
              <a:rPr lang="en-US" altLang="zh-CN" sz="1000" b="1" baseline="30000" dirty="0">
                <a:solidFill>
                  <a:srgbClr val="000099"/>
                </a:solidFill>
                <a:latin typeface="Helvetica" charset="0"/>
              </a:rPr>
              <a:t>th</a:t>
            </a:r>
            <a:r>
              <a:rPr lang="en-US" altLang="zh-CN" sz="1000" b="1" dirty="0">
                <a:solidFill>
                  <a:srgbClr val="000099"/>
                </a:solidFill>
                <a:latin typeface="Helvetica" charset="0"/>
              </a:rPr>
              <a:t> Edition</a:t>
            </a:r>
            <a:endParaRPr lang="en-US" altLang="zh-CN" sz="1000" b="1" dirty="0">
              <a:solidFill>
                <a:srgbClr val="000099"/>
              </a:solidFill>
              <a:latin typeface="Helvetica" charset="0"/>
            </a:endParaRPr>
          </a:p>
        </p:txBody>
      </p:sp>
      <p:sp>
        <p:nvSpPr>
          <p:cNvPr id="1031" name="Freeform 8"/>
          <p:cNvSpPr/>
          <p:nvPr/>
        </p:nvSpPr>
        <p:spPr>
          <a:xfrm>
            <a:off x="8916988" y="5445125"/>
            <a:ext cx="227012" cy="47625"/>
          </a:xfrm>
          <a:custGeom>
            <a:avLst/>
            <a:gdLst/>
            <a:ahLst/>
            <a:cxnLst>
              <a:cxn ang="0">
                <a:pos x="0" y="46064"/>
              </a:cxn>
              <a:cxn ang="0">
                <a:pos x="1593" y="37475"/>
              </a:cxn>
              <a:cxn ang="0">
                <a:pos x="7169" y="26545"/>
              </a:cxn>
              <a:cxn ang="0">
                <a:pos x="13541" y="19518"/>
              </a:cxn>
              <a:cxn ang="0">
                <a:pos x="23896" y="13273"/>
              </a:cxn>
              <a:cxn ang="0">
                <a:pos x="35844" y="7807"/>
              </a:cxn>
              <a:cxn ang="0">
                <a:pos x="45402" y="4684"/>
              </a:cxn>
              <a:cxn ang="0">
                <a:pos x="55757" y="1561"/>
              </a:cxn>
              <a:cxn ang="0">
                <a:pos x="67705" y="0"/>
              </a:cxn>
              <a:cxn ang="0">
                <a:pos x="79653" y="0"/>
              </a:cxn>
              <a:cxn ang="0">
                <a:pos x="93991" y="0"/>
              </a:cxn>
              <a:cxn ang="0">
                <a:pos x="109125" y="0"/>
              </a:cxn>
              <a:cxn ang="0">
                <a:pos x="122666" y="1561"/>
              </a:cxn>
              <a:cxn ang="0">
                <a:pos x="137800" y="4684"/>
              </a:cxn>
              <a:cxn ang="0">
                <a:pos x="152934" y="6246"/>
              </a:cxn>
              <a:cxn ang="0">
                <a:pos x="166475" y="9369"/>
              </a:cxn>
              <a:cxn ang="0">
                <a:pos x="178423" y="11711"/>
              </a:cxn>
              <a:cxn ang="0">
                <a:pos x="190371" y="14834"/>
              </a:cxn>
              <a:cxn ang="0">
                <a:pos x="202319" y="17957"/>
              </a:cxn>
              <a:cxn ang="0">
                <a:pos x="211878" y="19518"/>
              </a:cxn>
              <a:cxn ang="0">
                <a:pos x="217454" y="21080"/>
              </a:cxn>
              <a:cxn ang="0">
                <a:pos x="225419" y="24203"/>
              </a:cxn>
              <a:cxn ang="0">
                <a:pos x="222233" y="34352"/>
              </a:cxn>
              <a:cxn ang="0">
                <a:pos x="217454" y="32791"/>
              </a:cxn>
              <a:cxn ang="0">
                <a:pos x="207099" y="31230"/>
              </a:cxn>
              <a:cxn ang="0">
                <a:pos x="191965" y="28107"/>
              </a:cxn>
              <a:cxn ang="0">
                <a:pos x="183203" y="26545"/>
              </a:cxn>
              <a:cxn ang="0">
                <a:pos x="173644" y="24984"/>
              </a:cxn>
              <a:cxn ang="0">
                <a:pos x="164882" y="24203"/>
              </a:cxn>
              <a:cxn ang="0">
                <a:pos x="156121" y="22641"/>
              </a:cxn>
              <a:cxn ang="0">
                <a:pos x="144969" y="21080"/>
              </a:cxn>
              <a:cxn ang="0">
                <a:pos x="137800" y="19518"/>
              </a:cxn>
              <a:cxn ang="0">
                <a:pos x="129835" y="17957"/>
              </a:cxn>
              <a:cxn ang="0">
                <a:pos x="122666" y="16395"/>
              </a:cxn>
              <a:cxn ang="0">
                <a:pos x="113108" y="14834"/>
              </a:cxn>
              <a:cxn ang="0">
                <a:pos x="87619" y="11711"/>
              </a:cxn>
              <a:cxn ang="0">
                <a:pos x="66112" y="16395"/>
              </a:cxn>
              <a:cxn ang="0">
                <a:pos x="46995" y="22641"/>
              </a:cxn>
              <a:cxn ang="0">
                <a:pos x="42216" y="24203"/>
              </a:cxn>
              <a:cxn ang="0">
                <a:pos x="34251" y="26545"/>
              </a:cxn>
              <a:cxn ang="0">
                <a:pos x="25489" y="29668"/>
              </a:cxn>
              <a:cxn ang="0">
                <a:pos x="18320" y="34352"/>
              </a:cxn>
              <a:cxn ang="0">
                <a:pos x="5576" y="42941"/>
              </a:cxn>
              <a:cxn ang="0">
                <a:pos x="1593" y="47625"/>
              </a:cxn>
            </a:cxnLst>
            <a:rect l="0" t="0" r="0" b="0"/>
            <a:pathLst>
              <a:path w="285" h="61">
                <a:moveTo>
                  <a:pt x="2" y="61"/>
                </a:moveTo>
                <a:lnTo>
                  <a:pt x="0" y="59"/>
                </a:lnTo>
                <a:lnTo>
                  <a:pt x="0" y="55"/>
                </a:lnTo>
                <a:lnTo>
                  <a:pt x="2" y="48"/>
                </a:lnTo>
                <a:lnTo>
                  <a:pt x="5" y="40"/>
                </a:lnTo>
                <a:lnTo>
                  <a:pt x="9" y="34"/>
                </a:lnTo>
                <a:lnTo>
                  <a:pt x="13" y="31"/>
                </a:lnTo>
                <a:lnTo>
                  <a:pt x="17" y="25"/>
                </a:lnTo>
                <a:lnTo>
                  <a:pt x="24" y="21"/>
                </a:lnTo>
                <a:lnTo>
                  <a:pt x="30" y="17"/>
                </a:lnTo>
                <a:lnTo>
                  <a:pt x="40" y="13"/>
                </a:lnTo>
                <a:lnTo>
                  <a:pt x="45" y="10"/>
                </a:lnTo>
                <a:lnTo>
                  <a:pt x="51" y="8"/>
                </a:lnTo>
                <a:lnTo>
                  <a:pt x="57" y="6"/>
                </a:lnTo>
                <a:lnTo>
                  <a:pt x="64" y="6"/>
                </a:lnTo>
                <a:lnTo>
                  <a:pt x="70" y="2"/>
                </a:lnTo>
                <a:lnTo>
                  <a:pt x="78" y="2"/>
                </a:lnTo>
                <a:lnTo>
                  <a:pt x="85" y="0"/>
                </a:lnTo>
                <a:lnTo>
                  <a:pt x="93" y="0"/>
                </a:lnTo>
                <a:lnTo>
                  <a:pt x="100" y="0"/>
                </a:lnTo>
                <a:lnTo>
                  <a:pt x="110" y="0"/>
                </a:lnTo>
                <a:lnTo>
                  <a:pt x="118" y="0"/>
                </a:lnTo>
                <a:lnTo>
                  <a:pt x="129" y="0"/>
                </a:lnTo>
                <a:lnTo>
                  <a:pt x="137" y="0"/>
                </a:lnTo>
                <a:lnTo>
                  <a:pt x="146" y="2"/>
                </a:lnTo>
                <a:lnTo>
                  <a:pt x="154" y="2"/>
                </a:lnTo>
                <a:lnTo>
                  <a:pt x="163" y="4"/>
                </a:lnTo>
                <a:lnTo>
                  <a:pt x="173" y="6"/>
                </a:lnTo>
                <a:lnTo>
                  <a:pt x="182" y="8"/>
                </a:lnTo>
                <a:lnTo>
                  <a:pt x="192" y="8"/>
                </a:lnTo>
                <a:lnTo>
                  <a:pt x="201" y="12"/>
                </a:lnTo>
                <a:lnTo>
                  <a:pt x="209" y="12"/>
                </a:lnTo>
                <a:lnTo>
                  <a:pt x="216" y="13"/>
                </a:lnTo>
                <a:lnTo>
                  <a:pt x="224" y="15"/>
                </a:lnTo>
                <a:lnTo>
                  <a:pt x="234" y="17"/>
                </a:lnTo>
                <a:lnTo>
                  <a:pt x="239" y="19"/>
                </a:lnTo>
                <a:lnTo>
                  <a:pt x="247" y="21"/>
                </a:lnTo>
                <a:lnTo>
                  <a:pt x="254" y="23"/>
                </a:lnTo>
                <a:lnTo>
                  <a:pt x="260" y="25"/>
                </a:lnTo>
                <a:lnTo>
                  <a:pt x="266" y="25"/>
                </a:lnTo>
                <a:lnTo>
                  <a:pt x="270" y="27"/>
                </a:lnTo>
                <a:lnTo>
                  <a:pt x="273" y="27"/>
                </a:lnTo>
                <a:lnTo>
                  <a:pt x="279" y="29"/>
                </a:lnTo>
                <a:lnTo>
                  <a:pt x="283" y="31"/>
                </a:lnTo>
                <a:lnTo>
                  <a:pt x="285" y="32"/>
                </a:lnTo>
                <a:lnTo>
                  <a:pt x="279" y="44"/>
                </a:lnTo>
                <a:lnTo>
                  <a:pt x="277" y="44"/>
                </a:lnTo>
                <a:lnTo>
                  <a:pt x="273" y="42"/>
                </a:lnTo>
                <a:lnTo>
                  <a:pt x="268" y="42"/>
                </a:lnTo>
                <a:lnTo>
                  <a:pt x="260" y="40"/>
                </a:lnTo>
                <a:lnTo>
                  <a:pt x="251" y="38"/>
                </a:lnTo>
                <a:lnTo>
                  <a:pt x="241" y="36"/>
                </a:lnTo>
                <a:lnTo>
                  <a:pt x="235" y="34"/>
                </a:lnTo>
                <a:lnTo>
                  <a:pt x="230" y="34"/>
                </a:lnTo>
                <a:lnTo>
                  <a:pt x="224" y="32"/>
                </a:lnTo>
                <a:lnTo>
                  <a:pt x="218" y="32"/>
                </a:lnTo>
                <a:lnTo>
                  <a:pt x="213" y="31"/>
                </a:lnTo>
                <a:lnTo>
                  <a:pt x="207" y="31"/>
                </a:lnTo>
                <a:lnTo>
                  <a:pt x="201" y="29"/>
                </a:lnTo>
                <a:lnTo>
                  <a:pt x="196" y="29"/>
                </a:lnTo>
                <a:lnTo>
                  <a:pt x="190" y="27"/>
                </a:lnTo>
                <a:lnTo>
                  <a:pt x="182" y="27"/>
                </a:lnTo>
                <a:lnTo>
                  <a:pt x="178" y="25"/>
                </a:lnTo>
                <a:lnTo>
                  <a:pt x="173" y="25"/>
                </a:lnTo>
                <a:lnTo>
                  <a:pt x="167" y="23"/>
                </a:lnTo>
                <a:lnTo>
                  <a:pt x="163" y="23"/>
                </a:lnTo>
                <a:lnTo>
                  <a:pt x="158" y="21"/>
                </a:lnTo>
                <a:lnTo>
                  <a:pt x="154" y="21"/>
                </a:lnTo>
                <a:lnTo>
                  <a:pt x="148" y="19"/>
                </a:lnTo>
                <a:lnTo>
                  <a:pt x="142" y="19"/>
                </a:lnTo>
                <a:lnTo>
                  <a:pt x="144" y="48"/>
                </a:lnTo>
                <a:lnTo>
                  <a:pt x="110" y="15"/>
                </a:lnTo>
                <a:lnTo>
                  <a:pt x="118" y="48"/>
                </a:lnTo>
                <a:lnTo>
                  <a:pt x="83" y="21"/>
                </a:lnTo>
                <a:lnTo>
                  <a:pt x="91" y="48"/>
                </a:lnTo>
                <a:lnTo>
                  <a:pt x="59" y="29"/>
                </a:lnTo>
                <a:lnTo>
                  <a:pt x="57" y="29"/>
                </a:lnTo>
                <a:lnTo>
                  <a:pt x="53" y="31"/>
                </a:lnTo>
                <a:lnTo>
                  <a:pt x="49" y="31"/>
                </a:lnTo>
                <a:lnTo>
                  <a:pt x="43" y="34"/>
                </a:lnTo>
                <a:lnTo>
                  <a:pt x="38" y="36"/>
                </a:lnTo>
                <a:lnTo>
                  <a:pt x="32" y="38"/>
                </a:lnTo>
                <a:lnTo>
                  <a:pt x="26" y="42"/>
                </a:lnTo>
                <a:lnTo>
                  <a:pt x="23" y="44"/>
                </a:lnTo>
                <a:lnTo>
                  <a:pt x="15" y="50"/>
                </a:lnTo>
                <a:lnTo>
                  <a:pt x="7" y="55"/>
                </a:lnTo>
                <a:lnTo>
                  <a:pt x="4" y="59"/>
                </a:lnTo>
                <a:lnTo>
                  <a:pt x="2" y="61"/>
                </a:lnTo>
                <a:close/>
              </a:path>
            </a:pathLst>
          </a:custGeom>
          <a:solidFill>
            <a:srgbClr val="FFFFFF">
              <a:alpha val="100000"/>
            </a:srgbClr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032" name="Picture 9" descr="Cover-6Ed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3175" y="0"/>
            <a:ext cx="668338" cy="8159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Arial" panose="020B0604020202020204"/>
          <a:ea typeface="MS PGothic" panose="020B0600070205080204" charset="-128"/>
          <a:cs typeface="Arial" panose="020B0604020202020204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  <a:ea typeface="MS PGothic" panose="020B0600070205080204" charset="-128"/>
          <a:cs typeface="MS PGothic" panose="020B060007020508020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DDDDDD"/>
            </a:outerShdw>
          </a:effectLst>
          <a:latin typeface="Helvetica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charset="0"/>
        <a:buChar char="n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chemeClr val="folHlink"/>
        </a:buClr>
        <a:buSzPct val="80000"/>
        <a:buFont typeface="Monotype Sorts" charset="0"/>
        <a:buChar char="l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33CC33"/>
        </a:buClr>
        <a:buSzPct val="75000"/>
        <a:buFont typeface="Webdings" panose="05030102010509060703" charset="0"/>
        <a:buChar char="4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Font typeface="Times New Roman" panose="02020603050405020304" charset="0"/>
        <a:buChar char="–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Arial" panose="020B0604020202020204"/>
          <a:ea typeface="MS PGothic" panose="020B0600070205080204" charset="-128"/>
          <a:cs typeface="Arial" panose="020B0604020202020204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7.jpeg"/><Relationship Id="rId1" Type="http://schemas.openxmlformats.org/officeDocument/2006/relationships/tags" Target="../tags/tag1.xml"/></Relationships>
</file>

<file path=ppt/slides/_rels/slide3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5.xml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Relationship Id="rId3" Type="http://schemas.openxmlformats.org/officeDocument/2006/relationships/image" Target="../media/image7.jpeg"/><Relationship Id="rId2" Type="http://schemas.openxmlformats.org/officeDocument/2006/relationships/tags" Target="../tags/tag3.xml"/><Relationship Id="rId1" Type="http://schemas.openxmlformats.org/officeDocument/2006/relationships/tags" Target="../tags/tag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8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jpeg"/><Relationship Id="rId3" Type="http://schemas.openxmlformats.org/officeDocument/2006/relationships/tags" Target="../tags/tag6.xml"/><Relationship Id="rId2" Type="http://schemas.openxmlformats.org/officeDocument/2006/relationships/image" Target="../media/image8.jpeg"/><Relationship Id="rId1" Type="http://schemas.openxmlformats.org/officeDocument/2006/relationships/tags" Target="../tags/tag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  <a:ea typeface="MS PGothic" panose="020B0600070205080204" charset="-128"/>
                <a:cs typeface="Arial" panose="020B0604020202020204"/>
              </a:rPr>
              <a:t>Chapter 5: Advanced SQL</a:t>
            </a:r>
            <a:endParaRPr kumimoji="1" lang="en-US" altLang="zh-CN" dirty="0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Helvetica" charset="0"/>
              <a:ea typeface="MS PGothic" panose="020B0600070205080204" charset="-128"/>
              <a:cs typeface="Arial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Outline</a:t>
            </a:r>
            <a:endParaRPr lang="en-US" altLang="zh-CN" sz="4000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347980" y="1135380"/>
            <a:ext cx="8497570" cy="488759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800" dirty="0">
                <a:latin typeface="Helvetica" charset="0"/>
              </a:rPr>
              <a:t>Accessing SQL From a Programming Language</a:t>
            </a:r>
            <a:endParaRPr lang="en-US" altLang="zh-CN" sz="2800" dirty="0">
              <a:latin typeface="Helvetica" charset="0"/>
            </a:endParaRPr>
          </a:p>
          <a:p>
            <a:r>
              <a:rPr lang="en-US" altLang="zh-CN" sz="2800" dirty="0">
                <a:solidFill>
                  <a:srgbClr val="000099"/>
                </a:solidFill>
                <a:latin typeface="Helvetica" charset="0"/>
              </a:rPr>
              <a:t>Functions and Procedural Constructs</a:t>
            </a:r>
            <a:endParaRPr lang="en-US" altLang="zh-CN" sz="2800" dirty="0">
              <a:solidFill>
                <a:srgbClr val="000099"/>
              </a:solidFill>
              <a:latin typeface="Helvetica" charset="0"/>
            </a:endParaRPr>
          </a:p>
          <a:p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</a:rPr>
              <a:t>Triggers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charset="0"/>
            </a:endParaRPr>
          </a:p>
          <a:p>
            <a:r>
              <a:rPr lang="en-US" altLang="zh-CN" sz="28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Helvetica" charset="0"/>
              </a:rPr>
              <a:t>Recursive Queries</a:t>
            </a:r>
            <a:endParaRPr lang="en-US" altLang="zh-CN" sz="28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Helvetica" charset="0"/>
            </a:endParaRPr>
          </a:p>
          <a:p>
            <a:r>
              <a:rPr lang="en-US" altLang="zh-CN" sz="2800" dirty="0">
                <a:latin typeface="Helvetica" charset="0"/>
              </a:rPr>
              <a:t>Advanced Aggregation Features</a:t>
            </a:r>
            <a:endParaRPr lang="en-US" altLang="zh-CN" sz="2800" dirty="0">
              <a:latin typeface="Helvetica" charset="0"/>
            </a:endParaRPr>
          </a:p>
          <a:p>
            <a:r>
              <a:rPr lang="en-US" altLang="zh-CN" sz="2800" dirty="0">
                <a:latin typeface="Helvetica" charset="0"/>
              </a:rPr>
              <a:t>OLAP</a:t>
            </a:r>
            <a:endParaRPr lang="en-US" altLang="zh-CN" sz="2800" dirty="0">
              <a:latin typeface="Helvetica" charset="0"/>
            </a:endParaRPr>
          </a:p>
          <a:p>
            <a:endParaRPr lang="zh-CN" altLang="en-US" sz="2800" dirty="0">
              <a:latin typeface="Helvetica" charset="0"/>
            </a:endParaRPr>
          </a:p>
        </p:txBody>
      </p:sp>
      <p:sp>
        <p:nvSpPr>
          <p:cNvPr id="7171" name="Rectangle 4"/>
          <p:cNvSpPr/>
          <p:nvPr/>
        </p:nvSpPr>
        <p:spPr>
          <a:xfrm>
            <a:off x="1435100" y="-763587"/>
            <a:ext cx="184150" cy="33655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/>
          <a:p>
            <a:endParaRPr lang="zh-CN" altLang="en-US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4"/>
          <p:cNvSpPr>
            <a:spLocks noGrp="1" noChangeArrowheads="1"/>
          </p:cNvSpPr>
          <p:nvPr>
            <p:ph type="ctrTitle"/>
          </p:nvPr>
        </p:nvSpPr>
        <p:spPr>
          <a:xfrm>
            <a:off x="267970" y="2130425"/>
            <a:ext cx="8682990" cy="1470025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3600">
                <a:effectLst>
                  <a:outerShdw blurRad="38100" dist="38100" dir="2700000">
                    <a:srgbClr val="C0C0C0"/>
                  </a:outerShdw>
                </a:effectLst>
              </a:rPr>
              <a:t>Accessing SQL From a Programming Language</a:t>
            </a:r>
            <a:endParaRPr lang="en-IN" altLang="zh-CN" sz="3600">
              <a:effectLst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>
          <a:xfrm>
            <a:off x="768350" y="88265"/>
            <a:ext cx="8124825" cy="8763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2800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Accessing SQL From a Programming Language </a:t>
            </a:r>
            <a:endParaRPr lang="en-US" altLang="zh-CN" sz="2800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73025" y="1035685"/>
            <a:ext cx="8893810" cy="556069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API (application-program interface) for a program to interact with a database server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Application makes calls to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solidFill>
                  <a:srgbClr val="002060"/>
                </a:solidFill>
                <a:latin typeface="Helvetica" charset="0"/>
              </a:rPr>
              <a:t>Connect with the database server</a:t>
            </a:r>
            <a:endParaRPr lang="en-US" altLang="zh-CN" sz="2400" dirty="0">
              <a:solidFill>
                <a:srgbClr val="002060"/>
              </a:solidFill>
              <a:latin typeface="Helvetica" charset="0"/>
            </a:endParaRPr>
          </a:p>
          <a:p>
            <a:pPr lvl="1"/>
            <a:r>
              <a:rPr lang="en-US" altLang="zh-CN" sz="2400" dirty="0">
                <a:solidFill>
                  <a:srgbClr val="002060"/>
                </a:solidFill>
                <a:latin typeface="Helvetica" charset="0"/>
              </a:rPr>
              <a:t>Send SQL commands to the database server</a:t>
            </a:r>
            <a:endParaRPr lang="en-US" altLang="zh-CN" sz="2400" dirty="0">
              <a:solidFill>
                <a:srgbClr val="002060"/>
              </a:solidFill>
              <a:latin typeface="Helvetica" charset="0"/>
            </a:endParaRPr>
          </a:p>
          <a:p>
            <a:pPr lvl="1"/>
            <a:r>
              <a:rPr lang="en-US" altLang="zh-CN" sz="2400" dirty="0">
                <a:solidFill>
                  <a:srgbClr val="002060"/>
                </a:solidFill>
                <a:latin typeface="Helvetica" charset="0"/>
              </a:rPr>
              <a:t>Fetch tuples of result one-by-one into program variables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Various tools: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b="1" i="1" dirty="0">
                <a:solidFill>
                  <a:srgbClr val="C00000"/>
                </a:solidFill>
                <a:latin typeface="Helvetica" charset="0"/>
              </a:rPr>
              <a:t>JDBC</a:t>
            </a:r>
            <a:r>
              <a:rPr lang="en-US" altLang="zh-CN" sz="2400" dirty="0">
                <a:latin typeface="Helvetica" charset="0"/>
              </a:rPr>
              <a:t> (Java Database Connectivity) works with Java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b="1" i="1" dirty="0">
                <a:solidFill>
                  <a:srgbClr val="C00000"/>
                </a:solidFill>
                <a:latin typeface="Helvetica" charset="0"/>
              </a:rPr>
              <a:t>ODBC</a:t>
            </a:r>
            <a:r>
              <a:rPr lang="en-US" altLang="zh-CN" sz="2400" dirty="0">
                <a:latin typeface="Helvetica" charset="0"/>
              </a:rPr>
              <a:t> (Open Database Connectivity) works with C, C++, C#, and Visual Basic.  Other API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en-US" altLang="zh-CN" sz="2400" dirty="0">
                <a:latin typeface="Helvetica" charset="0"/>
              </a:rPr>
              <a:t>s such as ADO.NET sit on top of ODBC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b="1" i="1" dirty="0">
                <a:solidFill>
                  <a:srgbClr val="C00000"/>
                </a:solidFill>
                <a:latin typeface="Helvetica" charset="0"/>
              </a:rPr>
              <a:t>Embedded SQL</a:t>
            </a:r>
            <a:endParaRPr lang="en-US" altLang="zh-CN" sz="2400" b="1" i="1" dirty="0">
              <a:solidFill>
                <a:srgbClr val="C00000"/>
              </a:solidFill>
              <a:latin typeface="Helvetica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236855" y="826770"/>
            <a:ext cx="8357870" cy="5753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68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JDBC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134620" y="897890"/>
            <a:ext cx="8800465" cy="574294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JDBC</a:t>
            </a:r>
            <a:r>
              <a:rPr lang="en-US" altLang="zh-CN" sz="2400" dirty="0">
                <a:latin typeface="Helvetica" charset="0"/>
              </a:rPr>
              <a:t> is a Java API for communicating with database systems supporting SQL.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JDBC supports a variety of features for querying and updating data, and for retrieving query results.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JDBC also supports metadata retrieval, such as querying about relations present in the database and the names and types of relation attributes.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Model for communicating with the database: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Open a connection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Create a </a:t>
            </a:r>
            <a:r>
              <a:rPr lang="zh-CN" altLang="en-US" sz="2400" dirty="0">
                <a:latin typeface="Helvetica" charset="0"/>
              </a:rPr>
              <a:t>“</a:t>
            </a:r>
            <a:r>
              <a:rPr lang="en-US" altLang="zh-CN" sz="2400" dirty="0">
                <a:latin typeface="Helvetica" charset="0"/>
              </a:rPr>
              <a:t>statement</a:t>
            </a:r>
            <a:r>
              <a:rPr lang="zh-CN" altLang="en-US" sz="2400" dirty="0">
                <a:latin typeface="Helvetica" charset="0"/>
              </a:rPr>
              <a:t>”</a:t>
            </a:r>
            <a:r>
              <a:rPr lang="en-US" altLang="zh-CN" sz="2400" dirty="0">
                <a:latin typeface="Helvetica" charset="0"/>
              </a:rPr>
              <a:t> object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Execute queries using the Statement object to send queries and fetch results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Exception mechanism to handle errors</a:t>
            </a: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ODBC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5362" name="Rectangle 3"/>
          <p:cNvSpPr>
            <a:spLocks noGrp="1"/>
          </p:cNvSpPr>
          <p:nvPr>
            <p:ph type="body"/>
          </p:nvPr>
        </p:nvSpPr>
        <p:spPr>
          <a:xfrm>
            <a:off x="289560" y="1135380"/>
            <a:ext cx="8555990" cy="4876800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Open DataBase Connectivity (</a:t>
            </a:r>
            <a:r>
              <a:rPr lang="en-US" altLang="zh-CN" sz="2400" dirty="0">
                <a:solidFill>
                  <a:srgbClr val="C00000"/>
                </a:solidFill>
                <a:latin typeface="Helvetica" charset="0"/>
              </a:rPr>
              <a:t>ODBC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) standard </a:t>
            </a:r>
            <a:endParaRPr lang="en-US" altLang="zh-CN" sz="2400" dirty="0">
              <a:solidFill>
                <a:schemeClr val="tx1"/>
              </a:solidFill>
              <a:latin typeface="Helvetica" charset="0"/>
            </a:endParaRPr>
          </a:p>
          <a:p>
            <a:pPr marL="342900" lvl="1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C00000"/>
                </a:solidFill>
                <a:cs typeface="Arial" panose="020B0604020202020204"/>
              </a:rPr>
              <a:t>standar</a:t>
            </a:r>
            <a:r>
              <a:rPr lang="en-US" altLang="zh-CN" sz="2400" dirty="0">
                <a:solidFill>
                  <a:srgbClr val="C00000"/>
                </a:solidFill>
                <a:latin typeface="Helvetica" charset="0"/>
              </a:rPr>
              <a:t>d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 for application program to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communicate with 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a database server.</a:t>
            </a:r>
            <a:endParaRPr lang="en-US" altLang="zh-CN" sz="2400" dirty="0">
              <a:solidFill>
                <a:schemeClr val="tx1"/>
              </a:solidFill>
              <a:latin typeface="Helvetica" charset="0"/>
            </a:endParaRPr>
          </a:p>
          <a:p>
            <a:pPr marL="342900" lvl="1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application program interface (</a:t>
            </a:r>
            <a:r>
              <a:rPr lang="en-US" altLang="zh-CN" sz="2400" dirty="0">
                <a:solidFill>
                  <a:srgbClr val="C00000"/>
                </a:solidFill>
                <a:latin typeface="Helvetica" charset="0"/>
              </a:rPr>
              <a:t>API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) to </a:t>
            </a:r>
            <a:endParaRPr lang="en-US" altLang="zh-CN" sz="2400" dirty="0">
              <a:solidFill>
                <a:schemeClr val="tx1"/>
              </a:solidFill>
              <a:latin typeface="Helvetica" charset="0"/>
            </a:endParaRPr>
          </a:p>
          <a:p>
            <a:pPr marL="800100" lvl="5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open a connection with a database, 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 marL="800100" lvl="5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send queries and updates, 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 marL="800100" lvl="5" indent="-342900" algn="l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get back results.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Applications such as GUI, spreadsheets, etc. can use ODBC</a:t>
            </a:r>
            <a:endParaRPr lang="en-US" altLang="zh-CN" sz="2400" dirty="0">
              <a:solidFill>
                <a:schemeClr val="tx1"/>
              </a:solidFill>
              <a:latin typeface="Helvetica" charset="0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pitchFamily="2" charset="2"/>
              <a:buChar char="l"/>
            </a:pPr>
            <a:endParaRPr lang="en-US" altLang="zh-CN" sz="2400" dirty="0">
              <a:solidFill>
                <a:schemeClr val="tx1"/>
              </a:solidFill>
              <a:latin typeface="Helvetica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sz="4000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</a:t>
            </a:r>
            <a:endParaRPr lang="en-US" altLang="zh-CN" sz="4000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7410" name="Rectangle 3"/>
          <p:cNvSpPr>
            <a:spLocks noGrp="1"/>
          </p:cNvSpPr>
          <p:nvPr>
            <p:ph idx="1"/>
          </p:nvPr>
        </p:nvSpPr>
        <p:spPr>
          <a:xfrm>
            <a:off x="132715" y="1162050"/>
            <a:ext cx="8818245" cy="48768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The SQL standard defines embeddings of SQL in a variety of programming languages such as 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C, C++, Java, Fortran, and PL/1</a:t>
            </a:r>
            <a:r>
              <a:rPr lang="en-US" altLang="zh-CN" dirty="0">
                <a:latin typeface="Helvetica" charset="0"/>
              </a:rPr>
              <a:t>, 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A language to which SQL queries are embedded is referred to as a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host language</a:t>
            </a:r>
            <a:r>
              <a:rPr lang="en-US" altLang="zh-CN" dirty="0">
                <a:latin typeface="Helvetica" charset="0"/>
              </a:rPr>
              <a:t>, and the SQL structures permitted in the host language comprise </a:t>
            </a:r>
            <a:r>
              <a:rPr lang="en-US" altLang="zh-CN" i="1" dirty="0">
                <a:latin typeface="Helvetica" charset="0"/>
              </a:rPr>
              <a:t>embedded </a:t>
            </a:r>
            <a:r>
              <a:rPr lang="en-US" altLang="zh-CN" dirty="0">
                <a:latin typeface="Helvetica" charset="0"/>
              </a:rPr>
              <a:t>SQL.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The basic form of these languages follows that of the System R embedding of SQL into PL/1.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744855" algn="l"/>
              </a:tabLst>
            </a:pP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EXEC SQL</a:t>
            </a:r>
            <a:r>
              <a:rPr lang="en-US" altLang="zh-CN" dirty="0">
                <a:latin typeface="Helvetica" charset="0"/>
              </a:rPr>
              <a:t> statement is used to identify embedded SQL request to the preprocessor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 EXEC SQL &lt;embedded SQL statement &gt;;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Note:  this varies by language: </a:t>
            </a:r>
            <a:endParaRPr lang="en-US" altLang="zh-CN" dirty="0">
              <a:latin typeface="Helvetica" charset="0"/>
            </a:endParaRPr>
          </a:p>
          <a:p>
            <a:pPr lvl="1"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In some languages, like COBOL,  the semicolon is replaced with END-EXEC </a:t>
            </a:r>
            <a:endParaRPr lang="en-US" altLang="zh-CN" dirty="0">
              <a:latin typeface="Helvetica" charset="0"/>
            </a:endParaRPr>
          </a:p>
          <a:p>
            <a:pPr lvl="1"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In Java embedding uses    # SQL { …. };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endParaRPr lang="zh-CN" altLang="en-US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87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9458" name="Rectangle 3"/>
          <p:cNvSpPr>
            <a:spLocks noGrp="1"/>
          </p:cNvSpPr>
          <p:nvPr>
            <p:ph idx="1"/>
          </p:nvPr>
        </p:nvSpPr>
        <p:spPr>
          <a:xfrm>
            <a:off x="253218" y="1135063"/>
            <a:ext cx="8592331" cy="4876800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Before executing any SQL statements, the program must first connect to the database.  This is done using: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        EXEC-SQL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connect to  </a:t>
            </a:r>
            <a:r>
              <a:rPr lang="en-US" altLang="zh-CN" i="1" dirty="0">
                <a:solidFill>
                  <a:srgbClr val="000099"/>
                </a:solidFill>
                <a:latin typeface="Helvetica" charset="0"/>
              </a:rPr>
              <a:t>server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user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i="1" dirty="0">
                <a:solidFill>
                  <a:srgbClr val="000099"/>
                </a:solidFill>
                <a:latin typeface="Helvetica" charset="0"/>
              </a:rPr>
              <a:t>user-name </a:t>
            </a:r>
            <a:r>
              <a:rPr lang="en-US" altLang="zh-CN" b="1" dirty="0">
                <a:solidFill>
                  <a:srgbClr val="000099"/>
                </a:solidFill>
                <a:latin typeface="Helvetica" charset="0"/>
              </a:rPr>
              <a:t>using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 </a:t>
            </a:r>
            <a:r>
              <a:rPr lang="en-US" altLang="zh-CN" i="1" dirty="0">
                <a:solidFill>
                  <a:srgbClr val="000099"/>
                </a:solidFill>
                <a:latin typeface="Helvetica" charset="0"/>
              </a:rPr>
              <a:t>password</a:t>
            </a: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;</a:t>
            </a:r>
            <a:endParaRPr lang="en-US" altLang="zh-CN" dirty="0">
              <a:solidFill>
                <a:srgbClr val="000099"/>
              </a:solidFill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Here, </a:t>
            </a:r>
            <a:r>
              <a:rPr lang="en-US" altLang="zh-CN" i="1" dirty="0">
                <a:latin typeface="Helvetica" charset="0"/>
              </a:rPr>
              <a:t>server</a:t>
            </a:r>
            <a:r>
              <a:rPr lang="en-US" altLang="zh-CN" dirty="0">
                <a:latin typeface="Helvetica" charset="0"/>
              </a:rPr>
              <a:t> identifies the server to which a connection is to be established.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solidFill>
                  <a:srgbClr val="000099"/>
                </a:solidFill>
                <a:latin typeface="Helvetica" charset="0"/>
              </a:rPr>
              <a:t>Variables of the host language can be used within embedded SQL statements.  </a:t>
            </a:r>
            <a:endParaRPr lang="en-US" altLang="zh-CN" dirty="0">
              <a:solidFill>
                <a:srgbClr val="000099"/>
              </a:solidFill>
              <a:latin typeface="Helvetica" charset="0"/>
            </a:endParaRPr>
          </a:p>
          <a:p>
            <a:pPr lvl="1"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They are preceded  by a colon  (:) to distinguish from SQL variables (e.g.,  :</a:t>
            </a:r>
            <a:r>
              <a:rPr lang="en-US" altLang="zh-CN" i="1" dirty="0">
                <a:latin typeface="Helvetica" charset="0"/>
              </a:rPr>
              <a:t>credit_amount )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Variables used as above must be declared within DECLARE section, as illustrated below. The syntax for declaring the variables, however, follows the usual host language syntax.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EXEC-SQL BEGIN DECLARE SECTION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        int  </a:t>
            </a:r>
            <a:r>
              <a:rPr lang="en-US" altLang="zh-CN" i="1" dirty="0">
                <a:latin typeface="Helvetica" charset="0"/>
              </a:rPr>
              <a:t>credit-amount </a:t>
            </a:r>
            <a:r>
              <a:rPr lang="en-US" altLang="zh-CN" dirty="0">
                <a:latin typeface="Helvetica" charset="0"/>
              </a:rPr>
              <a:t>;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r>
              <a:rPr lang="en-US" altLang="zh-CN" dirty="0">
                <a:latin typeface="Helvetica" charset="0"/>
              </a:rPr>
              <a:t>              EXEC-SQL END DECLARE SECTION;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744855" algn="l"/>
              </a:tabLst>
            </a:pP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744855" algn="l"/>
              </a:tabLst>
            </a:pPr>
            <a:endParaRPr lang="en-US" altLang="zh-CN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336550" y="1162050"/>
            <a:ext cx="7877810" cy="4904105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0">
              <a:tabLst>
                <a:tab pos="3140075" algn="ctr"/>
              </a:tabLst>
            </a:pPr>
            <a:r>
              <a:rPr lang="en-US" altLang="zh-CN"/>
              <a:t>To write an embedded SQL query, we use the </a:t>
            </a:r>
            <a:endParaRPr lang="en-US" altLang="zh-CN"/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b="1"/>
              <a:t>             declare </a:t>
            </a:r>
            <a:r>
              <a:rPr lang="en-US" altLang="zh-CN" i="1"/>
              <a:t>c</a:t>
            </a:r>
            <a:r>
              <a:rPr lang="en-US" altLang="zh-CN" b="1"/>
              <a:t> cursor for  &lt;SQL query&gt; </a:t>
            </a:r>
            <a:endParaRPr lang="en-US" altLang="zh-CN" b="1"/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b="1"/>
              <a:t>      </a:t>
            </a:r>
            <a:r>
              <a:rPr lang="en-US" altLang="zh-CN"/>
              <a:t>statement.  The  variable </a:t>
            </a:r>
            <a:r>
              <a:rPr lang="en-US" altLang="zh-CN" i="1"/>
              <a:t>c</a:t>
            </a:r>
            <a:r>
              <a:rPr lang="en-US" altLang="zh-CN"/>
              <a:t>  is used to identify the query</a:t>
            </a:r>
            <a:endParaRPr lang="en-US" altLang="zh-CN"/>
          </a:p>
          <a:p>
            <a:pPr defTabSz="0">
              <a:tabLst>
                <a:tab pos="3140075" algn="ctr"/>
              </a:tabLst>
            </a:pPr>
            <a:r>
              <a:rPr lang="en-US" altLang="zh-CN"/>
              <a:t>Example:</a:t>
            </a:r>
            <a:endParaRPr lang="en-US" altLang="zh-CN"/>
          </a:p>
          <a:p>
            <a:pPr lvl="1" defTabSz="0">
              <a:tabLst>
                <a:tab pos="3140075" algn="ctr"/>
              </a:tabLst>
            </a:pPr>
            <a:r>
              <a:rPr lang="en-US" altLang="zh-CN"/>
              <a:t>From within a host language, find the ID and name of students who  have completed more than the number of credits stored in variable </a:t>
            </a:r>
            <a:r>
              <a:rPr lang="en-US" altLang="zh-CN" err="1">
                <a:solidFill>
                  <a:srgbClr val="993300"/>
                </a:solidFill>
              </a:rPr>
              <a:t>credit_amount</a:t>
            </a:r>
            <a:r>
              <a:rPr lang="en-US" altLang="zh-CN">
                <a:solidFill>
                  <a:srgbClr val="993300"/>
                </a:solidFill>
              </a:rPr>
              <a:t> </a:t>
            </a:r>
            <a:r>
              <a:rPr lang="en-US" altLang="zh-CN"/>
              <a:t>in the host langue</a:t>
            </a:r>
            <a:endParaRPr lang="en-US" altLang="zh-CN"/>
          </a:p>
          <a:p>
            <a:pPr lvl="1" defTabSz="0">
              <a:tabLst>
                <a:tab pos="3140075" algn="ctr"/>
              </a:tabLst>
            </a:pPr>
            <a:r>
              <a:rPr lang="en-US" altLang="zh-CN"/>
              <a:t>Specify the query in SQL as follows:</a:t>
            </a:r>
            <a:endParaRPr lang="en-US" altLang="zh-CN"/>
          </a:p>
          <a:p>
            <a:pPr lvl="1" defTabSz="0">
              <a:buNone/>
              <a:tabLst>
                <a:tab pos="3140075" algn="ctr"/>
              </a:tabLst>
            </a:pPr>
            <a:r>
              <a:rPr lang="en-US" altLang="zh-CN"/>
              <a:t>            </a:t>
            </a:r>
            <a:r>
              <a:rPr lang="en-US" altLang="zh-CN">
                <a:solidFill>
                  <a:srgbClr val="993300"/>
                </a:solidFill>
              </a:rPr>
              <a:t>EXEC SQL</a:t>
            </a:r>
            <a:endParaRPr lang="en-US" altLang="zh-CN">
              <a:solidFill>
                <a:srgbClr val="993300"/>
              </a:solidFill>
            </a:endParaRPr>
          </a:p>
          <a:p>
            <a:pPr lvl="1"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	           </a:t>
            </a:r>
            <a:r>
              <a:rPr lang="en-US" altLang="zh-CN" b="1">
                <a:solidFill>
                  <a:srgbClr val="993300"/>
                </a:solidFill>
              </a:rPr>
              <a:t>declare </a:t>
            </a:r>
            <a:r>
              <a:rPr lang="en-US" altLang="zh-CN" i="1">
                <a:solidFill>
                  <a:srgbClr val="993300"/>
                </a:solidFill>
              </a:rPr>
              <a:t>c</a:t>
            </a:r>
            <a:r>
              <a:rPr lang="en-US" altLang="zh-CN" b="1">
                <a:solidFill>
                  <a:srgbClr val="993300"/>
                </a:solidFill>
              </a:rPr>
              <a:t> cursor for </a:t>
            </a:r>
            <a:br>
              <a:rPr lang="en-US" altLang="zh-CN" b="1">
                <a:solidFill>
                  <a:srgbClr val="993300"/>
                </a:solidFill>
              </a:rPr>
            </a:br>
            <a:r>
              <a:rPr lang="en-US" altLang="zh-CN" b="1">
                <a:solidFill>
                  <a:srgbClr val="993300"/>
                </a:solidFill>
              </a:rPr>
              <a:t>           select </a:t>
            </a:r>
            <a:r>
              <a:rPr lang="en-US" altLang="zh-CN" i="1">
                <a:solidFill>
                  <a:srgbClr val="993300"/>
                </a:solidFill>
              </a:rPr>
              <a:t>ID, name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from </a:t>
            </a:r>
            <a:r>
              <a:rPr lang="en-US" altLang="zh-CN" i="1">
                <a:solidFill>
                  <a:srgbClr val="993300"/>
                </a:solidFill>
              </a:rPr>
              <a:t>student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where </a:t>
            </a:r>
            <a:r>
              <a:rPr lang="en-US" altLang="zh-CN" b="1" err="1">
                <a:solidFill>
                  <a:srgbClr val="993300"/>
                </a:solidFill>
              </a:rPr>
              <a:t>tot_cred</a:t>
            </a:r>
            <a:r>
              <a:rPr lang="en-US" altLang="zh-CN" i="1">
                <a:solidFill>
                  <a:srgbClr val="993300"/>
                </a:solidFill>
              </a:rPr>
              <a:t> &gt; :</a:t>
            </a:r>
            <a:r>
              <a:rPr lang="en-US" altLang="zh-CN" i="1" err="1">
                <a:solidFill>
                  <a:srgbClr val="993300"/>
                </a:solidFill>
              </a:rPr>
              <a:t>credit_amount</a:t>
            </a:r>
            <a:endParaRPr lang="en-US" altLang="zh-CN" i="1">
              <a:solidFill>
                <a:srgbClr val="993300"/>
              </a:solidFill>
            </a:endParaRPr>
          </a:p>
          <a:p>
            <a:pPr lvl="1"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             END_EXEC</a:t>
            </a:r>
            <a:endParaRPr lang="en-US" altLang="zh-CN"/>
          </a:p>
          <a:p>
            <a:pPr defTabSz="0">
              <a:buNone/>
              <a:tabLst>
                <a:tab pos="3140075" algn="ctr"/>
              </a:tabLst>
            </a:pPr>
            <a:endParaRPr lang="en-US" altLang="zh-CN"/>
          </a:p>
          <a:p>
            <a:pPr defTabSz="0">
              <a:tabLst>
                <a:tab pos="3140075" algn="ctr"/>
              </a:tabLst>
            </a:pPr>
            <a:endParaRPr lang="en-US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1217613" y="1162050"/>
            <a:ext cx="6996113" cy="4903788"/>
          </a:xfrm>
        </p:spPr>
        <p:txBody>
          <a:bodyPr vert="horz" wrap="square" lIns="91440" tIns="45720" rIns="91440" bIns="45720" numCol="1" anchor="t" anchorCtr="0" compatLnSpc="1"/>
          <a:lstStyle/>
          <a:p>
            <a:pPr defTabSz="0">
              <a:tabLst>
                <a:tab pos="3140075" algn="ctr"/>
              </a:tabLst>
            </a:pPr>
            <a:r>
              <a:rPr lang="en-US" altLang="zh-CN"/>
              <a:t>Example:</a:t>
            </a:r>
            <a:endParaRPr lang="en-US" altLang="zh-CN"/>
          </a:p>
          <a:p>
            <a:pPr lvl="1" defTabSz="0">
              <a:tabLst>
                <a:tab pos="3140075" algn="ctr"/>
              </a:tabLst>
            </a:pPr>
            <a:r>
              <a:rPr lang="en-US" altLang="zh-CN"/>
              <a:t>From within a host language, find the ID and name of students who  have completed more than the number of credits stored in variable </a:t>
            </a:r>
            <a:r>
              <a:rPr lang="en-US" altLang="zh-CN" err="1">
                <a:solidFill>
                  <a:srgbClr val="993300"/>
                </a:solidFill>
              </a:rPr>
              <a:t>credit_amount</a:t>
            </a:r>
            <a:r>
              <a:rPr lang="en-US" altLang="zh-CN">
                <a:solidFill>
                  <a:srgbClr val="993300"/>
                </a:solidFill>
              </a:rPr>
              <a:t> </a:t>
            </a:r>
            <a:r>
              <a:rPr lang="en-US" altLang="zh-CN"/>
              <a:t>in the host langue</a:t>
            </a:r>
            <a:endParaRPr lang="en-US" altLang="zh-CN"/>
          </a:p>
          <a:p>
            <a:pPr defTabSz="0">
              <a:tabLst>
                <a:tab pos="3140075" algn="ctr"/>
              </a:tabLst>
            </a:pPr>
            <a:r>
              <a:rPr lang="en-US" altLang="zh-CN"/>
              <a:t>Specify the query in SQL as follows:</a:t>
            </a:r>
            <a:endParaRPr lang="en-US" altLang="zh-CN"/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/>
              <a:t>            </a:t>
            </a:r>
            <a:r>
              <a:rPr lang="en-US" altLang="zh-CN">
                <a:solidFill>
                  <a:srgbClr val="993300"/>
                </a:solidFill>
              </a:rPr>
              <a:t>EXEC SQL</a:t>
            </a:r>
            <a:endParaRPr lang="en-US" altLang="zh-CN">
              <a:solidFill>
                <a:srgbClr val="993300"/>
              </a:solidFill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	           </a:t>
            </a:r>
            <a:r>
              <a:rPr lang="en-US" altLang="zh-CN" b="1">
                <a:solidFill>
                  <a:srgbClr val="993300"/>
                </a:solidFill>
              </a:rPr>
              <a:t>declare </a:t>
            </a:r>
            <a:r>
              <a:rPr lang="en-US" altLang="zh-CN" i="1">
                <a:solidFill>
                  <a:srgbClr val="993300"/>
                </a:solidFill>
              </a:rPr>
              <a:t>c</a:t>
            </a:r>
            <a:r>
              <a:rPr lang="en-US" altLang="zh-CN" b="1">
                <a:solidFill>
                  <a:srgbClr val="993300"/>
                </a:solidFill>
              </a:rPr>
              <a:t> cursor for </a:t>
            </a:r>
            <a:br>
              <a:rPr lang="en-US" altLang="zh-CN" b="1">
                <a:solidFill>
                  <a:srgbClr val="993300"/>
                </a:solidFill>
              </a:rPr>
            </a:br>
            <a:r>
              <a:rPr lang="en-US" altLang="zh-CN" b="1">
                <a:solidFill>
                  <a:srgbClr val="993300"/>
                </a:solidFill>
              </a:rPr>
              <a:t>           select </a:t>
            </a:r>
            <a:r>
              <a:rPr lang="en-US" altLang="zh-CN" i="1">
                <a:solidFill>
                  <a:srgbClr val="993300"/>
                </a:solidFill>
              </a:rPr>
              <a:t>ID, name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from </a:t>
            </a:r>
            <a:r>
              <a:rPr lang="en-US" altLang="zh-CN" i="1">
                <a:solidFill>
                  <a:srgbClr val="993300"/>
                </a:solidFill>
              </a:rPr>
              <a:t>student</a:t>
            </a:r>
            <a:br>
              <a:rPr lang="en-US" altLang="zh-CN" i="1">
                <a:solidFill>
                  <a:srgbClr val="993300"/>
                </a:solidFill>
              </a:rPr>
            </a:br>
            <a:r>
              <a:rPr lang="en-US" altLang="zh-CN" i="1">
                <a:solidFill>
                  <a:srgbClr val="993300"/>
                </a:solidFill>
              </a:rPr>
              <a:t>           </a:t>
            </a:r>
            <a:r>
              <a:rPr lang="en-US" altLang="zh-CN" b="1">
                <a:solidFill>
                  <a:srgbClr val="993300"/>
                </a:solidFill>
              </a:rPr>
              <a:t>where </a:t>
            </a:r>
            <a:r>
              <a:rPr lang="en-US" altLang="zh-CN" b="1" err="1">
                <a:solidFill>
                  <a:srgbClr val="993300"/>
                </a:solidFill>
              </a:rPr>
              <a:t>tot_cred</a:t>
            </a:r>
            <a:r>
              <a:rPr lang="en-US" altLang="zh-CN" i="1">
                <a:solidFill>
                  <a:srgbClr val="993300"/>
                </a:solidFill>
              </a:rPr>
              <a:t> &gt; :</a:t>
            </a:r>
            <a:r>
              <a:rPr lang="en-US" altLang="zh-CN" i="1" err="1">
                <a:solidFill>
                  <a:srgbClr val="993300"/>
                </a:solidFill>
              </a:rPr>
              <a:t>credit_amount</a:t>
            </a:r>
            <a:endParaRPr lang="en-US" altLang="zh-CN" i="1">
              <a:solidFill>
                <a:srgbClr val="993300"/>
              </a:solidFill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>
                <a:solidFill>
                  <a:srgbClr val="993300"/>
                </a:solidFill>
              </a:rPr>
              <a:t>             END_EXEC</a:t>
            </a:r>
            <a:endParaRPr lang="en-US" altLang="zh-CN"/>
          </a:p>
          <a:p>
            <a:pPr defTabSz="0">
              <a:tabLst>
                <a:tab pos="3140075" algn="ctr"/>
              </a:tabLst>
            </a:pPr>
            <a:r>
              <a:rPr lang="en-US" altLang="zh-CN"/>
              <a:t>The  variable </a:t>
            </a:r>
            <a:r>
              <a:rPr lang="en-US" altLang="zh-CN" i="1"/>
              <a:t>c</a:t>
            </a:r>
            <a:r>
              <a:rPr lang="en-US" altLang="zh-CN"/>
              <a:t> (used in the cursor declaration) is used to identify the query</a:t>
            </a:r>
            <a:endParaRPr lang="en-US" altLang="zh-CN"/>
          </a:p>
          <a:p>
            <a:pPr defTabSz="0">
              <a:tabLst>
                <a:tab pos="3140075" algn="ctr"/>
              </a:tabLst>
            </a:pPr>
            <a:endParaRPr lang="en-US" altLang="zh-CN"/>
          </a:p>
          <a:p>
            <a:pPr defTabSz="0">
              <a:tabLst>
                <a:tab pos="3140075" algn="ctr"/>
              </a:tabLst>
            </a:pPr>
            <a:endParaRPr lang="en-US" altLang="zh-CN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25602" name="Rectangle 3"/>
          <p:cNvSpPr>
            <a:spLocks noGrp="1"/>
          </p:cNvSpPr>
          <p:nvPr>
            <p:ph idx="1"/>
          </p:nvPr>
        </p:nvSpPr>
        <p:spPr>
          <a:xfrm>
            <a:off x="649288" y="1135063"/>
            <a:ext cx="7497762" cy="4903787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The</a:t>
            </a:r>
            <a:r>
              <a:rPr lang="en-US" altLang="zh-CN" sz="2000" b="1" dirty="0">
                <a:solidFill>
                  <a:schemeClr val="tx2"/>
                </a:solidFill>
                <a:latin typeface="Helvetica" charset="0"/>
              </a:rPr>
              <a:t> </a:t>
            </a:r>
            <a:r>
              <a:rPr lang="en-US" altLang="zh-CN" sz="2000" dirty="0">
                <a:solidFill>
                  <a:srgbClr val="000099"/>
                </a:solidFill>
                <a:latin typeface="Helvetica" charset="0"/>
              </a:rPr>
              <a:t>open</a:t>
            </a:r>
            <a:r>
              <a:rPr lang="en-US" altLang="zh-CN" sz="2000" dirty="0">
                <a:latin typeface="Helvetica" charset="0"/>
              </a:rPr>
              <a:t> </a:t>
            </a:r>
            <a:r>
              <a:rPr lang="en-US" altLang="zh-CN" dirty="0">
                <a:latin typeface="Helvetica" charset="0"/>
              </a:rPr>
              <a:t>statement for our example is as follows: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latin typeface="Helvetica" charset="0"/>
              </a:rPr>
              <a:t>		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EXEC SQL 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open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c</a:t>
            </a:r>
            <a:r>
              <a:rPr lang="en-US" altLang="zh-CN" sz="2000" b="1" i="1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;</a:t>
            </a:r>
            <a:endParaRPr lang="en-US" altLang="zh-CN" sz="2000" dirty="0">
              <a:solidFill>
                <a:srgbClr val="993300"/>
              </a:solidFill>
              <a:latin typeface="Helvetica" charset="0"/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     </a:t>
            </a:r>
            <a:r>
              <a:rPr lang="en-US" altLang="zh-CN" dirty="0">
                <a:latin typeface="Helvetica" charset="0"/>
              </a:rPr>
              <a:t>This statement causes the database system to execute the query and  to save the results within a temporary relation.  The query uses the value of the host-language variable </a:t>
            </a:r>
            <a:r>
              <a:rPr lang="en-US" altLang="zh-CN" i="1" dirty="0">
                <a:latin typeface="Helvetica" charset="0"/>
              </a:rPr>
              <a:t>credit-amount</a:t>
            </a:r>
            <a:r>
              <a:rPr lang="en-US" altLang="zh-CN" dirty="0">
                <a:latin typeface="Helvetica" charset="0"/>
              </a:rPr>
              <a:t> at the time the </a:t>
            </a:r>
            <a:r>
              <a:rPr lang="en-US" altLang="zh-CN" b="1" dirty="0">
                <a:latin typeface="Helvetica" charset="0"/>
              </a:rPr>
              <a:t>open</a:t>
            </a:r>
            <a:r>
              <a:rPr lang="en-US" altLang="zh-CN" dirty="0">
                <a:latin typeface="Helvetica" charset="0"/>
              </a:rPr>
              <a:t> statement is executed</a:t>
            </a:r>
            <a:r>
              <a:rPr lang="en-US" altLang="zh-CN" sz="2000" dirty="0">
                <a:latin typeface="Helvetica" charset="0"/>
              </a:rPr>
              <a:t>.</a:t>
            </a:r>
            <a:endParaRPr lang="en-US" altLang="zh-CN" sz="2000" dirty="0">
              <a:solidFill>
                <a:srgbClr val="993300"/>
              </a:solidFill>
              <a:latin typeface="Helvetica" charset="0"/>
            </a:endParaRPr>
          </a:p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The fetch statement causes the values of one tuple in the query result to be placed on host language variables.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latin typeface="Helvetica" charset="0"/>
              </a:rPr>
              <a:t>		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EXEC SQL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 fetch 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c 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into 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: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si, :sn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END_EXEC</a:t>
            </a:r>
            <a:endParaRPr lang="en-US" altLang="zh-CN" sz="2000" dirty="0">
              <a:solidFill>
                <a:srgbClr val="993300"/>
              </a:solidFill>
              <a:latin typeface="Helvetica" charset="0"/>
            </a:endParaRPr>
          </a:p>
          <a:p>
            <a:pPr defTabSz="0">
              <a:buNone/>
              <a:tabLst>
                <a:tab pos="3140075" algn="ctr"/>
              </a:tabLst>
            </a:pPr>
            <a:br>
              <a:rPr lang="en-US" altLang="zh-CN" sz="20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dirty="0">
                <a:latin typeface="Helvetica" charset="0"/>
              </a:rPr>
              <a:t>Repeated calls to fetch get successive tuples in the query result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3140075" algn="ctr"/>
              </a:tabLst>
            </a:pPr>
            <a:endParaRPr lang="en-US" altLang="zh-CN" sz="2000" dirty="0">
              <a:latin typeface="Helvetica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97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Embedded SQL (Cont.)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649288" y="1135063"/>
            <a:ext cx="7458075" cy="4903787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A variable called SQLSTATE in the SQL communication area (SQLCA) gets set to </a:t>
            </a:r>
            <a:r>
              <a:rPr lang="zh-CN" altLang="en-US" dirty="0">
                <a:latin typeface="Helvetica" charset="0"/>
              </a:rPr>
              <a:t>‘</a:t>
            </a:r>
            <a:r>
              <a:rPr lang="en-US" altLang="zh-CN" dirty="0">
                <a:latin typeface="Helvetica" charset="0"/>
              </a:rPr>
              <a:t>02000</a:t>
            </a:r>
            <a:r>
              <a:rPr lang="zh-CN" altLang="en-US" dirty="0">
                <a:latin typeface="Helvetica" charset="0"/>
              </a:rPr>
              <a:t>’</a:t>
            </a:r>
            <a:r>
              <a:rPr lang="en-US" altLang="zh-CN" dirty="0">
                <a:latin typeface="Helvetica" charset="0"/>
              </a:rPr>
              <a:t> to indicate no more data is available</a:t>
            </a:r>
            <a:endParaRPr lang="en-US" altLang="zh-CN" dirty="0">
              <a:latin typeface="Helvetica" charset="0"/>
            </a:endParaRPr>
          </a:p>
          <a:p>
            <a:pPr defTabSz="0"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The </a:t>
            </a:r>
            <a:r>
              <a:rPr lang="en-US" altLang="zh-CN" b="1" dirty="0">
                <a:latin typeface="Helvetica" charset="0"/>
              </a:rPr>
              <a:t>close</a:t>
            </a:r>
            <a:r>
              <a:rPr lang="en-US" altLang="zh-CN" dirty="0">
                <a:latin typeface="Helvetica" charset="0"/>
              </a:rPr>
              <a:t> statement causes the database system to delete the temporary relation that holds the result of the query.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sz="2000" dirty="0">
                <a:latin typeface="Helvetica" charset="0"/>
              </a:rPr>
              <a:t>		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EXEC SQL </a:t>
            </a:r>
            <a:r>
              <a:rPr lang="en-US" altLang="zh-CN" sz="2000" b="1" dirty="0">
                <a:solidFill>
                  <a:srgbClr val="993300"/>
                </a:solidFill>
                <a:latin typeface="Helvetica" charset="0"/>
              </a:rPr>
              <a:t>close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2000" i="1" dirty="0">
                <a:solidFill>
                  <a:srgbClr val="993300"/>
                </a:solidFill>
                <a:latin typeface="Helvetica" charset="0"/>
              </a:rPr>
              <a:t>c</a:t>
            </a:r>
            <a:r>
              <a:rPr lang="en-US" altLang="zh-CN" sz="2000" dirty="0">
                <a:solidFill>
                  <a:srgbClr val="993300"/>
                </a:solidFill>
                <a:latin typeface="Helvetica" charset="0"/>
              </a:rPr>
              <a:t> ;</a:t>
            </a:r>
            <a:endParaRPr lang="en-US" altLang="zh-CN" sz="2000" dirty="0">
              <a:solidFill>
                <a:srgbClr val="993300"/>
              </a:solidFill>
              <a:latin typeface="Helvetica" charset="0"/>
            </a:endParaRPr>
          </a:p>
          <a:p>
            <a:pPr defTabSz="0">
              <a:buNone/>
              <a:tabLst>
                <a:tab pos="3140075" algn="ctr"/>
              </a:tabLst>
            </a:pPr>
            <a:r>
              <a:rPr lang="en-US" altLang="zh-CN" dirty="0">
                <a:latin typeface="Helvetica" charset="0"/>
              </a:rPr>
              <a:t>     Note: above details vary with language.  For example, the Java              embedding defines Java iterators to step through result tuples</a:t>
            </a:r>
            <a:r>
              <a:rPr lang="en-US" altLang="zh-CN" sz="2000" dirty="0">
                <a:latin typeface="Helvetica" charset="0"/>
              </a:rPr>
              <a:t>.</a:t>
            </a:r>
            <a:endParaRPr lang="en-US" altLang="zh-CN" sz="2000" dirty="0">
              <a:latin typeface="Helvetica" charset="0"/>
            </a:endParaRPr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01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Updates Through Embedded SQL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29698" name="Rectangle 3"/>
          <p:cNvSpPr/>
          <p:nvPr/>
        </p:nvSpPr>
        <p:spPr>
          <a:xfrm>
            <a:off x="841375" y="1135063"/>
            <a:ext cx="7848600" cy="4876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0075" algn="ctr"/>
              </a:tabLst>
            </a:pPr>
            <a:r>
              <a:rPr lang="en-US" altLang="zh-CN" sz="1800" dirty="0">
                <a:latin typeface="Helvetica" charset="0"/>
              </a:rPr>
              <a:t>Embedded SQL expressions for database modification (</a:t>
            </a:r>
            <a:r>
              <a:rPr lang="en-US" altLang="zh-CN" sz="1800" b="1" dirty="0">
                <a:latin typeface="Helvetica" charset="0"/>
              </a:rPr>
              <a:t>update</a:t>
            </a:r>
            <a:r>
              <a:rPr lang="en-US" altLang="zh-CN" sz="1800" dirty="0">
                <a:latin typeface="Helvetica" charset="0"/>
              </a:rPr>
              <a:t>, </a:t>
            </a:r>
            <a:r>
              <a:rPr lang="en-US" altLang="zh-CN" sz="1800" b="1" dirty="0">
                <a:latin typeface="Helvetica" charset="0"/>
              </a:rPr>
              <a:t>insert</a:t>
            </a:r>
            <a:r>
              <a:rPr lang="en-US" altLang="zh-CN" sz="1800" dirty="0">
                <a:latin typeface="Helvetica" charset="0"/>
              </a:rPr>
              <a:t>, and </a:t>
            </a:r>
            <a:r>
              <a:rPr lang="en-US" altLang="zh-CN" sz="1800" b="1" dirty="0">
                <a:latin typeface="Helvetica" charset="0"/>
              </a:rPr>
              <a:t>delete</a:t>
            </a:r>
            <a:r>
              <a:rPr lang="en-US" altLang="zh-CN" sz="1800" dirty="0">
                <a:latin typeface="Helvetica" charset="0"/>
              </a:rPr>
              <a:t>) </a:t>
            </a:r>
            <a:endParaRPr lang="en-US" altLang="zh-CN" sz="1800" dirty="0">
              <a:latin typeface="Helvetica" charset="0"/>
            </a:endParaRP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0075" algn="ctr"/>
              </a:tabLst>
            </a:pPr>
            <a:r>
              <a:rPr lang="en-US" altLang="zh-CN" sz="1800" dirty="0">
                <a:latin typeface="Helvetica" charset="0"/>
              </a:rPr>
              <a:t>Can update tuples fetched by cursor by declaring that the cursor is for update</a:t>
            </a:r>
            <a:endParaRPr lang="en-US" altLang="zh-CN" sz="1800" dirty="0">
              <a:latin typeface="Helvetica" charset="0"/>
            </a:endParaRP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tabLst>
                <a:tab pos="3140075" algn="ctr"/>
              </a:tabLst>
            </a:pPr>
            <a:r>
              <a:rPr lang="en-US" altLang="zh-CN" sz="1800" b="1" dirty="0">
                <a:latin typeface="Helvetica" charset="0"/>
              </a:rPr>
              <a:t>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EXEC SQL </a:t>
            </a:r>
            <a:endParaRPr lang="en-US" altLang="zh-CN" sz="1800" b="1" dirty="0">
              <a:solidFill>
                <a:srgbClr val="993300"/>
              </a:solidFill>
              <a:latin typeface="Helvetica" charset="0"/>
            </a:endParaRP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tabLst>
                <a:tab pos="3140075" algn="ctr"/>
              </a:tabLst>
            </a:pP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                  declare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c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cursor for</a:t>
            </a:r>
            <a:b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             select 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*</a:t>
            </a:r>
            <a:br>
              <a:rPr lang="en-US" altLang="zh-CN" sz="18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from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instructor</a:t>
            </a:r>
            <a:b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where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dept_name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= </a:t>
            </a:r>
            <a:r>
              <a:rPr lang="zh-CN" altLang="en-US" sz="1800" dirty="0">
                <a:solidFill>
                  <a:srgbClr val="993300"/>
                </a:solidFill>
                <a:latin typeface="Helvetica" charset="0"/>
              </a:rPr>
              <a:t>‘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Music</a:t>
            </a:r>
            <a:r>
              <a:rPr lang="zh-CN" altLang="en-US" sz="1800" dirty="0">
                <a:solidFill>
                  <a:srgbClr val="993300"/>
                </a:solidFill>
                <a:latin typeface="Helvetica" charset="0"/>
              </a:rPr>
              <a:t>’</a:t>
            </a:r>
            <a:br>
              <a:rPr lang="en-US" altLang="zh-CN" sz="18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for update</a:t>
            </a:r>
            <a:endParaRPr lang="en-US" altLang="zh-CN" sz="1800" b="1" dirty="0">
              <a:solidFill>
                <a:srgbClr val="993300"/>
              </a:solidFill>
              <a:latin typeface="Helvetica" charset="0"/>
            </a:endParaRP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Char char="n"/>
              <a:tabLst>
                <a:tab pos="3140075" algn="ctr"/>
              </a:tabLst>
            </a:pPr>
            <a:r>
              <a:rPr lang="en-US" altLang="zh-CN" sz="1800" dirty="0">
                <a:latin typeface="Helvetica" charset="0"/>
              </a:rPr>
              <a:t>We then iterate through the tuples by performing  </a:t>
            </a:r>
            <a:r>
              <a:rPr lang="en-US" altLang="zh-CN" sz="1800" b="1" dirty="0">
                <a:latin typeface="Helvetica" charset="0"/>
              </a:rPr>
              <a:t>fetch</a:t>
            </a:r>
            <a:r>
              <a:rPr lang="en-US" altLang="zh-CN" sz="1800" dirty="0">
                <a:latin typeface="Helvetica" charset="0"/>
              </a:rPr>
              <a:t> operations on the cursor (as illustrated earlier), and after fetching each tuple we execute the following code:</a:t>
            </a:r>
            <a:endParaRPr lang="en-US" altLang="zh-CN" sz="1800" dirty="0">
              <a:latin typeface="Helvetica" charset="0"/>
            </a:endParaRPr>
          </a:p>
          <a:p>
            <a:pPr marL="342900" indent="-342900" defTabSz="0">
              <a:spcBef>
                <a:spcPct val="35000"/>
              </a:spcBef>
              <a:buClr>
                <a:schemeClr val="tx2"/>
              </a:buClr>
              <a:buSzPct val="90000"/>
              <a:tabLst>
                <a:tab pos="3140075" algn="ctr"/>
              </a:tabLst>
            </a:pP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                  update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instructor</a:t>
            </a:r>
            <a:b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set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salary = salary</a:t>
            </a: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+ 1000</a:t>
            </a:r>
            <a:br>
              <a:rPr lang="en-US" altLang="zh-CN" sz="1800" dirty="0">
                <a:solidFill>
                  <a:srgbClr val="993300"/>
                </a:solidFill>
                <a:latin typeface="Helvetica" charset="0"/>
              </a:rPr>
            </a:br>
            <a:r>
              <a:rPr lang="en-US" altLang="zh-CN" sz="1800" dirty="0">
                <a:solidFill>
                  <a:srgbClr val="993300"/>
                </a:solidFill>
                <a:latin typeface="Helvetica" charset="0"/>
              </a:rPr>
              <a:t>             </a:t>
            </a:r>
            <a:r>
              <a:rPr lang="en-US" altLang="zh-CN" sz="1800" b="1" dirty="0">
                <a:solidFill>
                  <a:srgbClr val="993300"/>
                </a:solidFill>
                <a:latin typeface="Helvetica" charset="0"/>
              </a:rPr>
              <a:t>where current of </a:t>
            </a:r>
            <a:r>
              <a:rPr lang="en-US" altLang="zh-CN" sz="1800" i="1" dirty="0">
                <a:solidFill>
                  <a:srgbClr val="993300"/>
                </a:solidFill>
                <a:latin typeface="Helvetica" charset="0"/>
              </a:rPr>
              <a:t>c</a:t>
            </a:r>
            <a:endParaRPr lang="en-US" altLang="zh-CN" sz="1800" i="1" dirty="0">
              <a:solidFill>
                <a:srgbClr val="993300"/>
              </a:solidFill>
              <a:latin typeface="Helvetica" charset="0"/>
            </a:endParaRPr>
          </a:p>
          <a:p>
            <a:pPr marL="342900" indent="-342900" defTabSz="0">
              <a:lnSpc>
                <a:spcPct val="70000"/>
              </a:lnSpc>
              <a:spcBef>
                <a:spcPct val="35000"/>
              </a:spcBef>
              <a:buClr>
                <a:schemeClr val="tx2"/>
              </a:buClr>
              <a:buSzPct val="90000"/>
              <a:buFont typeface="Monotype Sorts" charset="2"/>
              <a:buNone/>
              <a:tabLst>
                <a:tab pos="3140075" algn="ctr"/>
              </a:tabLst>
            </a:pPr>
            <a:endParaRPr lang="zh-CN" altLang="en-US" sz="1800" dirty="0">
              <a:solidFill>
                <a:srgbClr val="993300"/>
              </a:solidFill>
              <a:latin typeface="Helvetica" charset="0"/>
            </a:endParaRP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4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zh-CN" altLang="zh-CN" dirty="0">
                <a:effectLst/>
                <a:latin typeface="Helvetica" charset="0"/>
              </a:rPr>
              <a:t>Extensions to SQL</a:t>
            </a:r>
            <a:endParaRPr lang="zh-CN" altLang="zh-CN" dirty="0"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18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Functions and Procedures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33794" name="Rectangle 3"/>
          <p:cNvSpPr>
            <a:spLocks noGrp="1"/>
          </p:cNvSpPr>
          <p:nvPr>
            <p:ph idx="1"/>
          </p:nvPr>
        </p:nvSpPr>
        <p:spPr>
          <a:xfrm>
            <a:off x="170180" y="930910"/>
            <a:ext cx="8803005" cy="553402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SQL:1999 supports functions and procedures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000" b="1" dirty="0">
                <a:solidFill>
                  <a:srgbClr val="002060"/>
                </a:solidFill>
                <a:latin typeface="Helvetica" charset="0"/>
              </a:rPr>
              <a:t>Functions/procedures can be written in SQL itself, or in an external programming language (e.g., C, Java).</a:t>
            </a:r>
            <a:endParaRPr lang="en-US" altLang="zh-CN" sz="2000" b="1" dirty="0">
              <a:solidFill>
                <a:srgbClr val="002060"/>
              </a:solidFill>
              <a:latin typeface="Helvetica" charset="0"/>
            </a:endParaRPr>
          </a:p>
          <a:p>
            <a:pPr lvl="1"/>
            <a:r>
              <a:rPr lang="en-US" altLang="zh-CN" sz="2000" dirty="0">
                <a:latin typeface="Helvetica" charset="0"/>
              </a:rPr>
              <a:t>Functions written in an external languages are particularly useful with specialized data types such as images and geometric objects.</a:t>
            </a:r>
            <a:endParaRPr lang="en-US" altLang="zh-CN" sz="2000" dirty="0">
              <a:latin typeface="Helvetica" charset="0"/>
            </a:endParaRPr>
          </a:p>
          <a:p>
            <a:pPr lvl="2"/>
            <a:r>
              <a:rPr lang="en-US" altLang="zh-CN" sz="2000" dirty="0">
                <a:latin typeface="Helvetica" charset="0"/>
              </a:rPr>
              <a:t>Example: functions to check if polygons overlap, or to compare images for similarity.</a:t>
            </a:r>
            <a:endParaRPr lang="en-US" altLang="zh-CN" sz="2000" dirty="0">
              <a:latin typeface="Helvetica" charset="0"/>
            </a:endParaRPr>
          </a:p>
          <a:p>
            <a:pPr lvl="1"/>
            <a:r>
              <a:rPr lang="en-US" altLang="zh-CN" sz="2000" dirty="0">
                <a:latin typeface="Helvetica" charset="0"/>
              </a:rPr>
              <a:t>Some database systems support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table-valued functions</a:t>
            </a:r>
            <a:r>
              <a:rPr lang="en-US" altLang="zh-CN" sz="2000" dirty="0">
                <a:latin typeface="Helvetica" charset="0"/>
              </a:rPr>
              <a:t>, which can return a relation as a result.</a:t>
            </a:r>
            <a:endParaRPr lang="en-US" altLang="zh-CN" sz="20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SQL:1999 also supports a rich set of imperative constructs, including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000" dirty="0">
                <a:latin typeface="Helvetica" charset="0"/>
              </a:rPr>
              <a:t>Loops, if-then-else, assignment</a:t>
            </a:r>
            <a:endParaRPr lang="en-US" altLang="zh-CN" sz="20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Many databases have proprietary procedural extensions to SQL that differ from SQL:1999.</a:t>
            </a: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SQL Functions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486410" y="1073150"/>
            <a:ext cx="8057515" cy="4904105"/>
          </a:xfrm>
        </p:spPr>
        <p:txBody>
          <a:bodyPr vert="horz" wrap="square" lIns="91440" tIns="45720" rIns="91440" bIns="45720" anchor="t"/>
          <a:lstStyle/>
          <a:p>
            <a:pPr defTabSz="0"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dirty="0">
                <a:latin typeface="Helvetica" charset="0"/>
              </a:rPr>
              <a:t>Define a function that, given the name of a department, returns the count of the number of instructors in that department.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sz="1600" b="1" dirty="0">
                <a:latin typeface="Helvetica" charset="0"/>
              </a:rPr>
              <a:t>             </a:t>
            </a:r>
            <a:r>
              <a:rPr lang="en-US" altLang="zh-CN" b="1" dirty="0">
                <a:latin typeface="Helvetica" charset="0"/>
              </a:rPr>
              <a:t>create function </a:t>
            </a:r>
            <a:r>
              <a:rPr lang="en-US" altLang="zh-CN" i="1" dirty="0">
                <a:latin typeface="Helvetica" charset="0"/>
              </a:rPr>
              <a:t>dept_count </a:t>
            </a:r>
            <a:r>
              <a:rPr lang="en-US" altLang="zh-CN" dirty="0">
                <a:latin typeface="Helvetica" charset="0"/>
              </a:rPr>
              <a:t>(</a:t>
            </a:r>
            <a:r>
              <a:rPr lang="en-US" altLang="zh-CN" i="1" dirty="0">
                <a:latin typeface="Helvetica" charset="0"/>
              </a:rPr>
              <a:t>dept_name </a:t>
            </a:r>
            <a:r>
              <a:rPr lang="en-US" altLang="zh-CN" b="1" dirty="0">
                <a:latin typeface="Helvetica" charset="0"/>
              </a:rPr>
              <a:t>varchar</a:t>
            </a:r>
            <a:r>
              <a:rPr lang="en-US" altLang="zh-CN" dirty="0">
                <a:latin typeface="Helvetica" charset="0"/>
              </a:rPr>
              <a:t>(20))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                </a:t>
            </a:r>
            <a:r>
              <a:rPr lang="en-US" altLang="zh-CN" b="1" dirty="0">
                <a:solidFill>
                  <a:srgbClr val="C00000"/>
                </a:solidFill>
                <a:latin typeface="Helvetica" charset="0"/>
              </a:rPr>
              <a:t>returns integer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b="1" dirty="0">
                <a:latin typeface="Helvetica" charset="0"/>
              </a:rPr>
              <a:t>               begin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b="1" dirty="0">
                <a:latin typeface="Helvetica" charset="0"/>
              </a:rPr>
              <a:t>               declare </a:t>
            </a:r>
            <a:r>
              <a:rPr lang="en-US" altLang="zh-CN" i="1" dirty="0">
                <a:latin typeface="Helvetica" charset="0"/>
              </a:rPr>
              <a:t>d_count  </a:t>
            </a:r>
            <a:r>
              <a:rPr lang="en-US" altLang="zh-CN" b="1" dirty="0">
                <a:latin typeface="Helvetica" charset="0"/>
              </a:rPr>
              <a:t>integer;</a:t>
            </a:r>
            <a:br>
              <a:rPr lang="en-US" altLang="zh-CN" b="1" dirty="0">
                <a:latin typeface="Helvetica" charset="0"/>
              </a:rPr>
            </a:br>
            <a:r>
              <a:rPr lang="en-US" altLang="zh-CN" b="1" dirty="0">
                <a:latin typeface="Helvetica" charset="0"/>
              </a:rPr>
              <a:t>                      select count </a:t>
            </a:r>
            <a:r>
              <a:rPr lang="en-US" altLang="zh-CN" dirty="0">
                <a:latin typeface="Helvetica" charset="0"/>
              </a:rPr>
              <a:t>(</a:t>
            </a:r>
            <a:r>
              <a:rPr lang="en-US" altLang="zh-CN" i="1" dirty="0">
                <a:latin typeface="Helvetica" charset="0"/>
              </a:rPr>
              <a:t>* </a:t>
            </a:r>
            <a:r>
              <a:rPr lang="en-US" altLang="zh-CN" dirty="0">
                <a:latin typeface="Helvetica" charset="0"/>
              </a:rPr>
              <a:t>) </a:t>
            </a:r>
            <a:r>
              <a:rPr lang="en-US" altLang="zh-CN" b="1" dirty="0">
                <a:latin typeface="Helvetica" charset="0"/>
              </a:rPr>
              <a:t>into </a:t>
            </a:r>
            <a:r>
              <a:rPr lang="en-US" altLang="zh-CN" i="1" dirty="0">
                <a:latin typeface="Helvetica" charset="0"/>
              </a:rPr>
              <a:t>d_count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               </a:t>
            </a:r>
            <a:r>
              <a:rPr lang="en-US" altLang="zh-CN" b="1" dirty="0">
                <a:latin typeface="Helvetica" charset="0"/>
              </a:rPr>
              <a:t>from </a:t>
            </a:r>
            <a:r>
              <a:rPr lang="en-US" altLang="zh-CN" i="1" dirty="0">
                <a:latin typeface="Helvetica" charset="0"/>
              </a:rPr>
              <a:t>instructor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               </a:t>
            </a:r>
            <a:r>
              <a:rPr lang="en-US" altLang="zh-CN" b="1" dirty="0">
                <a:latin typeface="Helvetica" charset="0"/>
              </a:rPr>
              <a:t>where </a:t>
            </a:r>
            <a:r>
              <a:rPr lang="en-US" altLang="zh-CN" i="1" dirty="0">
                <a:latin typeface="Helvetica" charset="0"/>
              </a:rPr>
              <a:t>instructor.dept_name = dept_name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        </a:t>
            </a:r>
            <a:r>
              <a:rPr lang="en-US" altLang="zh-CN" b="1" dirty="0">
                <a:latin typeface="Helvetica" charset="0"/>
              </a:rPr>
              <a:t>return </a:t>
            </a:r>
            <a:r>
              <a:rPr lang="en-US" altLang="zh-CN" i="1" dirty="0">
                <a:latin typeface="Helvetica" charset="0"/>
              </a:rPr>
              <a:t>d_count;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       </a:t>
            </a:r>
            <a:r>
              <a:rPr lang="en-US" altLang="zh-CN" b="1" dirty="0">
                <a:latin typeface="Helvetica" charset="0"/>
              </a:rPr>
              <a:t>end</a:t>
            </a:r>
            <a:endParaRPr lang="en-US" altLang="zh-CN" b="1" dirty="0">
              <a:latin typeface="Helvetica" charset="0"/>
            </a:endParaRPr>
          </a:p>
          <a:p>
            <a:pPr defTabSz="0"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dirty="0">
                <a:latin typeface="Helvetica" charset="0"/>
              </a:rPr>
              <a:t>The function </a:t>
            </a:r>
            <a:r>
              <a:rPr lang="en-US" altLang="zh-CN" i="1" dirty="0">
                <a:latin typeface="Helvetica" charset="0"/>
              </a:rPr>
              <a:t>dept_</a:t>
            </a:r>
            <a:r>
              <a:rPr lang="en-US" altLang="zh-CN" dirty="0">
                <a:latin typeface="Helvetica" charset="0"/>
              </a:rPr>
              <a:t>count can be used to find the department names and budget of all departments with more that 12 instructors.</a:t>
            </a:r>
            <a:endParaRPr lang="en-US" altLang="zh-CN" dirty="0">
              <a:latin typeface="Helvetica" charset="0"/>
            </a:endParaRPr>
          </a:p>
          <a:p>
            <a:pPr defTabSz="0">
              <a:buNone/>
              <a:tabLst>
                <a:tab pos="803275" algn="l"/>
                <a:tab pos="1370330" algn="l"/>
                <a:tab pos="2113280" algn="l"/>
              </a:tabLst>
            </a:pPr>
            <a:r>
              <a:rPr lang="en-US" altLang="zh-CN" dirty="0">
                <a:latin typeface="Helvetica" charset="0"/>
              </a:rPr>
              <a:t>		</a:t>
            </a:r>
            <a:r>
              <a:rPr lang="en-US" altLang="zh-CN" b="1" dirty="0">
                <a:latin typeface="Helvetica" charset="0"/>
              </a:rPr>
              <a:t>select </a:t>
            </a:r>
            <a:r>
              <a:rPr lang="en-US" altLang="zh-CN" i="1" dirty="0">
                <a:latin typeface="Helvetica" charset="0"/>
              </a:rPr>
              <a:t>dept_name, budget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	</a:t>
            </a:r>
            <a:r>
              <a:rPr lang="en-US" altLang="zh-CN" b="1" dirty="0">
                <a:latin typeface="Helvetica" charset="0"/>
              </a:rPr>
              <a:t>from</a:t>
            </a:r>
            <a:r>
              <a:rPr lang="en-US" altLang="zh-CN" i="1" dirty="0">
                <a:latin typeface="Helvetica" charset="0"/>
              </a:rPr>
              <a:t> department</a:t>
            </a:r>
            <a:br>
              <a:rPr lang="en-US" altLang="zh-CN" i="1" dirty="0">
                <a:latin typeface="Helvetica" charset="0"/>
              </a:rPr>
            </a:br>
            <a:r>
              <a:rPr lang="en-US" altLang="zh-CN" i="1" dirty="0">
                <a:latin typeface="Helvetica" charset="0"/>
              </a:rPr>
              <a:t>	</a:t>
            </a:r>
            <a:r>
              <a:rPr lang="en-US" altLang="zh-CN" b="1" dirty="0">
                <a:latin typeface="Helvetica" charset="0"/>
              </a:rPr>
              <a:t>where </a:t>
            </a:r>
            <a:r>
              <a:rPr lang="en-US" altLang="zh-CN" i="1" dirty="0">
                <a:latin typeface="Helvetica" charset="0"/>
              </a:rPr>
              <a:t>dept_</a:t>
            </a:r>
            <a:r>
              <a:rPr lang="en-US" altLang="zh-CN" dirty="0">
                <a:latin typeface="Helvetica" charset="0"/>
              </a:rPr>
              <a:t>count (</a:t>
            </a:r>
            <a:r>
              <a:rPr lang="en-US" altLang="zh-CN" i="1" dirty="0">
                <a:latin typeface="Helvetica" charset="0"/>
              </a:rPr>
              <a:t>dept_name </a:t>
            </a:r>
            <a:r>
              <a:rPr lang="en-US" altLang="zh-CN" dirty="0">
                <a:latin typeface="Helvetica" charset="0"/>
              </a:rPr>
              <a:t>) &gt; 12</a:t>
            </a:r>
            <a:endParaRPr lang="en-US" altLang="zh-CN" i="1" dirty="0">
              <a:latin typeface="Helvetica" charset="0"/>
            </a:endParaRPr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存储过程和函数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4" name="Shape18"/>
          <p:cNvSpPr/>
          <p:nvPr/>
        </p:nvSpPr>
        <p:spPr>
          <a:xfrm>
            <a:off x="83343" y="1079294"/>
            <a:ext cx="8955727" cy="2672344"/>
          </a:xfrm>
          <a:prstGeom prst="roundRect">
            <a:avLst>
              <a:gd name="adj" fmla="val 15193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93600" rIns="91440" bIns="93600" numCol="1" spcCol="0" rtlCol="0" fromWordArt="0" anchor="ctr" anchorCtr="0" forceAA="0" compatLnSpc="1">
            <a:normAutofit fontScale="925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存储过程和函数是事先经过编译并存储在数据库中的</a:t>
            </a:r>
            <a:r>
              <a:rPr lang="zh-CN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一段</a:t>
            </a:r>
            <a:r>
              <a:rPr lang="en-US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SQL</a:t>
            </a:r>
            <a:r>
              <a:rPr lang="zh-CN" altLang="zh-CN" sz="2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语句的集合 </a:t>
            </a:r>
            <a:endParaRPr lang="en-US" altLang="zh-CN" sz="20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存储过程和函数可以对一段代码进行</a:t>
            </a:r>
            <a:r>
              <a:rPr lang="zh-CN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封装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，以便日后调用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数据库中创建</a:t>
            </a:r>
            <a:r>
              <a:rPr lang="zh-CN" altLang="zh-CN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的语句为</a:t>
            </a:r>
            <a:r>
              <a:rPr lang="en-US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CREATE PROCEDURE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通过</a:t>
            </a:r>
            <a:r>
              <a:rPr lang="en-US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CALL</a:t>
            </a:r>
            <a:r>
              <a:rPr lang="zh-CN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语句加存储过程名来调用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 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数据库中创建</a:t>
            </a:r>
            <a:r>
              <a:rPr lang="zh-CN" altLang="en-US" sz="2000" dirty="0">
                <a:solidFill>
                  <a:srgbClr val="FF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函数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的语句为</a:t>
            </a:r>
            <a:r>
              <a:rPr lang="en-US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CREATE FUNCTION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，并</a:t>
            </a:r>
            <a:r>
              <a:rPr lang="zh-CN" altLang="zh-CN" sz="20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通过函数名来调</a:t>
            </a:r>
            <a:r>
              <a:rPr lang="zh-CN" altLang="zh-CN" sz="2100" dirty="0">
                <a:solidFill>
                  <a:srgbClr val="3B20FF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用</a:t>
            </a: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函数</a:t>
            </a:r>
            <a:endParaRPr kumimoji="1" lang="zh-CN" altLang="en-US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5" name="Shape18"/>
          <p:cNvSpPr/>
          <p:nvPr/>
        </p:nvSpPr>
        <p:spPr>
          <a:xfrm>
            <a:off x="113323" y="3914320"/>
            <a:ext cx="4878401" cy="2467908"/>
          </a:xfrm>
          <a:prstGeom prst="roundRect">
            <a:avLst>
              <a:gd name="adj" fmla="val 15193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93600" rIns="91440" bIns="936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优势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降低网络开销（存储到</a:t>
            </a:r>
            <a:r>
              <a:rPr lang="en-US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DB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中，不频繁网络交互）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安全性高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性能高，编译一次多次使用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7" name="Shape18"/>
          <p:cNvSpPr/>
          <p:nvPr/>
        </p:nvSpPr>
        <p:spPr>
          <a:xfrm>
            <a:off x="5150019" y="3914320"/>
            <a:ext cx="3874059" cy="2467908"/>
          </a:xfrm>
          <a:prstGeom prst="roundRect">
            <a:avLst>
              <a:gd name="adj" fmla="val 15193"/>
            </a:avLst>
          </a:prstGeom>
          <a:solidFill>
            <a:schemeClr val="bg1"/>
          </a:solidFill>
          <a:ln w="12700" cap="flat">
            <a:gradFill>
              <a:gsLst>
                <a:gs pos="0">
                  <a:srgbClr val="3B20FF">
                    <a:alpha val="16000"/>
                  </a:srgbClr>
                </a:gs>
                <a:gs pos="100000">
                  <a:srgbClr val="6F1787"/>
                </a:gs>
              </a:gsLst>
              <a:lin ang="10800000" scaled="1"/>
            </a:gradFill>
            <a:prstDash val="solid"/>
            <a:miter/>
          </a:ln>
          <a:effectLst/>
        </p:spPr>
        <p:txBody>
          <a:bodyPr rot="0" spcFirstLastPara="0" vertOverflow="overflow" horzOverflow="overflow" vert="horz" wrap="square" lIns="91440" tIns="93600" rIns="91440" bIns="93600" numCol="1" spcCol="0" rtlCol="0" fromWordArt="0" anchor="ctr" anchorCtr="0" forceAA="0" compatLnSpc="1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zh-CN" altLang="zh-CN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存储过程</a:t>
            </a:r>
            <a:r>
              <a:rPr lang="zh-CN" altLang="en-US" sz="20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劣势</a:t>
            </a: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：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开发调试难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可移植性差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742950" lvl="1" indent="-285750"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难以支持分布式数据库</a:t>
            </a:r>
            <a:endParaRPr lang="en-US" altLang="zh-CN" sz="20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创建和调用存储过程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2549" t="14792" r="15976" b="3595"/>
          <a:stretch>
            <a:fillRect/>
          </a:stretch>
        </p:blipFill>
        <p:spPr>
          <a:xfrm>
            <a:off x="29983" y="1045070"/>
            <a:ext cx="9084040" cy="5115887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创建和调用存储过程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/>
          <a:srcRect l="2295" t="13042" r="1802" b="5024"/>
          <a:stretch>
            <a:fillRect/>
          </a:stretch>
        </p:blipFill>
        <p:spPr>
          <a:xfrm>
            <a:off x="196224" y="1379097"/>
            <a:ext cx="8769246" cy="4212236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创建和调用存储过程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/>
          <a:srcRect l="2131" t="12751" r="3264" b="4440"/>
          <a:stretch>
            <a:fillRect/>
          </a:stretch>
        </p:blipFill>
        <p:spPr>
          <a:xfrm>
            <a:off x="134912" y="1259176"/>
            <a:ext cx="8924814" cy="439211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存储过程与函数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4851" y="1093788"/>
            <a:ext cx="8764403" cy="4903787"/>
          </a:xfrm>
        </p:spPr>
        <p:txBody>
          <a:bodyPr/>
          <a:lstStyle/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存储过程和函数都用于提高数据库性能，减少频繁访问数据库和减少网络延迟等方式加速执行效率。</a:t>
            </a:r>
            <a:endParaRPr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en-US" sz="2800" dirty="0">
                <a:latin typeface="微软雅黑" panose="020B0503020204020204" pitchFamily="82" charset="2"/>
                <a:ea typeface="微软雅黑" panose="020B0503020204020204" pitchFamily="82" charset="2"/>
              </a:rPr>
              <a:t>：简单的计算型任务，例如字符串或日期拼接、返回单个值等。</a:t>
            </a:r>
            <a:endParaRPr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8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存储过程</a:t>
            </a:r>
            <a:r>
              <a:rPr lang="zh-CN" altLang="en-US" sz="2800" dirty="0">
                <a:latin typeface="微软雅黑" panose="020B0503020204020204" pitchFamily="82" charset="2"/>
                <a:ea typeface="微软雅黑" panose="020B0503020204020204" pitchFamily="82" charset="2"/>
              </a:rPr>
              <a:t>：复杂的业务逻辑、更新和删除相关操作。</a:t>
            </a:r>
            <a:endParaRPr lang="en-US" altLang="zh-CN" sz="28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lnSpc>
                <a:spcPct val="120000"/>
              </a:lnSpc>
              <a:buFont typeface="Wingdings" panose="05000000000000000000" pitchFamily="2" charset="2"/>
              <a:buChar char="ü"/>
            </a:pPr>
            <a:r>
              <a:rPr lang="zh-CN" altLang="en-US" sz="28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存储过程需要显式地被调用，并且可以包含各种复杂的控制结构和代码块。</a:t>
            </a:r>
            <a:endParaRPr lang="zh-CN" alt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创建和调用函数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 rotWithShape="1">
          <a:blip r:embed="rId1"/>
          <a:srcRect l="1892" t="11881" r="2233" b="3553"/>
          <a:stretch>
            <a:fillRect/>
          </a:stretch>
        </p:blipFill>
        <p:spPr>
          <a:xfrm>
            <a:off x="22332" y="1439056"/>
            <a:ext cx="9068124" cy="4497049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b" anchorCtr="0" compatLnSpc="1"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存储过程和函数的区别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4872" y="1093788"/>
            <a:ext cx="8814217" cy="4903787"/>
          </a:xfrm>
        </p:spPr>
        <p:txBody>
          <a:bodyPr/>
          <a:lstStyle/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存储过程可以通过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或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参数返回多个值，而</a:t>
            </a:r>
            <a:r>
              <a:rPr lang="zh-CN" altLang="zh-CN" sz="24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只能返回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RETURNS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子句中指定的某一类型的单值或表对象。</a:t>
            </a:r>
            <a:endParaRPr lang="zh-CN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存储过程的参数可以为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、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或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INOUT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，而</a:t>
            </a:r>
            <a:r>
              <a:rPr lang="zh-CN" altLang="zh-CN" sz="24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的参数只能是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IN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类型。</a:t>
            </a:r>
            <a:endParaRPr lang="zh-CN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存储过程可以通过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CALL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语句作为一个独立的部分来调用和执行，而</a:t>
            </a:r>
            <a:r>
              <a:rPr lang="zh-CN" altLang="zh-CN" sz="2400" dirty="0">
                <a:solidFill>
                  <a:srgbClr val="000099"/>
                </a:solidFill>
                <a:latin typeface="微软雅黑" panose="020B0503020204020204" pitchFamily="82" charset="2"/>
                <a:ea typeface="微软雅黑" panose="020B0503020204020204" pitchFamily="82" charset="2"/>
              </a:rPr>
              <a:t>函数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可以作为查询语句的一部分来调用。</a:t>
            </a:r>
            <a:endParaRPr lang="en-US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 lvl="1">
              <a:buFont typeface="Wingdings" panose="05000000000000000000" pitchFamily="2" charset="2"/>
              <a:buChar char="ü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由于函数可以返回表对象，因此函数的返回结果也可以用在查询语句的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FROM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子句中。</a:t>
            </a:r>
            <a:endParaRPr lang="zh-CN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创建函数时必须指定返回值数据类型，且函数体内必须有一个</a:t>
            </a:r>
            <a:r>
              <a:rPr lang="en-US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RETURNS</a:t>
            </a: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语句。</a:t>
            </a:r>
            <a:endParaRPr lang="zh-CN" altLang="zh-CN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l"/>
            </a:pPr>
            <a:r>
              <a:rPr lang="zh-CN" altLang="zh-CN" sz="2400" dirty="0">
                <a:latin typeface="微软雅黑" panose="020B0503020204020204" pitchFamily="82" charset="2"/>
                <a:ea typeface="微软雅黑" panose="020B0503020204020204" pitchFamily="82" charset="2"/>
              </a:rPr>
              <a:t>存储过程中可以执行更新表的数据库操作，而函数则不可以。</a:t>
            </a:r>
            <a:endParaRPr lang="zh-CN" altLang="en-US" sz="2400" dirty="0">
              <a:latin typeface="微软雅黑" panose="020B0503020204020204" pitchFamily="82" charset="2"/>
              <a:ea typeface="微软雅黑" panose="020B0503020204020204" pitchFamily="82" charset="2"/>
            </a:endParaRPr>
          </a:p>
          <a:p>
            <a:pPr>
              <a:buFont typeface="Wingdings" panose="05000000000000000000" pitchFamily="2" charset="2"/>
              <a:buChar char="l"/>
            </a:pPr>
            <a:endParaRPr lang="zh-CN" alt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4"/>
          <p:cNvSpPr>
            <a:spLocks noGrp="1"/>
          </p:cNvSpPr>
          <p:nvPr>
            <p:ph type="ctrTitle"/>
          </p:nvPr>
        </p:nvSpPr>
        <p:spPr/>
        <p:txBody>
          <a:bodyPr vert="horz" wrap="square" lIns="91440" tIns="45720" rIns="91440" bIns="45720" anchor="b"/>
          <a:lstStyle/>
          <a:p>
            <a:r>
              <a:rPr lang="en-US" altLang="zh-CN" dirty="0">
                <a:effectLst/>
                <a:latin typeface="Helvetica" charset="0"/>
              </a:rPr>
              <a:t>Triggers</a:t>
            </a:r>
            <a:endParaRPr lang="zh-CN" altLang="zh-CN" dirty="0">
              <a:effectLst/>
              <a:latin typeface="Helvetica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Triggers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60418" name="Rectangle 3"/>
          <p:cNvSpPr>
            <a:spLocks noGrp="1"/>
          </p:cNvSpPr>
          <p:nvPr>
            <p:ph idx="1"/>
          </p:nvPr>
        </p:nvSpPr>
        <p:spPr>
          <a:xfrm>
            <a:off x="140970" y="1038860"/>
            <a:ext cx="8901430" cy="483425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A </a:t>
            </a: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trigger</a:t>
            </a:r>
            <a:r>
              <a:rPr lang="en-US" altLang="zh-CN" sz="2400" dirty="0">
                <a:latin typeface="Helvetica" charset="0"/>
              </a:rPr>
              <a:t> is a statement that is executed automatically by the system as a side effect of a modification to the database.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To design a trigger mechanism, we must: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Specify the </a:t>
            </a:r>
            <a:r>
              <a:rPr lang="en-US" altLang="zh-CN" sz="2400" b="1" i="1" dirty="0">
                <a:solidFill>
                  <a:schemeClr val="tx2"/>
                </a:solidFill>
                <a:latin typeface="Helvetica" charset="0"/>
              </a:rPr>
              <a:t>conditions</a:t>
            </a:r>
            <a:r>
              <a:rPr lang="en-US" altLang="zh-CN" sz="2400" dirty="0">
                <a:latin typeface="Helvetica" charset="0"/>
              </a:rPr>
              <a:t> under which the trigger is to be executed.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Specify the </a:t>
            </a:r>
            <a:r>
              <a:rPr lang="en-US" altLang="zh-CN" sz="2400" b="1" i="1" dirty="0">
                <a:solidFill>
                  <a:schemeClr val="tx2"/>
                </a:solidFill>
                <a:latin typeface="Helvetica" charset="0"/>
              </a:rPr>
              <a:t>actions</a:t>
            </a:r>
            <a:r>
              <a:rPr lang="en-US" altLang="zh-CN" sz="2400" dirty="0">
                <a:latin typeface="Helvetica" charset="0"/>
              </a:rPr>
              <a:t> to be taken when the trigger executes.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Triggers introduced to SQL standard in SQL:1999, but supported even earlier using non-standard syntax by most databases.		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solidFill>
                  <a:srgbClr val="993300"/>
                </a:solidFill>
                <a:latin typeface="Helvetica" charset="0"/>
              </a:rPr>
              <a:t>Syntax illustrated here may not work exactly on your database system; check the system manuals</a:t>
            </a: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85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Triggering Events and Actions in SQL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62466" name="Rectangle 3"/>
          <p:cNvSpPr>
            <a:spLocks noGrp="1"/>
          </p:cNvSpPr>
          <p:nvPr>
            <p:ph type="body"/>
          </p:nvPr>
        </p:nvSpPr>
        <p:spPr>
          <a:xfrm>
            <a:off x="223520" y="1120775"/>
            <a:ext cx="8815070" cy="5737225"/>
          </a:xfrm>
        </p:spPr>
        <p:txBody>
          <a:bodyPr vert="horz" wrap="square" lIns="91440" tIns="45720" rIns="91440" bIns="45720" anchor="t"/>
          <a:lstStyle/>
          <a:p>
            <a:pPr marL="342900" indent="-342900" algn="l">
              <a:lnSpc>
                <a:spcPct val="90000"/>
              </a:lnSpc>
              <a:buClr>
                <a:srgbClr val="C000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Triggering event can be </a:t>
            </a:r>
            <a:r>
              <a:rPr lang="en-US" altLang="zh-CN" sz="2400" b="1" dirty="0">
                <a:solidFill>
                  <a:srgbClr val="000099"/>
                </a:solidFill>
                <a:latin typeface="Helvetica" charset="0"/>
              </a:rPr>
              <a:t>insert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,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delete</a:t>
            </a:r>
            <a:r>
              <a:rPr lang="en-US" altLang="zh-CN" sz="2400" dirty="0">
                <a:solidFill>
                  <a:schemeClr val="tx1"/>
                </a:solidFill>
                <a:latin typeface="Helvetica" charset="0"/>
              </a:rPr>
              <a:t> or </a:t>
            </a:r>
            <a:r>
              <a:rPr lang="en-US" altLang="zh-CN" sz="2400" dirty="0">
                <a:solidFill>
                  <a:srgbClr val="000099"/>
                </a:solidFill>
                <a:latin typeface="Helvetica" charset="0"/>
              </a:rPr>
              <a:t>update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Triggers on update can be restricted to specific attributes</a:t>
            </a:r>
            <a:endParaRPr lang="en-US" altLang="zh-CN" sz="2000" dirty="0">
              <a:solidFill>
                <a:schemeClr val="tx1"/>
              </a:solidFill>
              <a:latin typeface="Helvetica" charset="0"/>
            </a:endParaRP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For example, </a:t>
            </a:r>
            <a:r>
              <a:rPr lang="en-US" altLang="zh-CN" sz="2000" b="1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after update of </a:t>
            </a:r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takes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on</a:t>
            </a:r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 grade</a:t>
            </a:r>
            <a:endParaRPr lang="en-US" altLang="zh-CN" sz="2000" i="1" dirty="0">
              <a:solidFill>
                <a:srgbClr val="000099"/>
              </a:solidFill>
              <a:latin typeface="Helvetica" charset="0"/>
            </a:endParaRPr>
          </a:p>
          <a:p>
            <a:pPr marL="342900" lvl="4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</a:rPr>
              <a:t>Values of attributes </a:t>
            </a:r>
            <a:r>
              <a:rPr lang="en-US" altLang="zh-CN" sz="2400" dirty="0">
                <a:solidFill>
                  <a:srgbClr val="000099"/>
                </a:solidFill>
              </a:rPr>
              <a:t>before</a:t>
            </a:r>
            <a:r>
              <a:rPr lang="en-US" altLang="zh-CN" sz="2400" dirty="0">
                <a:solidFill>
                  <a:schemeClr val="tx1"/>
                </a:solidFill>
              </a:rPr>
              <a:t> and </a:t>
            </a:r>
            <a:r>
              <a:rPr lang="en-US" altLang="zh-CN" sz="2400" dirty="0">
                <a:solidFill>
                  <a:srgbClr val="000099"/>
                </a:solidFill>
              </a:rPr>
              <a:t>after</a:t>
            </a:r>
            <a:r>
              <a:rPr lang="en-US" altLang="zh-CN" sz="2400" dirty="0">
                <a:solidFill>
                  <a:schemeClr val="tx1"/>
                </a:solidFill>
              </a:rPr>
              <a:t> an update can be referenced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99"/>
                </a:solidFill>
              </a:rPr>
              <a:t>referencing old row as   </a:t>
            </a:r>
            <a:r>
              <a:rPr lang="en-US" altLang="zh-CN" sz="2000" dirty="0">
                <a:solidFill>
                  <a:schemeClr val="tx1"/>
                </a:solidFill>
              </a:rPr>
              <a:t>:  for deletes and updates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800100" lvl="5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99"/>
                </a:solidFill>
              </a:rPr>
              <a:t>referencing new row as  </a:t>
            </a:r>
            <a:r>
              <a:rPr lang="en-US" altLang="zh-CN" sz="2000" dirty="0">
                <a:solidFill>
                  <a:schemeClr val="tx1"/>
                </a:solidFill>
              </a:rPr>
              <a:t>: for inserts and updates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marL="342900" lvl="4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chemeClr val="tx1"/>
                </a:solidFill>
              </a:rPr>
              <a:t>Triggers can be activated before an event, which can serve as extra constraints.  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marL="342900" lvl="4" indent="-342900" algn="l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l"/>
            </a:pPr>
            <a:r>
              <a:rPr lang="en-US" altLang="zh-CN" sz="2400" dirty="0">
                <a:solidFill>
                  <a:srgbClr val="000099"/>
                </a:solidFill>
              </a:rPr>
              <a:t>For example,  convert blank grades to null.</a:t>
            </a:r>
            <a:endParaRPr lang="en-US" altLang="zh-CN" sz="2400" dirty="0">
              <a:solidFill>
                <a:srgbClr val="000099"/>
              </a:solidFill>
              <a:latin typeface="Helvetica" charset="0"/>
            </a:endParaRPr>
          </a:p>
          <a:p>
            <a:pPr marL="1143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     create trigger setnull_trigger before update of takes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	referencing new row as nrow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	for each row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	when (nrow.grade = </a:t>
            </a:r>
            <a:r>
              <a:rPr lang="zh-CN" altLang="en-US" sz="2000" dirty="0">
                <a:solidFill>
                  <a:schemeClr val="tx1"/>
                </a:solidFill>
                <a:latin typeface="Helvetica" charset="0"/>
              </a:rPr>
              <a:t>‘</a:t>
            </a: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</a:t>
            </a:r>
            <a:r>
              <a:rPr lang="zh-CN" altLang="en-US" sz="2000" dirty="0">
                <a:solidFill>
                  <a:schemeClr val="tx1"/>
                </a:solidFill>
                <a:latin typeface="Helvetica" charset="0"/>
              </a:rPr>
              <a:t>‘</a:t>
            </a: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)</a:t>
            </a:r>
            <a:br>
              <a:rPr lang="en-US" altLang="zh-CN" sz="2000" dirty="0">
                <a:solidFill>
                  <a:schemeClr val="tx1"/>
                </a:solidFill>
                <a:latin typeface="Helvetica" charset="0"/>
              </a:rPr>
            </a:b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        begin atomic  set nrow.grade = null;</a:t>
            </a:r>
            <a:endParaRPr lang="en-US" altLang="zh-CN" sz="2000" dirty="0">
              <a:solidFill>
                <a:schemeClr val="tx1"/>
              </a:solidFill>
              <a:latin typeface="Helvetica" charset="0"/>
            </a:endParaRPr>
          </a:p>
          <a:p>
            <a:pPr marL="11430" indent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2000" dirty="0">
                <a:solidFill>
                  <a:schemeClr val="tx1"/>
                </a:solidFill>
                <a:latin typeface="Helvetica" charset="0"/>
              </a:rPr>
              <a:t>      end;</a:t>
            </a:r>
            <a:endParaRPr lang="zh-CN" altLang="en-US" sz="2400" b="1" dirty="0">
              <a:solidFill>
                <a:schemeClr val="tx1"/>
              </a:solidFill>
              <a:latin typeface="Helvetica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/>
          <p:cNvSpPr>
            <a:spLocks noGrp="1"/>
          </p:cNvSpPr>
          <p:nvPr>
            <p:ph type="title"/>
          </p:nvPr>
        </p:nvSpPr>
        <p:spPr>
          <a:xfrm>
            <a:off x="874713" y="117475"/>
            <a:ext cx="8077200" cy="60960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dirty="0">
                <a:effectLst/>
                <a:latin typeface="Helvetica" charset="0"/>
              </a:rPr>
              <a:t>Trigger to Maintain credits_earned value</a:t>
            </a:r>
            <a:endParaRPr lang="zh-CN" altLang="zh-CN" dirty="0">
              <a:effectLst/>
              <a:latin typeface="Helvetica" charset="0"/>
            </a:endParaRPr>
          </a:p>
        </p:txBody>
      </p:sp>
      <p:sp>
        <p:nvSpPr>
          <p:cNvPr id="64514" name="Rectangle 3"/>
          <p:cNvSpPr>
            <a:spLocks noGrp="1"/>
          </p:cNvSpPr>
          <p:nvPr>
            <p:ph idx="1"/>
          </p:nvPr>
        </p:nvSpPr>
        <p:spPr>
          <a:xfrm>
            <a:off x="156845" y="991870"/>
            <a:ext cx="8794750" cy="5605780"/>
          </a:xfrm>
        </p:spPr>
        <p:txBody>
          <a:bodyPr vert="horz" wrap="square" lIns="91440" tIns="45720" rIns="91440" bIns="45720" anchor="t"/>
          <a:lstStyle/>
          <a:p>
            <a:r>
              <a:rPr lang="zh-CN" altLang="zh-CN" sz="2400" b="1" dirty="0">
                <a:latin typeface="Helvetica" charset="0"/>
              </a:rPr>
              <a:t>create trigger </a:t>
            </a:r>
            <a:r>
              <a:rPr lang="zh-CN" altLang="zh-CN" sz="2400" i="1" dirty="0">
                <a:latin typeface="Helvetica" charset="0"/>
              </a:rPr>
              <a:t>credits_earned </a:t>
            </a:r>
            <a:r>
              <a:rPr lang="zh-CN" altLang="zh-CN" sz="2400" b="1" dirty="0">
                <a:latin typeface="Helvetica" charset="0"/>
              </a:rPr>
              <a:t>after update of </a:t>
            </a:r>
            <a:r>
              <a:rPr lang="zh-CN" altLang="zh-CN" sz="2400" i="1" dirty="0">
                <a:latin typeface="Helvetica" charset="0"/>
              </a:rPr>
              <a:t>takes </a:t>
            </a:r>
            <a:r>
              <a:rPr lang="zh-CN" altLang="zh-CN" sz="2400" b="1" dirty="0">
                <a:latin typeface="Helvetica" charset="0"/>
              </a:rPr>
              <a:t>on </a:t>
            </a:r>
            <a:r>
              <a:rPr lang="zh-CN" altLang="zh-CN" sz="2400" dirty="0">
                <a:latin typeface="Helvetica" charset="0"/>
              </a:rPr>
              <a:t>(</a:t>
            </a:r>
            <a:r>
              <a:rPr lang="zh-CN" altLang="zh-CN" sz="2400" i="1" dirty="0">
                <a:latin typeface="Helvetica" charset="0"/>
              </a:rPr>
              <a:t>grade</a:t>
            </a:r>
            <a:r>
              <a:rPr lang="zh-CN" altLang="zh-CN" sz="2400" dirty="0">
                <a:latin typeface="Helvetica" charset="0"/>
              </a:rPr>
              <a:t>)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referencing new row as </a:t>
            </a:r>
            <a:r>
              <a:rPr lang="zh-CN" altLang="zh-CN" sz="2400" i="1" dirty="0">
                <a:latin typeface="Helvetica" charset="0"/>
              </a:rPr>
              <a:t>nrow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referencing old row as </a:t>
            </a:r>
            <a:r>
              <a:rPr lang="zh-CN" altLang="zh-CN" sz="2400" i="1" dirty="0">
                <a:latin typeface="Helvetica" charset="0"/>
              </a:rPr>
              <a:t>orow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for each row</a:t>
            </a:r>
            <a:br>
              <a:rPr lang="zh-CN" altLang="zh-CN" sz="2400" b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when </a:t>
            </a:r>
            <a:r>
              <a:rPr lang="zh-CN" altLang="zh-CN" sz="2400" i="1" dirty="0">
                <a:latin typeface="Helvetica" charset="0"/>
              </a:rPr>
              <a:t>nrow.grade </a:t>
            </a:r>
            <a:r>
              <a:rPr lang="zh-CN" altLang="zh-CN" sz="2400" dirty="0">
                <a:latin typeface="Helvetica" charset="0"/>
              </a:rPr>
              <a:t>&lt;&gt; 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F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 </a:t>
            </a:r>
            <a:r>
              <a:rPr lang="zh-CN" altLang="zh-CN" sz="2400" b="1" dirty="0">
                <a:latin typeface="Helvetica" charset="0"/>
              </a:rPr>
              <a:t>and </a:t>
            </a:r>
            <a:r>
              <a:rPr lang="zh-CN" altLang="zh-CN" sz="2400" i="1" dirty="0">
                <a:latin typeface="Helvetica" charset="0"/>
              </a:rPr>
              <a:t>nrow.grade </a:t>
            </a:r>
            <a:r>
              <a:rPr lang="zh-CN" altLang="zh-CN" sz="2400" b="1" dirty="0">
                <a:latin typeface="Helvetica" charset="0"/>
              </a:rPr>
              <a:t>is not null</a:t>
            </a:r>
            <a:br>
              <a:rPr lang="zh-CN" altLang="zh-CN" sz="2400" b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    and </a:t>
            </a:r>
            <a:r>
              <a:rPr lang="zh-CN" altLang="zh-CN" sz="2400" dirty="0">
                <a:latin typeface="Helvetica" charset="0"/>
              </a:rPr>
              <a:t>(</a:t>
            </a:r>
            <a:r>
              <a:rPr lang="zh-CN" altLang="zh-CN" sz="2400" i="1" dirty="0">
                <a:latin typeface="Helvetica" charset="0"/>
              </a:rPr>
              <a:t>orow.grade 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F</a:t>
            </a:r>
            <a:r>
              <a:rPr lang="zh-CN" altLang="en-US" sz="2400" dirty="0">
                <a:latin typeface="Helvetica" charset="0"/>
              </a:rPr>
              <a:t>’</a:t>
            </a:r>
            <a:r>
              <a:rPr lang="zh-CN" altLang="zh-CN" sz="2400" dirty="0">
                <a:latin typeface="Helvetica" charset="0"/>
              </a:rPr>
              <a:t> </a:t>
            </a:r>
            <a:r>
              <a:rPr lang="zh-CN" altLang="zh-CN" sz="2400" b="1" dirty="0">
                <a:latin typeface="Helvetica" charset="0"/>
              </a:rPr>
              <a:t>or </a:t>
            </a:r>
            <a:r>
              <a:rPr lang="zh-CN" altLang="zh-CN" sz="2400" i="1" dirty="0">
                <a:latin typeface="Helvetica" charset="0"/>
              </a:rPr>
              <a:t>orow.grade </a:t>
            </a:r>
            <a:r>
              <a:rPr lang="zh-CN" altLang="zh-CN" sz="2400" b="1" dirty="0">
                <a:latin typeface="Helvetica" charset="0"/>
              </a:rPr>
              <a:t>is null</a:t>
            </a:r>
            <a:r>
              <a:rPr lang="zh-CN" altLang="zh-CN" sz="2400" dirty="0">
                <a:latin typeface="Helvetica" charset="0"/>
              </a:rPr>
              <a:t>)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begin atomic</a:t>
            </a:r>
            <a:br>
              <a:rPr lang="zh-CN" altLang="zh-CN" sz="2400" b="1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     update </a:t>
            </a:r>
            <a:r>
              <a:rPr lang="zh-CN" altLang="zh-CN" sz="2400" i="1" dirty="0">
                <a:latin typeface="Helvetica" charset="0"/>
              </a:rPr>
              <a:t>student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i="1" dirty="0">
                <a:latin typeface="Helvetica" charset="0"/>
              </a:rPr>
              <a:t>     </a:t>
            </a:r>
            <a:r>
              <a:rPr lang="zh-CN" altLang="zh-CN" sz="2400" b="1" dirty="0">
                <a:latin typeface="Helvetica" charset="0"/>
              </a:rPr>
              <a:t>set </a:t>
            </a:r>
            <a:r>
              <a:rPr lang="zh-CN" altLang="zh-CN" sz="2400" i="1" dirty="0">
                <a:latin typeface="Helvetica" charset="0"/>
              </a:rPr>
              <a:t>tot_cred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zh-CN" sz="2400" i="1" dirty="0">
                <a:latin typeface="Helvetica" charset="0"/>
              </a:rPr>
              <a:t>tot_cred </a:t>
            </a:r>
            <a:r>
              <a:rPr lang="zh-CN" altLang="zh-CN" sz="2400" dirty="0">
                <a:latin typeface="Helvetica" charset="0"/>
              </a:rPr>
              <a:t>+ 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dirty="0">
                <a:latin typeface="Helvetica" charset="0"/>
              </a:rPr>
              <a:t>           (</a:t>
            </a:r>
            <a:r>
              <a:rPr lang="zh-CN" altLang="zh-CN" sz="2400" b="1" dirty="0">
                <a:latin typeface="Helvetica" charset="0"/>
              </a:rPr>
              <a:t>select </a:t>
            </a:r>
            <a:r>
              <a:rPr lang="zh-CN" altLang="zh-CN" sz="2400" i="1" dirty="0">
                <a:latin typeface="Helvetica" charset="0"/>
              </a:rPr>
              <a:t>credits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i="1" dirty="0">
                <a:latin typeface="Helvetica" charset="0"/>
              </a:rPr>
              <a:t>            </a:t>
            </a:r>
            <a:r>
              <a:rPr lang="zh-CN" altLang="zh-CN" sz="2400" b="1" dirty="0">
                <a:latin typeface="Helvetica" charset="0"/>
              </a:rPr>
              <a:t>from </a:t>
            </a:r>
            <a:r>
              <a:rPr lang="zh-CN" altLang="zh-CN" sz="2400" i="1" dirty="0">
                <a:latin typeface="Helvetica" charset="0"/>
              </a:rPr>
              <a:t>course</a:t>
            </a:r>
            <a:br>
              <a:rPr lang="zh-CN" altLang="zh-CN" sz="2400" i="1" dirty="0">
                <a:latin typeface="Helvetica" charset="0"/>
              </a:rPr>
            </a:br>
            <a:r>
              <a:rPr lang="zh-CN" altLang="zh-CN" sz="2400" i="1" dirty="0">
                <a:latin typeface="Helvetica" charset="0"/>
              </a:rPr>
              <a:t>            </a:t>
            </a:r>
            <a:r>
              <a:rPr lang="zh-CN" altLang="zh-CN" sz="2400" b="1" dirty="0">
                <a:latin typeface="Helvetica" charset="0"/>
              </a:rPr>
              <a:t>where </a:t>
            </a:r>
            <a:r>
              <a:rPr lang="zh-CN" altLang="zh-CN" sz="2400" i="1" dirty="0">
                <a:latin typeface="Helvetica" charset="0"/>
              </a:rPr>
              <a:t>course</a:t>
            </a:r>
            <a:r>
              <a:rPr lang="zh-CN" altLang="zh-CN" sz="2400" dirty="0">
                <a:latin typeface="Helvetica" charset="0"/>
              </a:rPr>
              <a:t>.</a:t>
            </a:r>
            <a:r>
              <a:rPr lang="zh-CN" altLang="zh-CN" sz="2400" i="1" dirty="0">
                <a:latin typeface="Helvetica" charset="0"/>
              </a:rPr>
              <a:t>course_id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zh-CN" sz="2400" i="1" dirty="0">
                <a:latin typeface="Helvetica" charset="0"/>
              </a:rPr>
              <a:t>nrow.course_id</a:t>
            </a:r>
            <a:r>
              <a:rPr lang="zh-CN" altLang="zh-CN" sz="2400" dirty="0">
                <a:latin typeface="Helvetica" charset="0"/>
              </a:rPr>
              <a:t>)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dirty="0">
                <a:latin typeface="Helvetica" charset="0"/>
              </a:rPr>
              <a:t>     </a:t>
            </a:r>
            <a:r>
              <a:rPr lang="zh-CN" altLang="zh-CN" sz="2400" b="1" dirty="0">
                <a:latin typeface="Helvetica" charset="0"/>
              </a:rPr>
              <a:t>where </a:t>
            </a:r>
            <a:r>
              <a:rPr lang="zh-CN" altLang="zh-CN" sz="2400" i="1" dirty="0">
                <a:latin typeface="Helvetica" charset="0"/>
              </a:rPr>
              <a:t>student.id </a:t>
            </a:r>
            <a:r>
              <a:rPr lang="zh-CN" altLang="zh-CN" sz="2400" dirty="0">
                <a:latin typeface="Helvetica" charset="0"/>
              </a:rPr>
              <a:t>= </a:t>
            </a:r>
            <a:r>
              <a:rPr lang="zh-CN" altLang="zh-CN" sz="2400" i="1" dirty="0">
                <a:latin typeface="Helvetica" charset="0"/>
              </a:rPr>
              <a:t>nrow.id</a:t>
            </a:r>
            <a:r>
              <a:rPr lang="zh-CN" altLang="zh-CN" sz="2400" dirty="0">
                <a:latin typeface="Helvetica" charset="0"/>
              </a:rPr>
              <a:t>;</a:t>
            </a:r>
            <a:br>
              <a:rPr lang="zh-CN" altLang="zh-CN" sz="2400" dirty="0">
                <a:latin typeface="Helvetica" charset="0"/>
              </a:rPr>
            </a:br>
            <a:r>
              <a:rPr lang="zh-CN" altLang="zh-CN" sz="2400" b="1" dirty="0">
                <a:latin typeface="Helvetica" charset="0"/>
              </a:rPr>
              <a:t>end</a:t>
            </a:r>
            <a:r>
              <a:rPr lang="zh-CN" altLang="zh-CN" sz="2400" dirty="0">
                <a:latin typeface="Helvetica" charset="0"/>
              </a:rPr>
              <a:t>;</a:t>
            </a:r>
            <a:endParaRPr lang="zh-CN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Statement Level Triggers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66562" name="Rectangle 3"/>
          <p:cNvSpPr>
            <a:spLocks noGrp="1"/>
          </p:cNvSpPr>
          <p:nvPr>
            <p:ph idx="1"/>
          </p:nvPr>
        </p:nvSpPr>
        <p:spPr>
          <a:xfrm>
            <a:off x="186690" y="1193800"/>
            <a:ext cx="8793480" cy="4904105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Instead of executing a separate action for each affected row, a single action can be executed for all rows affected by a transaction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Use </a:t>
            </a:r>
            <a:r>
              <a:rPr lang="en-US" altLang="zh-CN" sz="2400" b="1" dirty="0">
                <a:latin typeface="Helvetica" charset="0"/>
              </a:rPr>
              <a:t>for each statement </a:t>
            </a:r>
            <a:r>
              <a:rPr lang="en-US" altLang="zh-CN" sz="2400" dirty="0">
                <a:latin typeface="Helvetica" charset="0"/>
              </a:rPr>
              <a:t>instead of </a:t>
            </a:r>
            <a:r>
              <a:rPr lang="en-US" altLang="zh-CN" sz="2400" b="1" dirty="0">
                <a:latin typeface="Helvetica" charset="0"/>
              </a:rPr>
              <a:t>for each row</a:t>
            </a:r>
            <a:endParaRPr lang="en-US" altLang="zh-CN" sz="2400" b="1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Use </a:t>
            </a:r>
            <a:r>
              <a:rPr lang="en-US" altLang="zh-CN" sz="2400" b="1" dirty="0">
                <a:latin typeface="Helvetica" charset="0"/>
              </a:rPr>
              <a:t>referencing old table</a:t>
            </a:r>
            <a:r>
              <a:rPr lang="en-US" altLang="zh-CN" sz="2400" dirty="0">
                <a:latin typeface="Helvetica" charset="0"/>
              </a:rPr>
              <a:t>   or   </a:t>
            </a:r>
            <a:r>
              <a:rPr lang="en-US" altLang="zh-CN" sz="2400" b="1" dirty="0">
                <a:latin typeface="Helvetica" charset="0"/>
              </a:rPr>
              <a:t>referencing new table</a:t>
            </a:r>
            <a:r>
              <a:rPr lang="en-US" altLang="zh-CN" sz="2400" dirty="0">
                <a:latin typeface="Helvetica" charset="0"/>
              </a:rPr>
              <a:t>   to refer to temporary tables  (called </a:t>
            </a:r>
            <a:r>
              <a:rPr lang="en-US" altLang="zh-CN" sz="2400" b="1" i="1" dirty="0">
                <a:solidFill>
                  <a:srgbClr val="000099"/>
                </a:solidFill>
                <a:latin typeface="Helvetica" charset="0"/>
              </a:rPr>
              <a:t>transition tables</a:t>
            </a:r>
            <a:r>
              <a:rPr lang="en-US" altLang="zh-CN" sz="2400" dirty="0">
                <a:latin typeface="Helvetica" charset="0"/>
              </a:rPr>
              <a:t>) containing the affected rows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Can be more efficient when dealing with SQL statements that update a large number of rows</a:t>
            </a:r>
            <a:endParaRPr lang="en-US" altLang="zh-CN" sz="2400" dirty="0">
              <a:latin typeface="Helvetica" charset="0"/>
            </a:endParaRPr>
          </a:p>
          <a:p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kern="1200" dirty="0">
                <a:latin typeface="黑体" panose="02010609060101010101" pitchFamily="49" charset="-122"/>
                <a:ea typeface="黑体" panose="02010609060101010101" pitchFamily="49" charset="-122"/>
              </a:rPr>
              <a:t>触发器可用于以下应用场景中：</a:t>
            </a:r>
            <a:endParaRPr lang="zh-CN" altLang="en-US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882" y="1093788"/>
            <a:ext cx="8665668" cy="5157110"/>
          </a:xfrm>
        </p:spPr>
        <p:txBody>
          <a:bodyPr/>
          <a:lstStyle/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1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数据完整性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。触发器可以用来保证数据完整性。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比如在插入数据之前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检查数据类型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唯一性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主键约束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，或者在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数据被更新或删除时，进行级联操作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等。</a:t>
            </a:r>
            <a:endParaRPr lang="zh-CN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2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数据审计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。触发器可以用来跟踪数据库中数据的变化，以检查数据变化过程是否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合法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、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规范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，从而保证业务数据的正确性和合理性。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比如应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确保涨薪后的员工工资高于之前的工资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3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数据安全性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。触发器可以用来进行安全性检查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比如在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非工作时间禁止插入新员工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（</a:t>
            </a:r>
            <a:r>
              <a:rPr lang="en-US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4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）</a:t>
            </a:r>
            <a:r>
              <a:rPr lang="zh-CN" altLang="zh-CN" sz="2400" kern="1200" dirty="0">
                <a:solidFill>
                  <a:srgbClr val="C00000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数据备份和同步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en-US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u"/>
            </a:pP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触发器可以在数据更新时对数据进行</a:t>
            </a:r>
            <a:r>
              <a:rPr lang="zh-CN" altLang="zh-CN" sz="2400" kern="1200" dirty="0">
                <a:solidFill>
                  <a:srgbClr val="000099"/>
                </a:solidFill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备份和同步</a:t>
            </a:r>
            <a:r>
              <a:rPr lang="zh-CN" altLang="zh-CN" sz="2400" kern="1200" dirty="0">
                <a:latin typeface="Arial" panose="020B0604020202020204" pitchFamily="34" charset="0"/>
                <a:ea typeface="宋体" panose="02010600030101010101" pitchFamily="2" charset="-122"/>
                <a:cs typeface="Arial" panose="020B0604020202020204" pitchFamily="34" charset="0"/>
              </a:rPr>
              <a:t>。</a:t>
            </a:r>
            <a:endParaRPr lang="zh-CN" altLang="zh-CN" sz="2400" kern="12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zh-CN" altLang="en-US" sz="2400" dirty="0">
              <a:latin typeface="Arial" panose="020B0604020202020204" pitchFamily="34" charset="0"/>
              <a:ea typeface="宋体" panose="02010600030101010101" pitchFamily="2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When Not To Use Triggers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68610" name="Rectangle 3"/>
          <p:cNvSpPr>
            <a:spLocks noGrp="1"/>
          </p:cNvSpPr>
          <p:nvPr>
            <p:ph idx="1"/>
          </p:nvPr>
        </p:nvSpPr>
        <p:spPr>
          <a:xfrm>
            <a:off x="254000" y="1143000"/>
            <a:ext cx="8753475" cy="528955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Triggers were used earlier for tasks such as 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Maintaining summary data</a:t>
            </a:r>
            <a:r>
              <a:rPr lang="en-US" altLang="zh-CN" sz="2000" dirty="0">
                <a:latin typeface="Helvetica" charset="0"/>
              </a:rPr>
              <a:t> (e.g., total salary of each department)</a:t>
            </a:r>
            <a:endParaRPr lang="en-US" altLang="zh-CN" sz="2000" dirty="0">
              <a:latin typeface="Helvetica" charset="0"/>
            </a:endParaRPr>
          </a:p>
          <a:p>
            <a:pPr lvl="1"/>
            <a:r>
              <a:rPr lang="en-US" altLang="zh-CN" sz="2000" i="1" dirty="0">
                <a:solidFill>
                  <a:srgbClr val="000099"/>
                </a:solidFill>
                <a:latin typeface="Helvetica" charset="0"/>
              </a:rPr>
              <a:t>Replicating databases </a:t>
            </a:r>
            <a:r>
              <a:rPr lang="en-US" altLang="zh-CN" sz="2000" dirty="0">
                <a:latin typeface="Helvetica" charset="0"/>
              </a:rPr>
              <a:t>by recording changes to special relations (called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change</a:t>
            </a:r>
            <a:r>
              <a:rPr lang="en-US" altLang="zh-CN" sz="2000" dirty="0">
                <a:latin typeface="Helvetica" charset="0"/>
              </a:rPr>
              <a:t> or </a:t>
            </a:r>
            <a:r>
              <a:rPr lang="en-US" altLang="zh-CN" sz="2000" b="1" dirty="0">
                <a:solidFill>
                  <a:srgbClr val="000099"/>
                </a:solidFill>
                <a:latin typeface="Helvetica" charset="0"/>
              </a:rPr>
              <a:t>delta</a:t>
            </a:r>
            <a:r>
              <a:rPr lang="en-US" altLang="zh-CN" sz="2000" dirty="0">
                <a:latin typeface="Helvetica" charset="0"/>
              </a:rPr>
              <a:t> relations) and having a separate process that applies the changes over to a replica </a:t>
            </a:r>
            <a:endParaRPr lang="en-US" altLang="zh-CN" sz="2000" dirty="0">
              <a:latin typeface="Helvetica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There are better ways of doing these now:</a:t>
            </a:r>
            <a:endParaRPr lang="en-US" altLang="zh-CN" sz="24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Databases today provide built in </a:t>
            </a:r>
            <a:r>
              <a:rPr lang="en-US" altLang="zh-CN" sz="2000" dirty="0">
                <a:solidFill>
                  <a:srgbClr val="C00000"/>
                </a:solidFill>
                <a:latin typeface="Helvetica" charset="0"/>
              </a:rPr>
              <a:t>materialized view </a:t>
            </a:r>
            <a:r>
              <a:rPr lang="en-US" altLang="zh-CN" sz="2000" dirty="0">
                <a:latin typeface="Helvetica" charset="0"/>
              </a:rPr>
              <a:t>facilities to maintain summary data</a:t>
            </a:r>
            <a:endParaRPr lang="en-US" altLang="zh-CN" sz="20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Databases provide </a:t>
            </a:r>
            <a:r>
              <a:rPr lang="en-US" altLang="zh-CN" sz="2000" dirty="0">
                <a:solidFill>
                  <a:srgbClr val="C00000"/>
                </a:solidFill>
                <a:latin typeface="Helvetica" charset="0"/>
              </a:rPr>
              <a:t>built-in support for replication</a:t>
            </a:r>
            <a:endParaRPr lang="en-US" altLang="zh-CN" sz="2000" dirty="0">
              <a:latin typeface="Helvetica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Encapsulation facilities can be used instead of triggers in many cases</a:t>
            </a:r>
            <a:endParaRPr lang="en-US" altLang="zh-CN" sz="24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Define methods to update fields</a:t>
            </a:r>
            <a:endParaRPr lang="en-US" altLang="zh-CN" sz="20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000" dirty="0">
                <a:latin typeface="Helvetica" charset="0"/>
              </a:rPr>
              <a:t>Carry out actions as part of the update methods instead of </a:t>
            </a:r>
            <a:br>
              <a:rPr lang="en-US" altLang="zh-CN" sz="2000" dirty="0">
                <a:latin typeface="Helvetica" charset="0"/>
              </a:rPr>
            </a:br>
            <a:r>
              <a:rPr lang="en-US" altLang="zh-CN" sz="2000" dirty="0">
                <a:latin typeface="Helvetica" charset="0"/>
              </a:rPr>
              <a:t>through a trigger </a:t>
            </a:r>
            <a:endParaRPr lang="en-US" altLang="zh-CN" sz="20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002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When Not To Use Triggers (Cont.)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70658" name="Rectangle 3"/>
          <p:cNvSpPr>
            <a:spLocks noGrp="1"/>
          </p:cNvSpPr>
          <p:nvPr>
            <p:ph idx="1"/>
          </p:nvPr>
        </p:nvSpPr>
        <p:spPr>
          <a:xfrm>
            <a:off x="203835" y="1181100"/>
            <a:ext cx="8641080" cy="5289550"/>
          </a:xfrm>
        </p:spPr>
        <p:txBody>
          <a:bodyPr vert="horz" wrap="square" lIns="91440" tIns="45720" rIns="91440" bIns="45720" anchor="t"/>
          <a:lstStyle/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Risk of unintended execution of triggers, for example, when</a:t>
            </a:r>
            <a:endParaRPr lang="en-US" altLang="zh-CN" sz="24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Loading data from a backup copy</a:t>
            </a:r>
            <a:endParaRPr lang="en-US" altLang="zh-CN" sz="24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Replicating updates at a remote site</a:t>
            </a:r>
            <a:endParaRPr lang="en-US" altLang="zh-CN" sz="24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Trigger execution can be disabled before such actions.</a:t>
            </a:r>
            <a:endParaRPr lang="en-US" altLang="zh-CN" sz="2400" dirty="0">
              <a:latin typeface="Helvetica" charset="0"/>
            </a:endParaRPr>
          </a:p>
          <a:p>
            <a:pPr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Other risks with triggers:</a:t>
            </a:r>
            <a:endParaRPr lang="en-US" altLang="zh-CN" sz="24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Error leading to failure of critical transactions that set off the trigger</a:t>
            </a:r>
            <a:endParaRPr lang="en-US" altLang="zh-CN" sz="2400" dirty="0">
              <a:latin typeface="Helvetica" charset="0"/>
            </a:endParaRPr>
          </a:p>
          <a:p>
            <a:pPr lvl="1">
              <a:lnSpc>
                <a:spcPct val="80000"/>
              </a:lnSpc>
            </a:pPr>
            <a:r>
              <a:rPr lang="en-US" altLang="zh-CN" sz="2400" dirty="0">
                <a:latin typeface="Helvetica" charset="0"/>
              </a:rPr>
              <a:t>Cascading execution</a:t>
            </a: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4"/>
          <p:cNvSpPr>
            <a:spLocks noGrp="1"/>
          </p:cNvSpPr>
          <p:nvPr>
            <p:ph type="ctrTitle"/>
          </p:nvPr>
        </p:nvSpPr>
        <p:spPr>
          <a:xfrm>
            <a:off x="1014730" y="207010"/>
            <a:ext cx="7772400" cy="782320"/>
          </a:xfrm>
        </p:spPr>
        <p:txBody>
          <a:bodyPr vert="horz" wrap="square" lIns="91440" tIns="45720" rIns="91440" bIns="45720" anchor="b"/>
          <a:lstStyle/>
          <a:p>
            <a:r>
              <a:rPr lang="en-US" altLang="zh-CN" sz="4000" dirty="0">
                <a:effectLst/>
                <a:latin typeface="Helvetica" charset="0"/>
              </a:rPr>
              <a:t>Recursive Queries</a:t>
            </a:r>
            <a:endParaRPr lang="en-US" altLang="zh-CN" sz="4000" dirty="0">
              <a:effectLst/>
              <a:latin typeface="Helvetica" charset="0"/>
            </a:endParaRPr>
          </a:p>
        </p:txBody>
      </p:sp>
      <p:sp>
        <p:nvSpPr>
          <p:cNvPr id="74754" name="Rectangle 3"/>
          <p:cNvSpPr>
            <a:spLocks noGrp="1"/>
          </p:cNvSpPr>
          <p:nvPr>
            <p:ph idx="1"/>
          </p:nvPr>
        </p:nvSpPr>
        <p:spPr>
          <a:xfrm>
            <a:off x="245745" y="1207135"/>
            <a:ext cx="8692515" cy="3750945"/>
          </a:xfrm>
          <a:noFill/>
          <a:ln w="9525">
            <a:noFill/>
          </a:ln>
        </p:spPr>
        <p:txBody>
          <a:bodyPr vert="horz" wrap="square" lIns="91440" tIns="45720" rIns="91440" bIns="45720" rtlCol="0" anchor="t">
            <a:normAutofit/>
          </a:bodyPr>
          <a:lstStyle/>
          <a:p>
            <a:pPr marL="342900" lvl="0" indent="-342900" algn="l">
              <a:buFont typeface="Wingdings" panose="05000000000000000000" pitchFamily="2" charset="2"/>
              <a:buChar char="l"/>
            </a:pPr>
            <a:r>
              <a:rPr lang="zh-CN" altLang="zh-CN" sz="2000" b="1" dirty="0">
                <a:solidFill>
                  <a:srgbClr val="C00000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层次传递闭包</a:t>
            </a: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的应用</a:t>
            </a:r>
            <a:endParaRPr lang="zh-CN" altLang="zh-CN" sz="2000" dirty="0">
              <a:latin typeface="Helvetica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机构通常由几层组织单元构成</a:t>
            </a:r>
            <a:endParaRPr lang="zh-CN" altLang="zh-CN" sz="2000" dirty="0">
              <a:latin typeface="Helvetica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部件又有子部件，</a:t>
            </a:r>
            <a:r>
              <a:rPr lang="zh-CN" altLang="zh-CN" sz="2000" b="1" dirty="0">
                <a:solidFill>
                  <a:srgbClr val="C00000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传递闭包</a:t>
            </a: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找出自行车中的所有部件</a:t>
            </a:r>
            <a:endParaRPr lang="zh-CN" altLang="zh-CN" sz="2000" dirty="0">
              <a:latin typeface="Helvetica" charset="0"/>
              <a:ea typeface="宋体" panose="02010600030101010101" pitchFamily="2" charset="-122"/>
              <a:sym typeface="+mn-ea"/>
            </a:endParaRPr>
          </a:p>
          <a:p>
            <a:pPr marL="1257300" lvl="2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车轮、踏板</a:t>
            </a:r>
            <a:endParaRPr lang="zh-CN" altLang="zh-CN" sz="2000" dirty="0">
              <a:latin typeface="Helvetica" charset="0"/>
              <a:ea typeface="宋体" panose="02010600030101010101" pitchFamily="2" charset="-122"/>
              <a:sym typeface="+mn-ea"/>
            </a:endParaRPr>
          </a:p>
          <a:p>
            <a:pPr marL="1714500" lvl="3" indent="-342900" algn="l">
              <a:buFont typeface="Wingdings" panose="05000000000000000000" pitchFamily="2" charset="2"/>
              <a:buChar char="l"/>
            </a:pPr>
            <a:r>
              <a:rPr lang="zh-CN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轮胎、轮圈、辐条</a:t>
            </a:r>
            <a:endParaRPr lang="zh-CN" altLang="zh-CN" sz="2000" dirty="0">
              <a:latin typeface="Helvetica" charset="0"/>
              <a:ea typeface="宋体" panose="02010600030101010101" pitchFamily="2" charset="-122"/>
              <a:sym typeface="+mn-ea"/>
            </a:endParaRPr>
          </a:p>
          <a:p>
            <a:pPr marL="800100" lvl="1" indent="-342900" algn="just">
              <a:buFont typeface="Wingdings" panose="05000000000000000000" pitchFamily="2" charset="2"/>
              <a:buChar char="l"/>
            </a:pPr>
            <a:r>
              <a:rPr lang="en-US" altLang="zh-CN" sz="2000" b="1" dirty="0">
                <a:solidFill>
                  <a:srgbClr val="000099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flights(to,from)</a:t>
            </a:r>
            <a:r>
              <a:rPr lang="zh-CN" altLang="en-US" sz="2000" b="1" dirty="0">
                <a:solidFill>
                  <a:srgbClr val="000099"/>
                </a:solidFill>
                <a:latin typeface="Helvetica" charset="0"/>
                <a:ea typeface="宋体" panose="02010600030101010101" pitchFamily="2" charset="-122"/>
                <a:sym typeface="+mn-ea"/>
              </a:rPr>
              <a:t>：</a:t>
            </a:r>
            <a:r>
              <a:rPr lang="zh-CN" altLang="en-US" sz="2000" dirty="0">
                <a:latin typeface="Helvetica" charset="0"/>
                <a:ea typeface="宋体" panose="02010600030101010101" pitchFamily="2" charset="-122"/>
                <a:sym typeface="+mn-ea"/>
              </a:rPr>
              <a:t>表示哪个城市可以从其他城市直接飞达</a:t>
            </a:r>
            <a:endParaRPr lang="zh-CN" altLang="en-US" sz="2000" dirty="0">
              <a:latin typeface="Helvetica" charset="0"/>
              <a:ea typeface="宋体" panose="02010600030101010101" pitchFamily="2" charset="-122"/>
              <a:sym typeface="+mn-ea"/>
            </a:endParaRPr>
          </a:p>
          <a:p>
            <a:pPr marL="1257300" lvl="2" indent="-342900" algn="just">
              <a:buFont typeface="Wingdings" panose="05000000000000000000" pitchFamily="2" charset="2"/>
              <a:buChar char="l"/>
            </a:pPr>
            <a:r>
              <a:rPr lang="en-US" altLang="zh-CN" sz="2000" dirty="0">
                <a:latin typeface="Helvetica" charset="0"/>
                <a:ea typeface="宋体" panose="02010600030101010101" pitchFamily="2" charset="-122"/>
                <a:sym typeface="+mn-ea"/>
              </a:rPr>
              <a:t>findAllPrereqs</a:t>
            </a:r>
            <a:r>
              <a:rPr lang="zh-CN" altLang="en-US" sz="2000" dirty="0">
                <a:latin typeface="Helvetica" charset="0"/>
                <a:ea typeface="宋体" panose="02010600030101010101" pitchFamily="2" charset="-122"/>
                <a:sym typeface="+mn-ea"/>
              </a:rPr>
              <a:t>函数：找到所有从某个给定城市出发通过一次或一系列的飞行到达的城市</a:t>
            </a:r>
            <a:endParaRPr lang="zh-CN" altLang="en-US" sz="2000" dirty="0">
              <a:latin typeface="Helvetica" charset="0"/>
              <a:ea typeface="宋体" panose="02010600030101010101" pitchFamily="2" charset="-122"/>
              <a:sym typeface="+mn-ea"/>
            </a:endParaRPr>
          </a:p>
          <a:p>
            <a:pPr marL="1714500" lvl="3" indent="-342900" algn="just">
              <a:buFont typeface="Wingdings" panose="05000000000000000000" pitchFamily="2" charset="2"/>
              <a:buChar char="l"/>
            </a:pPr>
            <a:r>
              <a:rPr lang="zh-CN" altLang="en-US" sz="2000" dirty="0">
                <a:latin typeface="Helvetica" charset="0"/>
                <a:ea typeface="宋体" panose="02010600030101010101" pitchFamily="2" charset="-122"/>
                <a:sym typeface="+mn-ea"/>
              </a:rPr>
              <a:t>可能存在可达关系的环：去掉已见过的城市</a:t>
            </a:r>
            <a:endParaRPr lang="en-US" altLang="zh-CN" sz="2000" dirty="0">
              <a:latin typeface="Helvetica" charset="0"/>
              <a:ea typeface="宋体" panose="02010600030101010101" pitchFamily="2" charset="-122"/>
              <a:sym typeface="+mn-ea"/>
            </a:endParaRPr>
          </a:p>
        </p:txBody>
      </p:sp>
      <p:grpSp>
        <p:nvGrpSpPr>
          <p:cNvPr id="25605" name="Group 5"/>
          <p:cNvGrpSpPr/>
          <p:nvPr/>
        </p:nvGrpSpPr>
        <p:grpSpPr>
          <a:xfrm>
            <a:off x="4329430" y="5053330"/>
            <a:ext cx="2443163" cy="1744663"/>
            <a:chOff x="3555721" y="1565274"/>
            <a:chExt cx="2443162" cy="1744663"/>
          </a:xfrm>
        </p:grpSpPr>
        <p:sp>
          <p:nvSpPr>
            <p:cNvPr id="25606" name="Rectangle 1"/>
            <p:cNvSpPr/>
            <p:nvPr/>
          </p:nvSpPr>
          <p:spPr>
            <a:xfrm>
              <a:off x="3555721" y="1619249"/>
              <a:ext cx="2360612" cy="360363"/>
            </a:xfrm>
            <a:prstGeom prst="rect">
              <a:avLst/>
            </a:prstGeom>
            <a:solidFill>
              <a:schemeClr val="bg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 altLang="en-US" dirty="0">
                <a:latin typeface="Helvetica" charset="0"/>
              </a:endParaRPr>
            </a:p>
          </p:txBody>
        </p:sp>
        <p:sp>
          <p:nvSpPr>
            <p:cNvPr id="25607" name="Rectangle 6"/>
            <p:cNvSpPr/>
            <p:nvPr/>
          </p:nvSpPr>
          <p:spPr>
            <a:xfrm>
              <a:off x="3566833" y="2020887"/>
              <a:ext cx="2360613" cy="1239837"/>
            </a:xfrm>
            <a:prstGeom prst="rect">
              <a:avLst/>
            </a:prstGeom>
            <a:solidFill>
              <a:schemeClr val="accent1"/>
            </a:solidFill>
            <a:ln w="28575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wrap="none"/>
            <a:lstStyle/>
            <a:p>
              <a:endParaRPr lang="en-US" altLang="en-US" dirty="0">
                <a:latin typeface="Helvetica" charset="0"/>
              </a:endParaRPr>
            </a:p>
          </p:txBody>
        </p:sp>
        <p:cxnSp>
          <p:nvCxnSpPr>
            <p:cNvPr id="25608" name="Straight Connector 3"/>
            <p:cNvCxnSpPr/>
            <p:nvPr/>
          </p:nvCxnSpPr>
          <p:spPr>
            <a:xfrm>
              <a:off x="4635221" y="1619249"/>
              <a:ext cx="0" cy="360363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cxnSp>
          <p:nvCxnSpPr>
            <p:cNvPr id="25609" name="Straight Connector 9"/>
            <p:cNvCxnSpPr/>
            <p:nvPr/>
          </p:nvCxnSpPr>
          <p:spPr>
            <a:xfrm flipH="1">
              <a:off x="4635221" y="2028824"/>
              <a:ext cx="3175" cy="1231900"/>
            </a:xfrm>
            <a:prstGeom prst="line">
              <a:avLst/>
            </a:prstGeom>
            <a:ln w="2857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</p:cxnSp>
        <p:sp>
          <p:nvSpPr>
            <p:cNvPr id="25610" name="TextBox 5"/>
            <p:cNvSpPr txBox="1"/>
            <p:nvPr/>
          </p:nvSpPr>
          <p:spPr>
            <a:xfrm>
              <a:off x="3649383" y="1565274"/>
              <a:ext cx="2349500" cy="400050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en-US" i="1" dirty="0">
                  <a:latin typeface="Helvetica" charset="0"/>
                </a:rPr>
                <a:t> </a:t>
              </a:r>
              <a:r>
                <a:rPr lang="en-US" altLang="en-US" sz="2000" i="1" dirty="0">
                  <a:latin typeface="Palatino Linotype" panose="02040502050505030304" pitchFamily="18" charset="0"/>
                </a:rPr>
                <a:t>person    supervisor</a:t>
              </a:r>
              <a:endParaRPr lang="en-US" altLang="en-US" sz="2000" i="1" dirty="0">
                <a:latin typeface="Palatino Linotype" panose="02040502050505030304" pitchFamily="18" charset="0"/>
              </a:endParaRPr>
            </a:p>
          </p:txBody>
        </p:sp>
        <p:sp>
          <p:nvSpPr>
            <p:cNvPr id="25611" name="TextBox 7"/>
            <p:cNvSpPr txBox="1"/>
            <p:nvPr/>
          </p:nvSpPr>
          <p:spPr>
            <a:xfrm>
              <a:off x="3590646" y="1987549"/>
              <a:ext cx="2330450" cy="132238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lstStyle/>
            <a:p>
              <a:r>
                <a:rPr lang="en-US" altLang="en-US" sz="2000" dirty="0">
                  <a:latin typeface="Palatino Linotype" panose="02040502050505030304" pitchFamily="18" charset="0"/>
                </a:rPr>
                <a:t>Bob	   Alice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Mary	   Susan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Alice	   David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  <a:p>
              <a:r>
                <a:rPr lang="en-US" altLang="en-US" sz="2000" dirty="0">
                  <a:latin typeface="Palatino Linotype" panose="02040502050505030304" pitchFamily="18" charset="0"/>
                </a:rPr>
                <a:t>David   	   Mary</a:t>
              </a:r>
              <a:endParaRPr lang="en-US" altLang="en-US" sz="2000" dirty="0">
                <a:latin typeface="Palatino Linotype" panose="02040502050505030304" pitchFamily="18" charset="0"/>
              </a:endParaRPr>
            </a:p>
          </p:txBody>
        </p:sp>
      </p:grpSp>
      <p:pic>
        <p:nvPicPr>
          <p:cNvPr id="12" name="Picture 5" descr="C:\Users\as668\Desktop\Judi\5_13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1197" y="4608711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Recursion in SQL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74754" name="Rectangle 3"/>
          <p:cNvSpPr>
            <a:spLocks noGrp="1"/>
          </p:cNvSpPr>
          <p:nvPr>
            <p:ph idx="1"/>
          </p:nvPr>
        </p:nvSpPr>
        <p:spPr>
          <a:xfrm>
            <a:off x="245745" y="900430"/>
            <a:ext cx="8692515" cy="490347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000" dirty="0">
                <a:latin typeface="Helvetica" charset="0"/>
              </a:rPr>
              <a:t>SQL:1999 permits</a:t>
            </a:r>
            <a:r>
              <a:rPr lang="en-US" altLang="zh-CN" sz="2000" b="1" u="sng" dirty="0">
                <a:solidFill>
                  <a:srgbClr val="C00000"/>
                </a:solidFill>
                <a:latin typeface="Helvetica" charset="0"/>
              </a:rPr>
              <a:t> recursive view definition</a:t>
            </a:r>
            <a:endParaRPr lang="en-US" altLang="zh-CN" sz="2000" dirty="0">
              <a:latin typeface="Helvetica" charset="0"/>
            </a:endParaRPr>
          </a:p>
          <a:p>
            <a:r>
              <a:rPr lang="en-US" altLang="zh-CN" sz="2000" dirty="0">
                <a:latin typeface="Helvetica" charset="0"/>
              </a:rPr>
              <a:t>Example: find which courses are a prerequisite, whether directly or indirectly, for a specific course </a:t>
            </a:r>
            <a:br>
              <a:rPr lang="en-US" altLang="zh-CN" sz="2000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with recursive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(</a:t>
            </a:r>
            <a:r>
              <a:rPr lang="en-US" altLang="zh-CN" sz="1600" i="1" dirty="0">
                <a:latin typeface="Helvetica" charset="0"/>
              </a:rPr>
              <a:t>course_id</a:t>
            </a:r>
            <a:r>
              <a:rPr lang="en-US" altLang="zh-CN" sz="1600" dirty="0">
                <a:latin typeface="Helvetica" charset="0"/>
              </a:rPr>
              <a:t>, </a:t>
            </a:r>
            <a:r>
              <a:rPr lang="en-US" altLang="zh-CN" sz="1600" i="1" dirty="0">
                <a:latin typeface="Helvetica" charset="0"/>
              </a:rPr>
              <a:t>prereq_id</a:t>
            </a:r>
            <a:r>
              <a:rPr lang="en-US" altLang="zh-CN" sz="1600" dirty="0">
                <a:latin typeface="Helvetica" charset="0"/>
              </a:rPr>
              <a:t>) </a:t>
            </a:r>
            <a:r>
              <a:rPr lang="en-US" altLang="zh-CN" sz="1600" b="1" dirty="0">
                <a:latin typeface="Helvetica" charset="0"/>
              </a:rPr>
              <a:t>as </a:t>
            </a:r>
            <a:r>
              <a:rPr lang="en-US" altLang="zh-CN" sz="1600" dirty="0">
                <a:latin typeface="Helvetica" charset="0"/>
              </a:rPr>
              <a:t>(</a:t>
            </a:r>
            <a:br>
              <a:rPr lang="en-US" altLang="zh-CN" sz="1600" dirty="0">
                <a:latin typeface="Helvetica" charset="0"/>
              </a:rPr>
            </a:br>
            <a:r>
              <a:rPr lang="en-US" altLang="zh-CN" sz="1600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select </a:t>
            </a:r>
            <a:r>
              <a:rPr lang="en-US" altLang="zh-CN" sz="1600" i="1" dirty="0">
                <a:latin typeface="Helvetica" charset="0"/>
              </a:rPr>
              <a:t>course_id</a:t>
            </a:r>
            <a:r>
              <a:rPr lang="en-US" altLang="zh-CN" sz="1600" dirty="0">
                <a:latin typeface="Helvetica" charset="0"/>
              </a:rPr>
              <a:t>, </a:t>
            </a:r>
            <a:r>
              <a:rPr lang="en-US" altLang="zh-CN" sz="1600" i="1" dirty="0">
                <a:latin typeface="Helvetica" charset="0"/>
              </a:rPr>
              <a:t>prereq_id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from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union</a:t>
            </a:r>
            <a:br>
              <a:rPr lang="en-US" altLang="zh-CN" sz="1600" b="1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        select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course_id</a:t>
            </a:r>
            <a:r>
              <a:rPr lang="en-US" altLang="zh-CN" sz="1600" b="1" dirty="0">
                <a:latin typeface="Helvetica" charset="0"/>
              </a:rPr>
              <a:t>,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prereq_id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from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rec_rereq</a:t>
            </a:r>
            <a:r>
              <a:rPr lang="en-US" altLang="zh-CN" sz="1600" dirty="0">
                <a:latin typeface="Helvetica" charset="0"/>
              </a:rPr>
              <a:t>,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    </a:t>
            </a:r>
            <a:r>
              <a:rPr lang="en-US" altLang="zh-CN" sz="1600" b="1" dirty="0">
                <a:latin typeface="Helvetica" charset="0"/>
              </a:rPr>
              <a:t>where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prereq_id </a:t>
            </a:r>
            <a:r>
              <a:rPr lang="en-US" altLang="zh-CN" sz="1600" dirty="0">
                <a:latin typeface="Helvetica" charset="0"/>
              </a:rPr>
              <a:t>= </a:t>
            </a:r>
            <a:r>
              <a:rPr lang="en-US" altLang="zh-CN" sz="1600" b="1" i="1" dirty="0">
                <a:solidFill>
                  <a:srgbClr val="002060"/>
                </a:solidFill>
                <a:latin typeface="Helvetica" charset="0"/>
              </a:rPr>
              <a:t>prereq</a:t>
            </a:r>
            <a:r>
              <a:rPr lang="en-US" altLang="zh-CN" sz="1600" dirty="0">
                <a:latin typeface="Helvetica" charset="0"/>
              </a:rPr>
              <a:t>.</a:t>
            </a:r>
            <a:r>
              <a:rPr lang="en-US" altLang="zh-CN" sz="1600" i="1" dirty="0">
                <a:latin typeface="Helvetica" charset="0"/>
              </a:rPr>
              <a:t>course_id</a:t>
            </a:r>
            <a:br>
              <a:rPr lang="en-US" altLang="zh-CN" sz="1600" i="1" dirty="0">
                <a:latin typeface="Helvetica" charset="0"/>
              </a:rPr>
            </a:br>
            <a:r>
              <a:rPr lang="en-US" altLang="zh-CN" sz="1600" i="1" dirty="0">
                <a:latin typeface="Helvetica" charset="0"/>
              </a:rPr>
              <a:t>    </a:t>
            </a:r>
            <a:r>
              <a:rPr lang="en-US" altLang="zh-CN" sz="1600" dirty="0">
                <a:latin typeface="Helvetica" charset="0"/>
              </a:rPr>
              <a:t>)</a:t>
            </a:r>
            <a:br>
              <a:rPr lang="en-US" altLang="zh-CN" sz="1600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select </a:t>
            </a:r>
            <a:r>
              <a:rPr lang="en-US" altLang="zh-CN" sz="1600" dirty="0">
                <a:latin typeface="Helvetica" charset="0"/>
              </a:rPr>
              <a:t>∗</a:t>
            </a:r>
            <a:br>
              <a:rPr lang="en-US" altLang="zh-CN" sz="1600" dirty="0">
                <a:latin typeface="Helvetica" charset="0"/>
              </a:rPr>
            </a:br>
            <a:r>
              <a:rPr lang="en-US" altLang="zh-CN" sz="1600" b="1" dirty="0">
                <a:latin typeface="Helvetica" charset="0"/>
              </a:rPr>
              <a:t>from </a:t>
            </a:r>
            <a:r>
              <a:rPr lang="en-US" altLang="zh-CN" sz="1600" b="1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1600" dirty="0">
                <a:latin typeface="Helvetica" charset="0"/>
              </a:rPr>
              <a:t>;</a:t>
            </a:r>
            <a:endParaRPr lang="en-US" altLang="zh-CN" sz="1600" dirty="0">
              <a:latin typeface="Helvetica" charset="0"/>
            </a:endParaRPr>
          </a:p>
          <a:p>
            <a:r>
              <a:rPr lang="en-US" altLang="zh-CN" sz="2000" dirty="0">
                <a:latin typeface="Helvetica" charset="0"/>
              </a:rPr>
              <a:t>This example view, </a:t>
            </a:r>
            <a:r>
              <a:rPr lang="en-US" altLang="zh-CN" sz="2000" b="1" i="1" dirty="0">
                <a:solidFill>
                  <a:schemeClr val="tx2"/>
                </a:solidFill>
                <a:latin typeface="Helvetica" charset="0"/>
              </a:rPr>
              <a:t>rec_prereq</a:t>
            </a:r>
            <a:r>
              <a:rPr lang="en-US" altLang="zh-CN" sz="2000" i="1" dirty="0">
                <a:latin typeface="Helvetica" charset="0"/>
              </a:rPr>
              <a:t>,</a:t>
            </a:r>
            <a:r>
              <a:rPr lang="en-US" altLang="zh-CN" sz="2000" dirty="0">
                <a:latin typeface="Helvetica" charset="0"/>
              </a:rPr>
              <a:t> is called</a:t>
            </a:r>
            <a:endParaRPr lang="en-US" altLang="zh-CN" sz="2000" dirty="0">
              <a:latin typeface="Helvetica" charset="0"/>
            </a:endParaRPr>
          </a:p>
          <a:p>
            <a:pPr marL="0" indent="0">
              <a:buNone/>
            </a:pPr>
            <a:r>
              <a:rPr lang="en-US" altLang="zh-CN" sz="2000" dirty="0">
                <a:latin typeface="Helvetica" charset="0"/>
              </a:rPr>
              <a:t>      the </a:t>
            </a:r>
            <a:r>
              <a:rPr lang="en-US" altLang="zh-CN" sz="2000" b="1" i="1" dirty="0">
                <a:solidFill>
                  <a:schemeClr val="tx2"/>
                </a:solidFill>
                <a:latin typeface="Helvetica" charset="0"/>
              </a:rPr>
              <a:t>transitive closure</a:t>
            </a:r>
            <a:r>
              <a:rPr lang="en-US" altLang="zh-CN" sz="2000" dirty="0">
                <a:latin typeface="Helvetica" charset="0"/>
              </a:rPr>
              <a:t> of the </a:t>
            </a:r>
            <a:r>
              <a:rPr lang="en-US" altLang="zh-CN" sz="2000" b="1" i="1" dirty="0">
                <a:solidFill>
                  <a:srgbClr val="000099"/>
                </a:solidFill>
                <a:latin typeface="Helvetica" charset="0"/>
              </a:rPr>
              <a:t>prereq</a:t>
            </a:r>
            <a:r>
              <a:rPr lang="en-US" altLang="zh-CN" sz="2000" i="1" dirty="0">
                <a:latin typeface="Helvetica" charset="0"/>
              </a:rPr>
              <a:t> </a:t>
            </a:r>
            <a:r>
              <a:rPr lang="en-US" altLang="zh-CN" sz="2000" dirty="0">
                <a:latin typeface="Helvetica" charset="0"/>
              </a:rPr>
              <a:t>relation</a:t>
            </a:r>
            <a:endParaRPr lang="en-US" altLang="zh-CN" sz="2000" dirty="0">
              <a:latin typeface="Helvetica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981190" y="1791970"/>
            <a:ext cx="88201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i="1">
                <a:solidFill>
                  <a:srgbClr val="002060"/>
                </a:solidFill>
              </a:rPr>
              <a:t>prereq</a:t>
            </a:r>
            <a:endParaRPr lang="en-US" altLang="zh-CN" i="1">
              <a:solidFill>
                <a:srgbClr val="00206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88760" y="4153535"/>
            <a:ext cx="125539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i="1" dirty="0">
                <a:solidFill>
                  <a:schemeClr val="tx2"/>
                </a:solidFill>
                <a:sym typeface="+mn-ea"/>
              </a:rPr>
              <a:t>rec_prere</a:t>
            </a:r>
            <a:endParaRPr lang="en-US" altLang="zh-CN" i="1">
              <a:solidFill>
                <a:srgbClr val="002060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082675" y="2197100"/>
            <a:ext cx="3810000" cy="50800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 dirty="0">
                <a:ln>
                  <a:noFill/>
                </a:ln>
                <a:solidFill>
                  <a:srgbClr val="000099"/>
                </a:solidFill>
                <a:effectLst/>
                <a:latin typeface="Helvetica" charset="0"/>
                <a:ea typeface="宋体" panose="02010600030101010101" pitchFamily="2" charset="-122"/>
              </a:rPr>
              <a:t>基查询</a:t>
            </a:r>
            <a:endParaRPr kumimoji="0" lang="zh-CN" altLang="en-US" sz="1600" b="0" i="0" u="none" strike="noStrike" cap="none" normalizeH="0" baseline="0" dirty="0">
              <a:ln>
                <a:noFill/>
              </a:ln>
              <a:solidFill>
                <a:srgbClr val="000099"/>
              </a:solidFill>
              <a:effectLst/>
              <a:latin typeface="Helvetica" charset="0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1"/>
            </p:custDataLst>
          </p:nvPr>
        </p:nvSpPr>
        <p:spPr>
          <a:xfrm>
            <a:off x="153035" y="2952115"/>
            <a:ext cx="5511800" cy="717550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Helvetica" charset="0"/>
                <a:ea typeface="宋体" panose="02010600030101010101" pitchFamily="2" charset="-122"/>
              </a:rPr>
              <a:t>递归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Helvetica" charset="0"/>
              <a:ea typeface="宋体" panose="02010600030101010101" pitchFamily="2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sz="1600" b="0" i="0" u="none" strike="noStrike" cap="none" normalizeH="0" baseline="0">
                <a:ln>
                  <a:noFill/>
                </a:ln>
                <a:solidFill>
                  <a:srgbClr val="C00000"/>
                </a:solidFill>
                <a:effectLst/>
                <a:latin typeface="Helvetica" charset="0"/>
                <a:ea typeface="宋体" panose="02010600030101010101" pitchFamily="2" charset="-122"/>
              </a:rPr>
              <a:t>查询</a:t>
            </a:r>
            <a:endParaRPr kumimoji="0" lang="zh-CN" altLang="en-US" sz="1600" b="0" i="0" u="none" strike="noStrike" cap="none" normalizeH="0" baseline="0">
              <a:ln>
                <a:noFill/>
              </a:ln>
              <a:solidFill>
                <a:srgbClr val="C00000"/>
              </a:solidFill>
              <a:effectLst/>
              <a:latin typeface="Helvetica" charset="0"/>
              <a:ea typeface="宋体" panose="02010600030101010101" pitchFamily="2" charset="-122"/>
            </a:endParaRPr>
          </a:p>
        </p:txBody>
      </p:sp>
      <p:pic>
        <p:nvPicPr>
          <p:cNvPr id="10" name="Picture 5" descr="C:\Users\as668\Desktop\Judi\5_13.jpg"/>
          <p:cNvPicPr>
            <a:picLocks noChangeAspect="1" noChangeArrowheads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1190" y="2122964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5" descr="C:\Users\as668\Desktop\Judi\5_13.jpg"/>
          <p:cNvPicPr>
            <a:picLocks noChangeAspect="1" noChangeArrowheads="1"/>
          </p:cNvPicPr>
          <p:nvPr>
            <p:custDataLst>
              <p:tags r:id="rId4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5875" y="4589225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9" grpId="0" bldLvl="0" animBg="1"/>
      <p:bldP spid="9" grpId="1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The Power of Recursion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76802" name="Rectangle 3"/>
          <p:cNvSpPr>
            <a:spLocks noGrp="1"/>
          </p:cNvSpPr>
          <p:nvPr>
            <p:ph idx="1"/>
          </p:nvPr>
        </p:nvSpPr>
        <p:spPr>
          <a:xfrm>
            <a:off x="280670" y="1165225"/>
            <a:ext cx="8503285" cy="523748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b="1" i="1" dirty="0">
                <a:solidFill>
                  <a:schemeClr val="tx2"/>
                </a:solidFill>
                <a:latin typeface="Helvetica" charset="0"/>
              </a:rPr>
              <a:t>Recursive views</a:t>
            </a:r>
            <a:r>
              <a:rPr lang="en-US" altLang="zh-CN" sz="2400" dirty="0">
                <a:latin typeface="Helvetica" charset="0"/>
              </a:rPr>
              <a:t> make it possible to write queries, such as </a:t>
            </a:r>
            <a:r>
              <a:rPr lang="en-US" altLang="zh-CN" sz="2400" b="1" i="1" dirty="0">
                <a:solidFill>
                  <a:srgbClr val="002060"/>
                </a:solidFill>
                <a:latin typeface="Helvetica" charset="0"/>
              </a:rPr>
              <a:t>transitive closure queries</a:t>
            </a:r>
            <a:r>
              <a:rPr lang="en-US" altLang="zh-CN" sz="2400" dirty="0">
                <a:latin typeface="Helvetica" charset="0"/>
              </a:rPr>
              <a:t>, that cannot be written without recursion or iteration.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000" dirty="0">
                <a:latin typeface="Helvetica" charset="0"/>
              </a:rPr>
              <a:t>Intuition:  Without recursion, a non-recursive non-iterative program can perform only a fixed number of joins of </a:t>
            </a:r>
            <a:r>
              <a:rPr lang="en-US" altLang="zh-CN" sz="2000" i="1" dirty="0">
                <a:latin typeface="Helvetica" charset="0"/>
              </a:rPr>
              <a:t>prereq</a:t>
            </a:r>
            <a:r>
              <a:rPr lang="en-US" altLang="zh-CN" sz="2000" dirty="0">
                <a:latin typeface="Helvetica" charset="0"/>
              </a:rPr>
              <a:t> with itself</a:t>
            </a:r>
            <a:endParaRPr lang="en-US" altLang="zh-CN" sz="2000" dirty="0">
              <a:latin typeface="Helvetica" charset="0"/>
            </a:endParaRPr>
          </a:p>
          <a:p>
            <a:pPr lvl="2"/>
            <a:r>
              <a:rPr lang="en-US" altLang="zh-CN" sz="2000" dirty="0">
                <a:latin typeface="Helvetica" charset="0"/>
              </a:rPr>
              <a:t>This can give only a fixed number of levels of managers</a:t>
            </a:r>
            <a:endParaRPr lang="en-US" altLang="zh-CN" sz="2000" dirty="0">
              <a:latin typeface="Helvetica" charset="0"/>
            </a:endParaRPr>
          </a:p>
          <a:p>
            <a:pPr lvl="2"/>
            <a:r>
              <a:rPr lang="en-US" altLang="zh-CN" sz="2000" dirty="0">
                <a:latin typeface="Helvetica" charset="0"/>
              </a:rPr>
              <a:t>Given a fixed non-recursive query, we can construct a database with a greater number of levels of prerequisites on which the query will not work</a:t>
            </a:r>
            <a:endParaRPr lang="en-US" altLang="zh-CN" sz="2000" dirty="0">
              <a:latin typeface="Helvetica" charset="0"/>
            </a:endParaRPr>
          </a:p>
          <a:p>
            <a:pPr lvl="2"/>
            <a:r>
              <a:rPr lang="en-US" altLang="zh-CN" sz="2000" dirty="0">
                <a:latin typeface="Helvetica" charset="0"/>
              </a:rPr>
              <a:t>Alternative: write a procedure to iterate as many times as required</a:t>
            </a:r>
            <a:endParaRPr lang="en-US" altLang="zh-CN" sz="2000" dirty="0">
              <a:latin typeface="Helvetica" charset="0"/>
            </a:endParaRPr>
          </a:p>
          <a:p>
            <a:pPr lvl="3"/>
            <a:r>
              <a:rPr lang="en-US" altLang="zh-CN" sz="2000" dirty="0">
                <a:latin typeface="Helvetica" charset="0"/>
              </a:rPr>
              <a:t>See procedure </a:t>
            </a:r>
            <a:r>
              <a:rPr lang="en-US" altLang="zh-CN" sz="2000" i="1" dirty="0">
                <a:latin typeface="Helvetica" charset="0"/>
              </a:rPr>
              <a:t>findAllPrereqs</a:t>
            </a:r>
            <a:r>
              <a:rPr lang="en-US" altLang="zh-CN" sz="2000" dirty="0">
                <a:latin typeface="Helvetica" charset="0"/>
              </a:rPr>
              <a:t> in book</a:t>
            </a:r>
            <a:endParaRPr lang="en-US" altLang="zh-CN" sz="20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/>
          <p:cNvSpPr>
            <a:spLocks noGrp="1" noChangeArrowheads="1"/>
          </p:cNvSpPr>
          <p:nvPr>
            <p:ph type="title" idx="4294967295"/>
          </p:nvPr>
        </p:nvSpPr>
        <p:spPr/>
        <p:txBody>
          <a:bodyPr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The Power of Recursion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sp>
        <p:nvSpPr>
          <p:cNvPr id="78850" name="Rectangle 3"/>
          <p:cNvSpPr>
            <a:spLocks noGrp="1"/>
          </p:cNvSpPr>
          <p:nvPr>
            <p:ph type="body"/>
          </p:nvPr>
        </p:nvSpPr>
        <p:spPr>
          <a:xfrm>
            <a:off x="234950" y="1165225"/>
            <a:ext cx="8549005" cy="5237480"/>
          </a:xfrm>
        </p:spPr>
        <p:txBody>
          <a:bodyPr vert="horz" wrap="square" lIns="91440" tIns="45720" rIns="91440" bIns="45720" anchor="t"/>
          <a:lstStyle/>
          <a:p>
            <a:r>
              <a:rPr lang="en-US" altLang="zh-CN" sz="2400" dirty="0">
                <a:latin typeface="Helvetica" charset="0"/>
              </a:rPr>
              <a:t>Computing transitive closure using iteration, adding successive tuples to </a:t>
            </a:r>
            <a:r>
              <a:rPr lang="en-US" altLang="zh-CN" sz="2400" i="1" dirty="0">
                <a:solidFill>
                  <a:srgbClr val="C00000"/>
                </a:solidFill>
                <a:latin typeface="Helvetica" charset="0"/>
              </a:rPr>
              <a:t>rec_prereq</a:t>
            </a:r>
            <a:endParaRPr lang="en-US" altLang="zh-CN" sz="2400" i="1" dirty="0">
              <a:solidFill>
                <a:srgbClr val="C00000"/>
              </a:solidFill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The next slide shows a </a:t>
            </a:r>
            <a:r>
              <a:rPr lang="en-US" altLang="zh-CN" sz="2400" i="1" dirty="0">
                <a:solidFill>
                  <a:srgbClr val="000099"/>
                </a:solidFill>
                <a:latin typeface="Helvetica" charset="0"/>
              </a:rPr>
              <a:t>prereq</a:t>
            </a:r>
            <a:r>
              <a:rPr lang="en-US" altLang="zh-CN" sz="2400" dirty="0">
                <a:latin typeface="Helvetica" charset="0"/>
              </a:rPr>
              <a:t> relation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Each step of the iterative process constructs an extended version of </a:t>
            </a:r>
            <a:r>
              <a:rPr lang="en-US" altLang="zh-CN" sz="2400" i="1" dirty="0">
                <a:solidFill>
                  <a:srgbClr val="C00000"/>
                </a:solidFill>
                <a:latin typeface="Helvetica" charset="0"/>
              </a:rPr>
              <a:t>rec_prereq</a:t>
            </a:r>
            <a:r>
              <a:rPr lang="en-US" altLang="zh-CN" sz="2400" i="1" dirty="0">
                <a:latin typeface="Helvetica" charset="0"/>
              </a:rPr>
              <a:t> </a:t>
            </a:r>
            <a:r>
              <a:rPr lang="en-US" altLang="zh-CN" sz="2400" dirty="0">
                <a:latin typeface="Helvetica" charset="0"/>
              </a:rPr>
              <a:t>from its recursive definition.  </a:t>
            </a:r>
            <a:endParaRPr lang="en-US" altLang="zh-CN" sz="2400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The final result is called the </a:t>
            </a:r>
            <a:r>
              <a:rPr lang="en-US" altLang="zh-CN" sz="2400" i="1" dirty="0">
                <a:latin typeface="Helvetica" charset="0"/>
              </a:rPr>
              <a:t>fixed point </a:t>
            </a:r>
            <a:r>
              <a:rPr lang="en-US" altLang="zh-CN" sz="2400" dirty="0">
                <a:latin typeface="Helvetica" charset="0"/>
              </a:rPr>
              <a:t> of the recursive view definition.</a:t>
            </a:r>
            <a:endParaRPr lang="en-US" altLang="zh-CN" sz="2400" dirty="0">
              <a:latin typeface="Helvetica" charset="0"/>
            </a:endParaRPr>
          </a:p>
          <a:p>
            <a:r>
              <a:rPr lang="en-US" altLang="zh-CN" sz="2400" dirty="0">
                <a:latin typeface="Helvetica" charset="0"/>
              </a:rPr>
              <a:t>Recursive views are required to be </a:t>
            </a:r>
            <a:r>
              <a:rPr lang="en-US" altLang="zh-CN" sz="2400" b="1" dirty="0">
                <a:solidFill>
                  <a:srgbClr val="0000CC"/>
                </a:solidFill>
                <a:latin typeface="Helvetica" charset="0"/>
              </a:rPr>
              <a:t>monotonic</a:t>
            </a:r>
            <a:endParaRPr lang="en-US" altLang="zh-CN" sz="2400" i="1" dirty="0">
              <a:latin typeface="Helvetica" charset="0"/>
            </a:endParaRPr>
          </a:p>
          <a:p>
            <a:pPr lvl="1"/>
            <a:r>
              <a:rPr lang="en-US" altLang="zh-CN" sz="2400" dirty="0">
                <a:latin typeface="Helvetica" charset="0"/>
              </a:rPr>
              <a:t>if we add tuples to </a:t>
            </a:r>
            <a:r>
              <a:rPr lang="en-US" altLang="zh-CN" sz="2400" i="1" dirty="0">
                <a:latin typeface="Helvetica" charset="0"/>
              </a:rPr>
              <a:t>prereq</a:t>
            </a:r>
            <a:r>
              <a:rPr lang="en-US" altLang="zh-CN" sz="2400" dirty="0">
                <a:latin typeface="Helvetica" charset="0"/>
              </a:rPr>
              <a:t> the view </a:t>
            </a:r>
            <a:r>
              <a:rPr lang="en-US" altLang="zh-CN" sz="2400" i="1" dirty="0">
                <a:latin typeface="Helvetica" charset="0"/>
              </a:rPr>
              <a:t>rec_prereq </a:t>
            </a:r>
            <a:r>
              <a:rPr lang="en-US" altLang="zh-CN" sz="2400" dirty="0">
                <a:latin typeface="Helvetica" charset="0"/>
              </a:rPr>
              <a:t>contains all of the tuples it contained before, plus possibly more</a:t>
            </a:r>
            <a:endParaRPr lang="en-US" altLang="zh-CN" sz="2400" dirty="0">
              <a:latin typeface="Helvetica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146" name="Rectangle 2"/>
          <p:cNvSpPr>
            <a:spLocks noGrp="1" noChangeArrowheads="1"/>
          </p:cNvSpPr>
          <p:nvPr>
            <p:ph type="title"/>
          </p:nvPr>
        </p:nvSpPr>
        <p:spPr>
          <a:xfrm>
            <a:off x="962025" y="73025"/>
            <a:ext cx="8077200" cy="609600"/>
          </a:xfrm>
        </p:spPr>
        <p:txBody>
          <a:bodyPr vert="horz" wrap="square" lIns="91440" tIns="45720" rIns="91440" bIns="45720" numCol="1" anchor="b" anchorCtr="0" compatLnSpc="1"/>
          <a:lstStyle/>
          <a:p>
            <a:r>
              <a:rPr lang="en-US" altLang="zh-CN" dirty="0"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</a:rPr>
              <a:t>Example of Fixed-Point Computation</a:t>
            </a:r>
            <a:endParaRPr lang="en-US" altLang="zh-CN" dirty="0">
              <a:effectLst>
                <a:outerShdw blurRad="38100" dist="38100" dir="2700000">
                  <a:srgbClr val="C0C0C0"/>
                </a:outerShdw>
              </a:effectLst>
              <a:latin typeface="Helvetica" charset="0"/>
            </a:endParaRPr>
          </a:p>
        </p:txBody>
      </p:sp>
      <p:pic>
        <p:nvPicPr>
          <p:cNvPr id="5" name="Picture 2" descr="C:\Users\as668\Desktop\Judi\5_15.jpg"/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6894" y="4422994"/>
            <a:ext cx="5376862" cy="188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5" descr="C:\Users\as668\Desktop\Judi\5_13.jpg"/>
          <p:cNvPicPr>
            <a:picLocks noChangeAspect="1" noChangeArrowheads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025" y="1029850"/>
            <a:ext cx="1990725" cy="2036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文本框 2"/>
          <p:cNvSpPr txBox="1"/>
          <p:nvPr/>
        </p:nvSpPr>
        <p:spPr>
          <a:xfrm>
            <a:off x="3878580" y="927735"/>
            <a:ext cx="4497070" cy="267652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p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with recursive </a:t>
            </a:r>
            <a:r>
              <a:rPr lang="en-US" altLang="zh-CN" sz="1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rec_prereq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course_id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prereq_id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as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(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select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course_id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prereq_id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from </a:t>
            </a:r>
            <a:r>
              <a:rPr lang="en-US" altLang="zh-CN" sz="1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union</a:t>
            </a:r>
            <a:b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select </a:t>
            </a:r>
            <a:r>
              <a:rPr lang="en-US" altLang="zh-CN" sz="1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rec_prereq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course_id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zh-CN" sz="1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prereq_id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from </a:t>
            </a:r>
            <a:r>
              <a:rPr lang="en-US" altLang="zh-CN" sz="1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rec_rereq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, </a:t>
            </a:r>
            <a:r>
              <a:rPr lang="en-US" altLang="zh-CN" sz="1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    </a:t>
            </a: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where </a:t>
            </a:r>
            <a:r>
              <a:rPr lang="en-US" altLang="zh-CN" sz="1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rec_prereq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prereq_id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= </a:t>
            </a:r>
            <a:r>
              <a:rPr lang="en-US" altLang="zh-CN" sz="1400" b="1" i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prereq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.</a:t>
            </a: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course_id</a:t>
            </a:r>
            <a:b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i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   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)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select </a:t>
            </a:r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∗</a:t>
            </a:r>
            <a:b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</a:br>
            <a:r>
              <a:rPr lang="en-US" altLang="zh-CN" sz="1400" b="1" dirty="0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from </a:t>
            </a:r>
            <a:r>
              <a:rPr lang="en-US" altLang="zh-CN" sz="1400" b="1" i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rec_prereq</a:t>
            </a:r>
            <a:endParaRPr lang="en-US" altLang="zh-CN" sz="1400" b="1" i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r>
              <a:rPr lang="en-US" altLang="zh-CN" sz="1400" dirty="0">
                <a:solidFill>
                  <a:srgbClr val="000099"/>
                </a:solidFill>
                <a:highlight>
                  <a:srgbClr val="FFFF00"/>
                </a:highlight>
                <a:sym typeface="+mn-ea"/>
              </a:rPr>
              <a:t>Where </a:t>
            </a:r>
            <a:r>
              <a:rPr lang="en-US" altLang="zh-CN" sz="1400" dirty="0" err="1">
                <a:solidFill>
                  <a:srgbClr val="000099"/>
                </a:solidFill>
                <a:highlight>
                  <a:srgbClr val="FFFF00"/>
                </a:highlight>
                <a:sym typeface="+mn-ea"/>
              </a:rPr>
              <a:t>rec_preq.course_id</a:t>
            </a:r>
            <a:r>
              <a:rPr lang="en-US" altLang="zh-CN" sz="1400" dirty="0">
                <a:solidFill>
                  <a:srgbClr val="000099"/>
                </a:solidFill>
                <a:highlight>
                  <a:srgbClr val="FFFF00"/>
                </a:highlight>
                <a:sym typeface="+mn-ea"/>
              </a:rPr>
              <a:t>=‘CS-319’</a:t>
            </a:r>
            <a:r>
              <a:rPr lang="en-US" altLang="zh-CN" sz="1400" dirty="0"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;</a:t>
            </a:r>
            <a:endParaRPr lang="en-US" altLang="zh-CN" sz="14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altLang="zh-CN" sz="1400" dirty="0"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250" name="Rectangle 2"/>
          <p:cNvSpPr>
            <a:spLocks noGrp="1" noChangeArrowheads="1"/>
          </p:cNvSpPr>
          <p:nvPr>
            <p:ph type="ctrTitle"/>
          </p:nvPr>
        </p:nvSpPr>
        <p:spPr/>
        <p:txBody>
          <a:bodyPr vert="horz" wrap="square" lIns="91440" tIns="45720" rIns="91440" bIns="45720" numCol="1" anchor="b" anchorCtr="0" compatLnSpc="1"/>
          <a:lstStyle/>
          <a:p>
            <a:r>
              <a:rPr kumimoji="1" lang="en-US" altLang="zh-CN" dirty="0">
                <a:solidFill>
                  <a:srgbClr val="CC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Helvetica" charset="0"/>
                <a:ea typeface="MS PGothic" panose="020B0600070205080204" charset="-128"/>
                <a:cs typeface="Arial" panose="020B0604020202020204"/>
              </a:rPr>
              <a:t>End of Chapter 5</a:t>
            </a:r>
            <a:endParaRPr kumimoji="1" lang="en-US" altLang="zh-CN" dirty="0">
              <a:solidFill>
                <a:srgbClr val="CC3300"/>
              </a:solidFill>
              <a:effectLst>
                <a:outerShdw blurRad="38100" dist="38100" dir="2700000">
                  <a:srgbClr val="C0C0C0"/>
                </a:outerShdw>
              </a:effectLst>
              <a:latin typeface="Helvetica" charset="0"/>
              <a:ea typeface="MS PGothic" panose="020B0600070205080204" charset="-128"/>
              <a:cs typeface="Arial" panose="020B0604020202020204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COMMONDATA" val="eyJoZGlkIjoiZWIxYzZkM2FmYTk4YjgyMWQyYjQ4MGI5NDkwOGIwYmYifQ=="/>
</p:tagLst>
</file>

<file path=ppt/theme/theme1.xml><?xml version="1.0" encoding="utf-8"?>
<a:theme xmlns:a="http://schemas.openxmlformats.org/drawingml/2006/main" name="2_db-5-grey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FFFF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FFFF"/>
      </a:accent5>
      <a:accent6>
        <a:srgbClr val="B9B900"/>
      </a:accent6>
      <a:hlink>
        <a:srgbClr val="FF9900"/>
      </a:hlink>
      <a:folHlink>
        <a:srgbClr val="FF9933"/>
      </a:folHlink>
    </a:clrScheme>
    <a:fontScheme name="2_db-5-grey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6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Helvetica" charset="0"/>
          </a:defRPr>
        </a:defPPr>
      </a:lstStyle>
    </a:lnDef>
  </a:objectDefaults>
  <a:extraClrSchemeLst>
    <a:extraClrScheme>
      <a:clrScheme name="2_db-5-grey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db-5-grey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DB6</Template>
  <TotalTime>0</TotalTime>
  <Words>13149</Words>
  <Application>WPS 演示</Application>
  <PresentationFormat>全屏显示(4:3)</PresentationFormat>
  <Paragraphs>319</Paragraphs>
  <Slides>38</Slides>
  <Notes>29</Notes>
  <HiddenSlides>6</HiddenSlides>
  <MMClips>0</MMClips>
  <ScaleCrop>false</ScaleCrop>
  <HeadingPairs>
    <vt:vector size="10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38</vt:i4>
      </vt:variant>
      <vt:variant>
        <vt:lpstr>自定义放映</vt:lpstr>
      </vt:variant>
      <vt:variant>
        <vt:i4>1</vt:i4>
      </vt:variant>
    </vt:vector>
  </HeadingPairs>
  <TitlesOfParts>
    <vt:vector size="57" baseType="lpstr">
      <vt:lpstr>Arial</vt:lpstr>
      <vt:lpstr>宋体</vt:lpstr>
      <vt:lpstr>Wingdings</vt:lpstr>
      <vt:lpstr>Helvetica</vt:lpstr>
      <vt:lpstr>MS PGothic</vt:lpstr>
      <vt:lpstr>Arial</vt:lpstr>
      <vt:lpstr>Monotype Sorts</vt:lpstr>
      <vt:lpstr>Webdings</vt:lpstr>
      <vt:lpstr>Times New Roman</vt:lpstr>
      <vt:lpstr>Monotype Sorts</vt:lpstr>
      <vt:lpstr>微软雅黑</vt:lpstr>
      <vt:lpstr>Arial Unicode MS</vt:lpstr>
      <vt:lpstr>黑体</vt:lpstr>
      <vt:lpstr>微软雅黑</vt:lpstr>
      <vt:lpstr>Palatino Linotype</vt:lpstr>
      <vt:lpstr>Wingdings</vt:lpstr>
      <vt:lpstr>2_db-5-grey</vt:lpstr>
      <vt:lpstr>MS_ClipArt_Gallery.2</vt:lpstr>
      <vt:lpstr>Chapter 5: Advanced SQL</vt:lpstr>
      <vt:lpstr>Outline</vt:lpstr>
      <vt:lpstr>Accessing SQL From a Programming Language</vt:lpstr>
      <vt:lpstr>Accessing SQL From a Programming Language </vt:lpstr>
      <vt:lpstr>PowerPoint 演示文稿</vt:lpstr>
      <vt:lpstr>JDBC</vt:lpstr>
      <vt:lpstr>ODBC</vt:lpstr>
      <vt:lpstr>Embedded SQL</vt:lpstr>
      <vt:lpstr>Embedded SQL (Cont.)</vt:lpstr>
      <vt:lpstr>Embedded SQL (Cont.)</vt:lpstr>
      <vt:lpstr>Embedded SQL (Cont.)</vt:lpstr>
      <vt:lpstr>Embedded SQL (Cont.)</vt:lpstr>
      <vt:lpstr>Embedded SQL (Cont.)</vt:lpstr>
      <vt:lpstr>Updates Through Embedded SQL</vt:lpstr>
      <vt:lpstr>Extensions to SQL</vt:lpstr>
      <vt:lpstr>Functions and Procedures</vt:lpstr>
      <vt:lpstr>SQL Functions</vt:lpstr>
      <vt:lpstr>存储过程和函数</vt:lpstr>
      <vt:lpstr>创建和调用存储过程</vt:lpstr>
      <vt:lpstr>创建和调用存储过程</vt:lpstr>
      <vt:lpstr>创建和调用存储过程</vt:lpstr>
      <vt:lpstr>存储过程与函数</vt:lpstr>
      <vt:lpstr>创建和调用函数</vt:lpstr>
      <vt:lpstr>存储过程和函数的区别</vt:lpstr>
      <vt:lpstr>Triggers</vt:lpstr>
      <vt:lpstr>Triggers</vt:lpstr>
      <vt:lpstr>Triggering Events and Actions in SQL</vt:lpstr>
      <vt:lpstr>Trigger to Maintain credits_earned value</vt:lpstr>
      <vt:lpstr>Statement Level Triggers</vt:lpstr>
      <vt:lpstr>触发器可用于以下应用场景中：</vt:lpstr>
      <vt:lpstr>When Not To Use Triggers</vt:lpstr>
      <vt:lpstr>When Not To Use Triggers (Cont.)</vt:lpstr>
      <vt:lpstr>Recursive Queries</vt:lpstr>
      <vt:lpstr>Recursion in SQL</vt:lpstr>
      <vt:lpstr>The Power of Recursion</vt:lpstr>
      <vt:lpstr>The Power of Recursion</vt:lpstr>
      <vt:lpstr>Example of Fixed-Point Computation</vt:lpstr>
      <vt:lpstr>End of Chapter 5</vt:lpstr>
      <vt:lpstr>Custom Show 1</vt:lpstr>
    </vt:vector>
  </TitlesOfParts>
  <Company>Lucent Technologies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康辉</cp:lastModifiedBy>
  <cp:revision>454</cp:revision>
  <cp:lastPrinted>2005-01-10T21:51:00Z</cp:lastPrinted>
  <dcterms:created xsi:type="dcterms:W3CDTF">1999-11-04T20:50:00Z</dcterms:created>
  <dcterms:modified xsi:type="dcterms:W3CDTF">2026-04-09T08:35:42Z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19B18CD730444353997CEA926E337A6C</vt:lpwstr>
  </property>
</Properties>
</file>